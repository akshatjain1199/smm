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4"/>
  </p:sldMasterIdLst>
  <p:notesMasterIdLst>
    <p:notesMasterId r:id="rId30"/>
  </p:notesMasterIdLst>
  <p:sldIdLst>
    <p:sldId id="256" r:id="rId5"/>
    <p:sldId id="325" r:id="rId6"/>
    <p:sldId id="333" r:id="rId7"/>
    <p:sldId id="334" r:id="rId8"/>
    <p:sldId id="335" r:id="rId9"/>
    <p:sldId id="336" r:id="rId10"/>
    <p:sldId id="369" r:id="rId11"/>
    <p:sldId id="337" r:id="rId12"/>
    <p:sldId id="339" r:id="rId13"/>
    <p:sldId id="371" r:id="rId14"/>
    <p:sldId id="373" r:id="rId15"/>
    <p:sldId id="341" r:id="rId16"/>
    <p:sldId id="327" r:id="rId17"/>
    <p:sldId id="358" r:id="rId18"/>
    <p:sldId id="355" r:id="rId19"/>
    <p:sldId id="317" r:id="rId20"/>
    <p:sldId id="318" r:id="rId21"/>
    <p:sldId id="375" r:id="rId22"/>
    <p:sldId id="370" r:id="rId23"/>
    <p:sldId id="376" r:id="rId24"/>
    <p:sldId id="320" r:id="rId25"/>
    <p:sldId id="331" r:id="rId26"/>
    <p:sldId id="344" r:id="rId27"/>
    <p:sldId id="377" r:id="rId28"/>
    <p:sldId id="35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E8F4"/>
    <a:srgbClr val="D6E4F2"/>
    <a:srgbClr val="D6D6D5"/>
    <a:srgbClr val="FCFD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524E28-6B11-4636-8C9C-34EF8B6ED74D}" v="9" dt="2026-07-27T06:48:40.2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D7B37E-BB46-42CA-A325-BD9ADAEBE5D5}"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073EB7-AD5B-40E5-80EE-3CAA568F44D8}" type="slidenum">
              <a:rPr lang="en-US" smtClean="0"/>
              <a:t>‹#›</a:t>
            </a:fld>
            <a:endParaRPr lang="en-US"/>
          </a:p>
        </p:txBody>
      </p:sp>
    </p:spTree>
    <p:extLst>
      <p:ext uri="{BB962C8B-B14F-4D97-AF65-F5344CB8AC3E}">
        <p14:creationId xmlns:p14="http://schemas.microsoft.com/office/powerpoint/2010/main" val="1281993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B073EB7-AD5B-40E5-80EE-3CAA568F44D8}" type="slidenum">
              <a:rPr lang="en-US" smtClean="0"/>
              <a:t>1</a:t>
            </a:fld>
            <a:endParaRPr lang="en-US"/>
          </a:p>
        </p:txBody>
      </p:sp>
    </p:spTree>
    <p:extLst>
      <p:ext uri="{BB962C8B-B14F-4D97-AF65-F5344CB8AC3E}">
        <p14:creationId xmlns:p14="http://schemas.microsoft.com/office/powerpoint/2010/main" val="4179367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B073EB7-AD5B-40E5-80EE-3CAA568F44D8}" type="slidenum">
              <a:rPr lang="en-US" smtClean="0"/>
              <a:t>14</a:t>
            </a:fld>
            <a:endParaRPr lang="en-US"/>
          </a:p>
        </p:txBody>
      </p:sp>
    </p:spTree>
    <p:extLst>
      <p:ext uri="{BB962C8B-B14F-4D97-AF65-F5344CB8AC3E}">
        <p14:creationId xmlns:p14="http://schemas.microsoft.com/office/powerpoint/2010/main" val="3830490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D80D4-D5C8-40B8-9C42-0B6549AE0B25}" type="slidenum">
              <a:rPr lang="en-US" smtClean="0"/>
              <a:t>24</a:t>
            </a:fld>
            <a:endParaRPr lang="en-US"/>
          </a:p>
        </p:txBody>
      </p:sp>
    </p:spTree>
    <p:extLst>
      <p:ext uri="{BB962C8B-B14F-4D97-AF65-F5344CB8AC3E}">
        <p14:creationId xmlns:p14="http://schemas.microsoft.com/office/powerpoint/2010/main" val="2824846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650A-84E9-1A24-3127-A5DCDE6AA7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DE1C63-CEAB-0D8A-302E-7A91D8BCEF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ABC0F7-1FD9-BFEA-62CF-E7B5CCAE6781}"/>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5" name="Footer Placeholder 4">
            <a:extLst>
              <a:ext uri="{FF2B5EF4-FFF2-40B4-BE49-F238E27FC236}">
                <a16:creationId xmlns:a16="http://schemas.microsoft.com/office/drawing/2014/main" id="{25C7250A-0184-0043-12B9-82C07B3DD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50B1A-E7E6-104C-7F9F-8AABEDE1380C}"/>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340249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1D6E-E43B-C15A-19E8-6B6E446E43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258166-28EB-B49D-35B4-324A6F666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AAC56F-F4D5-8A0D-EC0E-53D9CC504222}"/>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5" name="Footer Placeholder 4">
            <a:extLst>
              <a:ext uri="{FF2B5EF4-FFF2-40B4-BE49-F238E27FC236}">
                <a16:creationId xmlns:a16="http://schemas.microsoft.com/office/drawing/2014/main" id="{2C792192-2574-7DB3-5DBD-19A7794D9C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F89C6-0FC7-D605-8A5B-F665506161F5}"/>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3823144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9A373-1290-710E-8650-FCFDBC9F1F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658BDC-AAB9-FF5D-1DF4-4BD0C37FD5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175EBB-8F07-121C-1861-EF66BCDDF95B}"/>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5" name="Footer Placeholder 4">
            <a:extLst>
              <a:ext uri="{FF2B5EF4-FFF2-40B4-BE49-F238E27FC236}">
                <a16:creationId xmlns:a16="http://schemas.microsoft.com/office/drawing/2014/main" id="{A56348FE-6EE9-F0B3-69DC-5D22AA2F7E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25E7B-7770-0877-E3CC-D8AF449CEAAE}"/>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388298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8A1DB-B88E-BF26-D359-B634FF9D8B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A5D719-1021-8048-B95C-E19B3D6F63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10A3F4-4DAB-BE54-652A-6CC9CFB182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BFEBC6-CF0B-5712-59FA-407D7FDAB4AE}"/>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6" name="Footer Placeholder 5">
            <a:extLst>
              <a:ext uri="{FF2B5EF4-FFF2-40B4-BE49-F238E27FC236}">
                <a16:creationId xmlns:a16="http://schemas.microsoft.com/office/drawing/2014/main" id="{3E4DE09F-E4F6-177E-00CC-48F98A68C3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778DE0-47B8-11AC-7528-DE9322C2ACBB}"/>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2744820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7FD4-96F5-F32E-CB77-9C1D210164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6344A9-822E-360C-CBF3-F0A964A943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FB2E8-EDF8-A343-FD87-AC6C9047A7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043500-5305-8563-BD65-2051C64395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2B8AEE-9340-1628-5B7C-E4A016F550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FDCF95-260B-C904-846F-ACF75B9F0248}"/>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8" name="Footer Placeholder 7">
            <a:extLst>
              <a:ext uri="{FF2B5EF4-FFF2-40B4-BE49-F238E27FC236}">
                <a16:creationId xmlns:a16="http://schemas.microsoft.com/office/drawing/2014/main" id="{FA516353-79F7-8586-C775-EFCF6D8AFE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7E744C-2EB4-2DED-D0E7-A2D338D4B360}"/>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1063232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30D84-DBD2-3D52-206D-5866AAA49E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E3A55B-CB64-1005-87B2-B5446C9F7844}"/>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4" name="Footer Placeholder 3">
            <a:extLst>
              <a:ext uri="{FF2B5EF4-FFF2-40B4-BE49-F238E27FC236}">
                <a16:creationId xmlns:a16="http://schemas.microsoft.com/office/drawing/2014/main" id="{F9FC82D9-7784-462D-3114-511DBC351F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56F7C8-A676-F75E-DA2A-029D51DBF3BB}"/>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4114167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12D68B-0B7D-7DA7-EA20-250A036C634D}"/>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3" name="Footer Placeholder 2">
            <a:extLst>
              <a:ext uri="{FF2B5EF4-FFF2-40B4-BE49-F238E27FC236}">
                <a16:creationId xmlns:a16="http://schemas.microsoft.com/office/drawing/2014/main" id="{553B16ED-0FF0-86A2-F332-C5199CBF8A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5E8A3B-ACFD-2F0C-C4B6-1F3282A84572}"/>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1195151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81D44-D092-E95D-C1F4-90345F7039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15C72D-6C9B-7631-A418-83C80F3F6D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91AE1F-7B5A-77E4-7F30-1BE42F8D06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F79223-7D44-D882-C042-47BCA4259C26}"/>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6" name="Footer Placeholder 5">
            <a:extLst>
              <a:ext uri="{FF2B5EF4-FFF2-40B4-BE49-F238E27FC236}">
                <a16:creationId xmlns:a16="http://schemas.microsoft.com/office/drawing/2014/main" id="{1821190B-8CF8-D4B0-BBF2-920C80B95B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525989-F3D4-FC4B-BC4A-236BBC38A094}"/>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399711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AD6B-226B-3A89-953A-4505BE123F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10F238-6D21-E0EA-22FA-C6E13B273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E20F19-78F9-5F88-ED5F-8EBE66C245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07797E-815B-B2B0-4264-533C37424CA3}"/>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6" name="Footer Placeholder 5">
            <a:extLst>
              <a:ext uri="{FF2B5EF4-FFF2-40B4-BE49-F238E27FC236}">
                <a16:creationId xmlns:a16="http://schemas.microsoft.com/office/drawing/2014/main" id="{CF2F9B91-72D8-D13E-44FE-2FDE7460F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2FAB67-F888-8604-1ABB-B912E4F3034B}"/>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261985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D0580-4344-EDD2-D514-651A9C371D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6DE97C-C00C-AF85-0233-DEF1C820C9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0FF579-CB4B-D157-2995-0601D1799BF8}"/>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5" name="Footer Placeholder 4">
            <a:extLst>
              <a:ext uri="{FF2B5EF4-FFF2-40B4-BE49-F238E27FC236}">
                <a16:creationId xmlns:a16="http://schemas.microsoft.com/office/drawing/2014/main" id="{3E6F2D26-9D30-3F99-469A-3CC59D1BD1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E7F13-CF22-7147-FD7D-8F2090135B67}"/>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1870887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1F1176-DF61-FB91-3D4C-34AB8FF213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3A7F6B-F790-DE41-F9E5-3658B34BE9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7C40A-D061-173E-B1BB-0F866EF89579}"/>
              </a:ext>
            </a:extLst>
          </p:cNvPr>
          <p:cNvSpPr>
            <a:spLocks noGrp="1"/>
          </p:cNvSpPr>
          <p:nvPr>
            <p:ph type="dt" sz="half" idx="10"/>
          </p:nvPr>
        </p:nvSpPr>
        <p:spPr/>
        <p:txBody>
          <a:bodyPr/>
          <a:lstStyle/>
          <a:p>
            <a:fld id="{71B39CF8-537D-4AC5-A90C-63A54BB17E69}" type="datetimeFigureOut">
              <a:rPr lang="en-US" smtClean="0"/>
              <a:t>7/27/2026</a:t>
            </a:fld>
            <a:endParaRPr lang="en-US"/>
          </a:p>
        </p:txBody>
      </p:sp>
      <p:sp>
        <p:nvSpPr>
          <p:cNvPr id="5" name="Footer Placeholder 4">
            <a:extLst>
              <a:ext uri="{FF2B5EF4-FFF2-40B4-BE49-F238E27FC236}">
                <a16:creationId xmlns:a16="http://schemas.microsoft.com/office/drawing/2014/main" id="{FDA3958E-B90E-7F86-206F-BBF2FF4898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8D8570-1B2A-7472-6DA9-96D730C1649B}"/>
              </a:ext>
            </a:extLst>
          </p:cNvPr>
          <p:cNvSpPr>
            <a:spLocks noGrp="1"/>
          </p:cNvSpPr>
          <p:nvPr>
            <p:ph type="sldNum" sz="quarter" idx="12"/>
          </p:nvPr>
        </p:nvSpPr>
        <p:spPr/>
        <p:txBody>
          <a:bodyPr/>
          <a:lstStyle/>
          <a:p>
            <a:fld id="{64C52778-5C57-43E0-9AEA-63CD8AE69CC5}" type="slidenum">
              <a:rPr lang="en-US" smtClean="0"/>
              <a:t>‹#›</a:t>
            </a:fld>
            <a:endParaRPr lang="en-US"/>
          </a:p>
        </p:txBody>
      </p:sp>
    </p:spTree>
    <p:extLst>
      <p:ext uri="{BB962C8B-B14F-4D97-AF65-F5344CB8AC3E}">
        <p14:creationId xmlns:p14="http://schemas.microsoft.com/office/powerpoint/2010/main" val="104446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F3B304-D955-C314-F74B-C528E2D0FC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644D61-FD13-CF40-53B6-A10B7EEB80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6B77BF-E53D-1423-B723-D6F4AC29A1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B39CF8-537D-4AC5-A90C-63A54BB17E69}" type="datetimeFigureOut">
              <a:rPr lang="en-US" smtClean="0"/>
              <a:t>7/27/2026</a:t>
            </a:fld>
            <a:endParaRPr lang="en-US"/>
          </a:p>
        </p:txBody>
      </p:sp>
      <p:sp>
        <p:nvSpPr>
          <p:cNvPr id="5" name="Footer Placeholder 4">
            <a:extLst>
              <a:ext uri="{FF2B5EF4-FFF2-40B4-BE49-F238E27FC236}">
                <a16:creationId xmlns:a16="http://schemas.microsoft.com/office/drawing/2014/main" id="{0040A68B-44B2-7579-1BCD-725B355E22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1226C78-5190-95FA-2E35-2EF8AAF8E8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C52778-5C57-43E0-9AEA-63CD8AE69CC5}" type="slidenum">
              <a:rPr lang="en-US" smtClean="0"/>
              <a:t>‹#›</a:t>
            </a:fld>
            <a:endParaRPr lang="en-US"/>
          </a:p>
        </p:txBody>
      </p:sp>
    </p:spTree>
    <p:extLst>
      <p:ext uri="{BB962C8B-B14F-4D97-AF65-F5344CB8AC3E}">
        <p14:creationId xmlns:p14="http://schemas.microsoft.com/office/powerpoint/2010/main" val="339270959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dev.azure.com/humana/SAFe-Pharmacy%20and%20PBM/_workitems/edit/8409258" TargetMode="External"/><Relationship Id="rId2" Type="http://schemas.openxmlformats.org/officeDocument/2006/relationships/hyperlink" Target="https://dev.azure.com/humana/SAFe-Pharmacy%20and%20PBM/_workitems/edit/8334361"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dev.azure.com/humana/SAFe-Pharmacy%20and%20PBM/_workitems/edit/8926196"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dev.azure.com/humana/SAFe-Pharmacy%20and%20PBM/_workitems/edit/9258913" TargetMode="External"/><Relationship Id="rId2" Type="http://schemas.openxmlformats.org/officeDocument/2006/relationships/hyperlink" Target="https://dev.azure.com/humana/SAFe-Pharmacy%20and%20PBM/_workitems/edit/8576156" TargetMode="External"/><Relationship Id="rId1" Type="http://schemas.openxmlformats.org/officeDocument/2006/relationships/slideLayout" Target="../slideLayouts/slideLayout1.xml"/><Relationship Id="rId4" Type="http://schemas.openxmlformats.org/officeDocument/2006/relationships/hyperlink" Target="https://dev.azure.com/humana/SAFe-Pharmacy%20and%20PBM/_workitems/edit/927739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Isosceles Triangle 3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DACFCC3-3467-1F82-6562-878AEC9831A8}"/>
              </a:ext>
            </a:extLst>
          </p:cNvPr>
          <p:cNvSpPr txBox="1"/>
          <p:nvPr/>
        </p:nvSpPr>
        <p:spPr>
          <a:xfrm>
            <a:off x="757980" y="2177524"/>
            <a:ext cx="10824420" cy="2492990"/>
          </a:xfrm>
          <a:prstGeom prst="rect">
            <a:avLst/>
          </a:prstGeom>
          <a:noFill/>
        </p:spPr>
        <p:txBody>
          <a:bodyPr wrap="square" lIns="91440" tIns="45720" rIns="91440" bIns="45720" rtlCol="0" anchor="t">
            <a:spAutoFit/>
          </a:bodyPr>
          <a:lstStyle/>
          <a:p>
            <a:r>
              <a:rPr lang="en-US" sz="4800" b="1" dirty="0"/>
              <a:t>Trad Interfa</a:t>
            </a:r>
            <a:r>
              <a:rPr lang="en-US" sz="4800" b="1"/>
              <a:t>ce QA Scrum level updates</a:t>
            </a:r>
          </a:p>
          <a:p>
            <a:endParaRPr lang="en-US"/>
          </a:p>
          <a:p>
            <a:endParaRPr lang="en-US"/>
          </a:p>
          <a:p>
            <a:endParaRPr lang="en-US"/>
          </a:p>
          <a:p>
            <a:endParaRPr lang="en-US"/>
          </a:p>
          <a:p>
            <a:pPr algn="r"/>
            <a:r>
              <a:rPr lang="en-US" sz="3200" dirty="0"/>
              <a:t>20th July 2026</a:t>
            </a:r>
          </a:p>
        </p:txBody>
      </p:sp>
    </p:spTree>
    <p:extLst>
      <p:ext uri="{BB962C8B-B14F-4D97-AF65-F5344CB8AC3E}">
        <p14:creationId xmlns:p14="http://schemas.microsoft.com/office/powerpoint/2010/main" val="3413218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7FAC58-8452-6EBB-F55A-89C1F987CB44}"/>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62C8A1D4-21A6-4648-1713-07FFD6931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22967FD1-6C39-C542-BA2E-578F46E69E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CA5F2AC9-8B68-6FF4-F8F5-C63DDCFBBB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AA7307D3-90B4-58DC-6311-11F1284B77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reeform: Shape 35">
            <a:extLst>
              <a:ext uri="{FF2B5EF4-FFF2-40B4-BE49-F238E27FC236}">
                <a16:creationId xmlns:a16="http://schemas.microsoft.com/office/drawing/2014/main" id="{9B4D3D59-7511-9293-EA2E-BB13E8BA42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Isosceles Triangle 36">
            <a:extLst>
              <a:ext uri="{FF2B5EF4-FFF2-40B4-BE49-F238E27FC236}">
                <a16:creationId xmlns:a16="http://schemas.microsoft.com/office/drawing/2014/main" id="{334FE48C-5B7F-1FA7-F46C-7E821DDF1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Isosceles Triangle 37">
            <a:extLst>
              <a:ext uri="{FF2B5EF4-FFF2-40B4-BE49-F238E27FC236}">
                <a16:creationId xmlns:a16="http://schemas.microsoft.com/office/drawing/2014/main" id="{870A9D81-4E56-4B0E-C034-A35D5DC7B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48D69EC2-1AB4-C3C8-7EEF-42F35275CDD5}"/>
              </a:ext>
            </a:extLst>
          </p:cNvPr>
          <p:cNvSpPr txBox="1"/>
          <p:nvPr/>
        </p:nvSpPr>
        <p:spPr>
          <a:xfrm>
            <a:off x="757980" y="2177524"/>
            <a:ext cx="10824420" cy="1600438"/>
          </a:xfrm>
          <a:prstGeom prst="rect">
            <a:avLst/>
          </a:prstGeom>
          <a:noFill/>
        </p:spPr>
        <p:txBody>
          <a:bodyPr wrap="square" lIns="91440" tIns="45720" rIns="91440" bIns="45720" rtlCol="0" anchor="t">
            <a:spAutoFit/>
          </a:bodyPr>
          <a:lstStyle/>
          <a:p>
            <a:pPr>
              <a:defRPr/>
            </a:pPr>
            <a:r>
              <a:rPr lang="en-US" sz="4000" b="1">
                <a:solidFill>
                  <a:prstClr val="black"/>
                </a:solidFill>
                <a:latin typeface="Aptos" panose="02110004020202020204"/>
              </a:rPr>
              <a:t>Trad</a:t>
            </a:r>
            <a:r>
              <a:rPr kumimoji="0" lang="en-US" sz="4000" b="1" i="0" u="none" strike="noStrike" kern="1200" cap="none" spc="0" normalizeH="0" baseline="0" noProof="0">
                <a:ln>
                  <a:noFill/>
                </a:ln>
                <a:solidFill>
                  <a:prstClr val="black"/>
                </a:solidFill>
                <a:effectLst/>
                <a:uLnTx/>
                <a:uFillTx/>
                <a:latin typeface="Aptos" panose="02110004020202020204"/>
                <a:ea typeface="+mn-ea"/>
                <a:cs typeface="+mn-cs"/>
              </a:rPr>
              <a:t> </a:t>
            </a:r>
            <a:r>
              <a:rPr lang="en-US" sz="4000" b="1">
                <a:solidFill>
                  <a:prstClr val="black"/>
                </a:solidFill>
                <a:latin typeface="Aptos" panose="02110004020202020204"/>
              </a:rPr>
              <a:t>Interface Workstream – </a:t>
            </a:r>
            <a:r>
              <a:rPr kumimoji="0" lang="en-US" sz="4000" b="1" i="0" u="none" strike="noStrike" kern="1200" cap="none" spc="0" normalizeH="0" baseline="0" noProof="0">
                <a:ln>
                  <a:noFill/>
                </a:ln>
                <a:solidFill>
                  <a:prstClr val="black"/>
                </a:solidFill>
                <a:effectLst/>
                <a:uLnTx/>
                <a:uFillTx/>
                <a:latin typeface="Aptos" panose="02110004020202020204"/>
                <a:ea typeface="+mn-ea"/>
                <a:cs typeface="+mn-cs"/>
              </a:rPr>
              <a:t>Weekly Status Summary</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5490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32386-83C7-83BF-8B64-2C71D92F81E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195B00D-B335-CB7F-684E-3A832B0C44DB}"/>
              </a:ext>
            </a:extLst>
          </p:cNvPr>
          <p:cNvGraphicFramePr>
            <a:graphicFrameLocks noGrp="1"/>
          </p:cNvGraphicFramePr>
          <p:nvPr>
            <p:extLst>
              <p:ext uri="{D42A27DB-BD31-4B8C-83A1-F6EECF244321}">
                <p14:modId xmlns:p14="http://schemas.microsoft.com/office/powerpoint/2010/main" val="356295877"/>
              </p:ext>
            </p:extLst>
          </p:nvPr>
        </p:nvGraphicFramePr>
        <p:xfrm>
          <a:off x="345056" y="71886"/>
          <a:ext cx="11615848" cy="31499415"/>
        </p:xfrm>
        <a:graphic>
          <a:graphicData uri="http://schemas.openxmlformats.org/drawingml/2006/table">
            <a:tbl>
              <a:tblPr firstRow="1" bandRow="1">
                <a:noFill/>
                <a:tableStyleId>{5940675A-B579-460E-94D1-54222C63F5DA}</a:tableStyleId>
              </a:tblPr>
              <a:tblGrid>
                <a:gridCol w="1693294">
                  <a:extLst>
                    <a:ext uri="{9D8B030D-6E8A-4147-A177-3AD203B41FA5}">
                      <a16:colId xmlns:a16="http://schemas.microsoft.com/office/drawing/2014/main" val="3592680666"/>
                    </a:ext>
                  </a:extLst>
                </a:gridCol>
                <a:gridCol w="747180">
                  <a:extLst>
                    <a:ext uri="{9D8B030D-6E8A-4147-A177-3AD203B41FA5}">
                      <a16:colId xmlns:a16="http://schemas.microsoft.com/office/drawing/2014/main" val="1654399098"/>
                    </a:ext>
                  </a:extLst>
                </a:gridCol>
                <a:gridCol w="1929345">
                  <a:extLst>
                    <a:ext uri="{9D8B030D-6E8A-4147-A177-3AD203B41FA5}">
                      <a16:colId xmlns:a16="http://schemas.microsoft.com/office/drawing/2014/main" val="157821927"/>
                    </a:ext>
                  </a:extLst>
                </a:gridCol>
                <a:gridCol w="1680954">
                  <a:extLst>
                    <a:ext uri="{9D8B030D-6E8A-4147-A177-3AD203B41FA5}">
                      <a16:colId xmlns:a16="http://schemas.microsoft.com/office/drawing/2014/main" val="2428918094"/>
                    </a:ext>
                  </a:extLst>
                </a:gridCol>
                <a:gridCol w="1361701">
                  <a:extLst>
                    <a:ext uri="{9D8B030D-6E8A-4147-A177-3AD203B41FA5}">
                      <a16:colId xmlns:a16="http://schemas.microsoft.com/office/drawing/2014/main" val="2434076975"/>
                    </a:ext>
                  </a:extLst>
                </a:gridCol>
                <a:gridCol w="1183174">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754997">
                <a:tc>
                  <a:txBody>
                    <a:bodyPr/>
                    <a:lstStyle/>
                    <a:p>
                      <a:pPr algn="l" fontAlgn="ctr">
                        <a:buNone/>
                      </a:pPr>
                      <a:r>
                        <a:rPr lang="en-US" sz="1400" b="1" u="none" strike="noStrike" cap="none" spc="60">
                          <a:solidFill>
                            <a:schemeClr val="bg1"/>
                          </a:solidFill>
                          <a:effectLst/>
                          <a:latin typeface="Calibri"/>
                          <a:ea typeface="Calibri"/>
                          <a:cs typeface="Calibri"/>
                        </a:rPr>
                        <a:t>Scrum Team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a:ea typeface="Calibri"/>
                          <a:cs typeface="Calibri"/>
                        </a:rPr>
                        <a:t>Athena</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a:ea typeface="Calibri"/>
                          <a:cs typeface="Calibri"/>
                        </a:rPr>
                        <a:t>Application  Name:</a:t>
                      </a: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ctr" latinLnBrk="0" hangingPunct="1">
                        <a:lnSpc>
                          <a:spcPct val="100000"/>
                        </a:lnSpc>
                        <a:spcBef>
                          <a:spcPts val="0"/>
                        </a:spcBef>
                        <a:spcAft>
                          <a:spcPts val="0"/>
                        </a:spcAft>
                        <a:buNone/>
                      </a:pPr>
                      <a:r>
                        <a:rPr lang="en-US" sz="1400" b="1" u="none" strike="noStrike" kern="1200" cap="none" spc="60" noProof="0">
                          <a:solidFill>
                            <a:schemeClr val="bg1"/>
                          </a:solidFill>
                          <a:effectLst/>
                          <a:latin typeface="Calibri"/>
                          <a:ea typeface="Calibri"/>
                          <a:cs typeface="Calibri"/>
                        </a:rPr>
                        <a:t>Pharmacy Claim Search &amp; Pharmacy Core Services</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Testing POC:</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Amrita /Zeeshan</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Release</a:t>
                      </a:r>
                      <a:r>
                        <a:rPr lang="en-US" sz="1400" b="0" u="none" strike="noStrike" cap="none" spc="60">
                          <a:solidFill>
                            <a:schemeClr val="bg1"/>
                          </a:solidFill>
                          <a:effectLst/>
                          <a:latin typeface="Calibri"/>
                          <a:ea typeface="Calibri"/>
                          <a:cs typeface="Calibri"/>
                        </a:rPr>
                        <a:t>:</a:t>
                      </a:r>
                      <a:endParaRPr lang="en-US" sz="1400" b="0"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N26.08 (8/5)</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1796889">
                <a:tc gridSpan="8">
                  <a:txBody>
                    <a:bodyPr/>
                    <a:lstStyle/>
                    <a:p>
                      <a:pPr lvl="0">
                        <a:buNone/>
                      </a:pPr>
                      <a:r>
                        <a:rPr lang="en-US" sz="1400" b="1" i="0" u="none" strike="noStrike" noProof="0">
                          <a:solidFill>
                            <a:schemeClr val="tx1"/>
                          </a:solidFill>
                          <a:latin typeface="Calibri"/>
                          <a:ea typeface="Calibri"/>
                          <a:cs typeface="Calibri"/>
                        </a:rPr>
                        <a:t>Overall Summary : </a:t>
                      </a:r>
                      <a:endParaRPr lang="en-US" sz="1400" b="0" i="0" u="none" strike="noStrike" noProof="0">
                        <a:solidFill>
                          <a:srgbClr val="000000"/>
                        </a:solidFill>
                        <a:latin typeface="Calibri"/>
                        <a:ea typeface="Calibri"/>
                        <a:cs typeface="Calibri"/>
                      </a:endParaRPr>
                    </a:p>
                    <a:p>
                      <a:pPr marL="171450" lvl="0" indent="-171450" algn="l">
                        <a:lnSpc>
                          <a:spcPct val="100000"/>
                        </a:lnSpc>
                        <a:spcBef>
                          <a:spcPts val="0"/>
                        </a:spcBef>
                        <a:spcAft>
                          <a:spcPts val="0"/>
                        </a:spcAft>
                        <a:buFont typeface="Arial"/>
                        <a:buChar char="•"/>
                      </a:pPr>
                      <a:r>
                        <a:rPr lang="en-US" sz="1100" b="0" i="0" u="none" strike="noStrike" kern="1200" noProof="0">
                          <a:solidFill>
                            <a:srgbClr val="000000"/>
                          </a:solidFill>
                          <a:highlight>
                            <a:srgbClr val="FFFFFF"/>
                          </a:highlight>
                          <a:latin typeface="Segoe UI"/>
                          <a:ea typeface="Calibri"/>
                          <a:cs typeface="Segoe UI"/>
                        </a:rPr>
                        <a:t>Test design is in progress</a:t>
                      </a:r>
                      <a:r>
                        <a:rPr lang="en-US" sz="1100" b="0" i="0" u="none" strike="noStrike" kern="1200" noProof="0">
                          <a:solidFill>
                            <a:srgbClr val="000000"/>
                          </a:solidFill>
                          <a:latin typeface="Segoe UI"/>
                          <a:ea typeface="Calibri"/>
                          <a:cs typeface="Segoe UI"/>
                        </a:rPr>
                        <a:t> for below API Mod features.</a:t>
                      </a:r>
                      <a:endParaRPr lang="en-US" sz="1100" b="0" i="0" u="none" strike="noStrike" kern="1200">
                        <a:solidFill>
                          <a:srgbClr val="000000"/>
                        </a:solidFill>
                        <a:latin typeface="Segoe UI"/>
                        <a:ea typeface="Calibri"/>
                        <a:cs typeface="Segoe UI"/>
                      </a:endParaRPr>
                    </a:p>
                    <a:p>
                      <a:pPr marL="0" lvl="0" indent="0" algn="l">
                        <a:lnSpc>
                          <a:spcPct val="100000"/>
                        </a:lnSpc>
                        <a:spcBef>
                          <a:spcPts val="0"/>
                        </a:spcBef>
                        <a:spcAft>
                          <a:spcPts val="0"/>
                        </a:spcAft>
                        <a:buClr>
                          <a:srgbClr val="000000"/>
                        </a:buClr>
                        <a:buFont typeface="Arial,Sans-Serif"/>
                        <a:buChar char="•"/>
                      </a:pPr>
                      <a:r>
                        <a:rPr lang="en-US" sz="1100" b="0" i="0" u="none" strike="noStrike" kern="1200" noProof="0">
                          <a:solidFill>
                            <a:srgbClr val="467886"/>
                          </a:solidFill>
                          <a:highlight>
                            <a:srgbClr val="FFFFFF"/>
                          </a:highlight>
                          <a:latin typeface="Calibri"/>
                          <a:ea typeface="Calibri"/>
                          <a:cs typeface="Calibri"/>
                          <a:hlinkClick r:id="rId2">
                            <a:extLst>
                              <a:ext uri="{A12FA001-AC4F-418D-AE19-62706E023703}">
                                <ahyp:hlinkClr xmlns:ahyp="http://schemas.microsoft.com/office/drawing/2018/hyperlinkcolor" val="tx"/>
                              </a:ext>
                            </a:extLst>
                          </a:hlinkClick>
                        </a:rPr>
                        <a:t>Feature 8334361</a:t>
                      </a:r>
                      <a:r>
                        <a:rPr lang="en-US" sz="1100" b="0" i="0" u="none" strike="noStrike" kern="1200" noProof="0">
                          <a:solidFill>
                            <a:srgbClr val="242424"/>
                          </a:solidFill>
                          <a:highlight>
                            <a:srgbClr val="FFFFFF"/>
                          </a:highlight>
                          <a:latin typeface="Calibri"/>
                          <a:ea typeface="Calibri"/>
                          <a:cs typeface="Calibri"/>
                        </a:rPr>
                        <a:t>: Athena - Accums API - API modernization and MCP server connection (PI26.2)</a:t>
                      </a:r>
                      <a:endParaRPr lang="en-US" sz="1100" b="0" i="0" u="none" strike="noStrike" kern="1200" noProof="0">
                        <a:solidFill>
                          <a:srgbClr val="000000"/>
                        </a:solidFill>
                        <a:latin typeface="Calibri"/>
                        <a:ea typeface="Calibri"/>
                        <a:cs typeface="Calibri"/>
                      </a:endParaRPr>
                    </a:p>
                    <a:p>
                      <a:pPr marL="0" lvl="0" indent="0" algn="l">
                        <a:lnSpc>
                          <a:spcPct val="100000"/>
                        </a:lnSpc>
                        <a:spcBef>
                          <a:spcPts val="0"/>
                        </a:spcBef>
                        <a:spcAft>
                          <a:spcPts val="0"/>
                        </a:spcAft>
                        <a:buClr>
                          <a:srgbClr val="000000"/>
                        </a:buClr>
                        <a:buFont typeface="Arial,Sans-Serif"/>
                        <a:buChar char="•"/>
                      </a:pPr>
                      <a:r>
                        <a:rPr lang="en-US" sz="1100" b="0" i="0" u="none" strike="noStrike" kern="1200" noProof="0">
                          <a:solidFill>
                            <a:srgbClr val="467886"/>
                          </a:solidFill>
                          <a:highlight>
                            <a:srgbClr val="FFFFFF"/>
                          </a:highlight>
                          <a:latin typeface="Calibri"/>
                          <a:ea typeface="Calibri"/>
                          <a:cs typeface="Calibri"/>
                          <a:hlinkClick r:id="rId3">
                            <a:extLst>
                              <a:ext uri="{A12FA001-AC4F-418D-AE19-62706E023703}">
                                <ahyp:hlinkClr xmlns:ahyp="http://schemas.microsoft.com/office/drawing/2018/hyperlinkcolor" val="tx"/>
                              </a:ext>
                            </a:extLst>
                          </a:hlinkClick>
                        </a:rPr>
                        <a:t>Feature 8409258</a:t>
                      </a:r>
                      <a:r>
                        <a:rPr lang="en-US" sz="1100" b="0" i="0" u="none" strike="noStrike" kern="1200" noProof="0">
                          <a:solidFill>
                            <a:srgbClr val="242424"/>
                          </a:solidFill>
                          <a:highlight>
                            <a:srgbClr val="FFFFFF"/>
                          </a:highlight>
                          <a:latin typeface="Calibri"/>
                          <a:ea typeface="Calibri"/>
                          <a:cs typeface="Calibri"/>
                        </a:rPr>
                        <a:t>: Athena - Claims API - API modernization and MCP server connection (PI26.2)</a:t>
                      </a:r>
                      <a:endParaRPr lang="en-US"/>
                    </a:p>
                    <a:p>
                      <a:pPr marL="171450" lvl="0" indent="-171450" algn="l">
                        <a:lnSpc>
                          <a:spcPct val="100000"/>
                        </a:lnSpc>
                        <a:spcBef>
                          <a:spcPts val="0"/>
                        </a:spcBef>
                        <a:spcAft>
                          <a:spcPts val="0"/>
                        </a:spcAft>
                        <a:buFont typeface="Arial"/>
                        <a:buChar char="•"/>
                      </a:pPr>
                      <a:endParaRPr lang="en-US" sz="1100" b="0" i="0" u="none" strike="noStrike" kern="1200" noProof="0">
                        <a:solidFill>
                          <a:srgbClr val="000000"/>
                        </a:solidFill>
                        <a:latin typeface="Segoe UI"/>
                        <a:ea typeface="Calibri"/>
                        <a:cs typeface="Segoe UI"/>
                      </a:endParaRPr>
                    </a:p>
                    <a:p>
                      <a:pPr marL="0" lvl="0" indent="0" algn="l">
                        <a:lnSpc>
                          <a:spcPct val="100000"/>
                        </a:lnSpc>
                        <a:spcBef>
                          <a:spcPts val="0"/>
                        </a:spcBef>
                        <a:spcAft>
                          <a:spcPts val="0"/>
                        </a:spcAft>
                        <a:buFont typeface="Arial"/>
                        <a:buChar char="•"/>
                      </a:pPr>
                      <a:endParaRPr lang="en-US" sz="1100" b="0" i="0" u="none" strike="noStrike" kern="1200" noProof="0">
                        <a:solidFill>
                          <a:srgbClr val="242424"/>
                        </a:solidFill>
                        <a:highlight>
                          <a:srgbClr val="FFFFFF"/>
                        </a:highlight>
                        <a:latin typeface="Calibri"/>
                        <a:ea typeface="Calibri"/>
                        <a:cs typeface="Calibri"/>
                      </a:endParaRPr>
                    </a:p>
                    <a:p>
                      <a:pPr marL="171450" lvl="0" indent="-171450" algn="l">
                        <a:lnSpc>
                          <a:spcPct val="100000"/>
                        </a:lnSpc>
                        <a:spcBef>
                          <a:spcPts val="0"/>
                        </a:spcBef>
                        <a:spcAft>
                          <a:spcPts val="0"/>
                        </a:spcAft>
                        <a:buFont typeface="Arial"/>
                        <a:buChar char="•"/>
                      </a:pPr>
                      <a:endParaRPr lang="en-US" sz="1100" b="0" i="0" u="none" strike="noStrike" kern="1200" noProof="0">
                        <a:solidFill>
                          <a:srgbClr val="000000"/>
                        </a:solidFill>
                        <a:latin typeface="Segoe UI"/>
                        <a:ea typeface="Calibri"/>
                        <a:cs typeface="Segoe UI"/>
                      </a:endParaRPr>
                    </a:p>
                    <a:p>
                      <a:pPr marL="171450" lvl="0" indent="-171450" algn="l">
                        <a:lnSpc>
                          <a:spcPct val="100000"/>
                        </a:lnSpc>
                        <a:spcBef>
                          <a:spcPts val="0"/>
                        </a:spcBef>
                        <a:spcAft>
                          <a:spcPts val="0"/>
                        </a:spcAft>
                        <a:buFont typeface="Arial"/>
                        <a:buChar char="•"/>
                      </a:pPr>
                      <a:endParaRPr lang="en-US" sz="1100" b="0" i="0" u="none" strike="noStrike" kern="1200" noProof="0">
                        <a:solidFill>
                          <a:srgbClr val="000000"/>
                        </a:solidFill>
                        <a:latin typeface="Segoe UI"/>
                        <a:ea typeface="Calibri"/>
                        <a:cs typeface="Segoe UI"/>
                      </a:endParaRPr>
                    </a:p>
                    <a:p>
                      <a:pPr marL="171450" lvl="0" indent="-171450" algn="l">
                        <a:lnSpc>
                          <a:spcPct val="100000"/>
                        </a:lnSpc>
                        <a:spcBef>
                          <a:spcPts val="0"/>
                        </a:spcBef>
                        <a:spcAft>
                          <a:spcPts val="0"/>
                        </a:spcAft>
                        <a:buFont typeface="Arial"/>
                        <a:buChar char="•"/>
                      </a:pPr>
                      <a:endParaRPr lang="en-US" sz="1100" b="0" i="0" u="none" strike="noStrike" kern="1200" noProof="0">
                        <a:solidFill>
                          <a:srgbClr val="000000"/>
                        </a:solidFill>
                        <a:latin typeface="Segoe UI"/>
                        <a:ea typeface="Calibri"/>
                        <a:cs typeface="Segoe UI"/>
                      </a:endParaRPr>
                    </a:p>
                    <a:p>
                      <a:pPr marL="0" lvl="0" indent="0">
                        <a:buNone/>
                      </a:pPr>
                      <a:endParaRPr lang="en-US" sz="1100" b="0" i="0" u="none" strike="noStrike" kern="1200" noProof="0">
                        <a:solidFill>
                          <a:srgbClr val="000000"/>
                        </a:solidFill>
                        <a:highlight>
                          <a:srgbClr val="FFFFFF"/>
                        </a:highlight>
                        <a:latin typeface="Aptos"/>
                        <a:ea typeface="Calibri"/>
                        <a:cs typeface="Segoe UI"/>
                      </a:endParaRPr>
                    </a:p>
                    <a:p>
                      <a:pPr marL="0" lvl="0" indent="0">
                        <a:buClr>
                          <a:srgbClr val="000000"/>
                        </a:buClr>
                        <a:buNone/>
                      </a:pPr>
                      <a:endParaRPr lang="en-US" sz="1100" b="0" i="0" u="none" strike="noStrike" kern="1200" noProof="0">
                        <a:solidFill>
                          <a:srgbClr val="000000"/>
                        </a:solidFill>
                        <a:highlight>
                          <a:srgbClr val="FFFFFF"/>
                        </a:highlight>
                      </a:endParaRPr>
                    </a:p>
                    <a:p>
                      <a:pPr marL="285750" lvl="0" indent="-285750">
                        <a:buClr>
                          <a:srgbClr val="000000"/>
                        </a:buClr>
                        <a:buFont typeface="Arial"/>
                        <a:buChar char="•"/>
                      </a:pPr>
                      <a:endParaRPr lang="en-US" sz="1200" b="0" i="0" u="none" strike="noStrike" kern="1200" noProof="0">
                        <a:solidFill>
                          <a:srgbClr val="000000"/>
                        </a:solidFill>
                        <a:latin typeface="Calibri"/>
                        <a:ea typeface="Calibri"/>
                        <a:cs typeface="Calibri"/>
                      </a:endParaRPr>
                    </a:p>
                    <a:p>
                      <a:pPr marL="0" lvl="0" indent="0">
                        <a:buClr>
                          <a:srgbClr val="000000"/>
                        </a:buClr>
                        <a:buNone/>
                      </a:pPr>
                      <a:endParaRPr lang="en-US" sz="1200" b="0" i="0" u="none" strike="noStrike" kern="1200" noProof="0">
                        <a:solidFill>
                          <a:srgbClr val="000000"/>
                        </a:solidFill>
                      </a:endParaRPr>
                    </a:p>
                    <a:p>
                      <a:pPr marL="285750" lvl="0" indent="-285750">
                        <a:buClr>
                          <a:srgbClr val="000000"/>
                        </a:buClr>
                        <a:buFont typeface="Arial"/>
                        <a:buChar char="•"/>
                      </a:pPr>
                      <a:endParaRPr lang="en-US" sz="1200" b="0" i="0" u="none" strike="noStrike" kern="1200" noProof="0">
                        <a:solidFill>
                          <a:srgbClr val="000000"/>
                        </a:solidFill>
                      </a:endParaRPr>
                    </a:p>
                    <a:p>
                      <a:pPr marL="285750" lvl="0" indent="-285750">
                        <a:buClr>
                          <a:srgbClr val="000000"/>
                        </a:buClr>
                        <a:buFont typeface="Arial"/>
                        <a:buChar char="•"/>
                      </a:pPr>
                      <a:endParaRPr lang="en-US" sz="1200" b="0" i="0" u="none" strike="noStrike" kern="1200" noProof="0">
                        <a:solidFill>
                          <a:srgbClr val="000000"/>
                        </a:solidFill>
                      </a:endParaRPr>
                    </a:p>
                    <a:p>
                      <a:pPr marL="285750" lvl="0" indent="-285750">
                        <a:buClr>
                          <a:srgbClr val="000000"/>
                        </a:buClr>
                        <a:buFont typeface="Arial"/>
                        <a:buChar char="•"/>
                      </a:pPr>
                      <a:endParaRPr lang="en-US" sz="1200" b="0" i="0" u="none" strike="noStrike" kern="1200" noProof="0">
                        <a:solidFill>
                          <a:srgbClr val="000000"/>
                        </a:solidFill>
                        <a:latin typeface="Calibri"/>
                        <a:ea typeface="Calibri"/>
                        <a:cs typeface="Calibri"/>
                      </a:endParaRPr>
                    </a:p>
                    <a:p>
                      <a:pPr marL="0" lvl="0" indent="0">
                        <a:buClr>
                          <a:srgbClr val="000000"/>
                        </a:buClr>
                        <a:buNone/>
                      </a:pPr>
                      <a:endParaRPr lang="en-US" sz="1200" b="0" i="0" u="none" strike="noStrike" kern="1200" noProof="0">
                        <a:solidFill>
                          <a:srgbClr val="000000"/>
                        </a:solidFill>
                        <a:latin typeface="Calibri"/>
                        <a:ea typeface="Calibri"/>
                        <a:cs typeface="Calibri"/>
                      </a:endParaRPr>
                    </a:p>
                    <a:p>
                      <a:pPr marL="0" lvl="0" indent="0">
                        <a:buClr>
                          <a:srgbClr val="000000"/>
                        </a:buClr>
                        <a:buNone/>
                      </a:pPr>
                      <a:endParaRPr lang="en-US" sz="1100" b="0" i="0" u="none" strike="noStrike" kern="1200" noProof="0">
                        <a:solidFill>
                          <a:srgbClr val="242424"/>
                        </a:solidFill>
                        <a:highlight>
                          <a:srgbClr val="FFFFFF"/>
                        </a:highlight>
                        <a:latin typeface="Aptos Narrow"/>
                        <a:ea typeface="Calibri"/>
                        <a:cs typeface="Calibri"/>
                      </a:endParaRPr>
                    </a:p>
                    <a:p>
                      <a:pPr marL="0" lvl="0" indent="0">
                        <a:buClr>
                          <a:srgbClr val="000000"/>
                        </a:buClr>
                        <a:buNone/>
                      </a:pPr>
                      <a:endParaRPr lang="en-US" sz="1200" b="0" i="0" u="none" strike="noStrike" kern="1200" noProof="0">
                        <a:solidFill>
                          <a:srgbClr val="000000"/>
                        </a:solidFill>
                        <a:latin typeface="Calibri"/>
                        <a:ea typeface="Calibri"/>
                        <a:cs typeface="Calibri"/>
                      </a:endParaRPr>
                    </a:p>
                    <a:p>
                      <a:pPr lvl="0">
                        <a:buNone/>
                      </a:pPr>
                      <a:endParaRPr lang="en-US" sz="1400" b="1">
                        <a:solidFill>
                          <a:schemeClr val="tx1"/>
                        </a:solidFill>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19050" cap="flat" cmpd="sng" algn="ctr">
                      <a:noFill/>
                      <a:prstDash val="soli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845596">
                <a:tc gridSpan="8">
                  <a:txBody>
                    <a:bodyPr/>
                    <a:lstStyle/>
                    <a:p>
                      <a:pPr lvl="0">
                        <a:buNone/>
                      </a:pPr>
                      <a:r>
                        <a:rPr lang="en-US" sz="1400" b="1">
                          <a:solidFill>
                            <a:schemeClr val="tx1"/>
                          </a:solidFill>
                          <a:latin typeface="Calibri"/>
                          <a:ea typeface="Calibri"/>
                          <a:cs typeface="Calibri"/>
                        </a:rPr>
                        <a:t>CC</a:t>
                      </a: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84896715"/>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4256768"/>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41574701"/>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812785"/>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1231540"/>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40780646"/>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31687572"/>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85969694"/>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55869229"/>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53397512"/>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44056685"/>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21167555"/>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97570696"/>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1324761"/>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50449735"/>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29748480"/>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1229224"/>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81878756"/>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89608353"/>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766569"/>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90680373"/>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50322476"/>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88385138"/>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41237357"/>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01392494"/>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7919845"/>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81554567"/>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48576306"/>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38672104"/>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25733562"/>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6745103"/>
                  </a:ext>
                </a:extLst>
              </a:tr>
              <a:tr h="845595">
                <a:tc gridSpan="8">
                  <a:txBody>
                    <a:bodyPr/>
                    <a:lstStyle/>
                    <a:p>
                      <a:pPr lvl="0">
                        <a:buNone/>
                      </a:pPr>
                      <a:endParaRPr lang="en-US" sz="1400" b="1">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52322987"/>
                  </a:ext>
                </a:extLst>
              </a:tr>
            </a:tbl>
          </a:graphicData>
        </a:graphic>
      </p:graphicFrame>
      <p:graphicFrame>
        <p:nvGraphicFramePr>
          <p:cNvPr id="3" name="Table 2">
            <a:extLst>
              <a:ext uri="{FF2B5EF4-FFF2-40B4-BE49-F238E27FC236}">
                <a16:creationId xmlns:a16="http://schemas.microsoft.com/office/drawing/2014/main" id="{89A68A0F-6C1D-48E6-382F-3AEF78BA2968}"/>
              </a:ext>
            </a:extLst>
          </p:cNvPr>
          <p:cNvGraphicFramePr>
            <a:graphicFrameLocks noGrp="1"/>
          </p:cNvGraphicFramePr>
          <p:nvPr>
            <p:extLst>
              <p:ext uri="{D42A27DB-BD31-4B8C-83A1-F6EECF244321}">
                <p14:modId xmlns:p14="http://schemas.microsoft.com/office/powerpoint/2010/main" val="1923552098"/>
              </p:ext>
            </p:extLst>
          </p:nvPr>
        </p:nvGraphicFramePr>
        <p:xfrm>
          <a:off x="345056" y="3651849"/>
          <a:ext cx="11615675" cy="2350480"/>
        </p:xfrm>
        <a:graphic>
          <a:graphicData uri="http://schemas.openxmlformats.org/drawingml/2006/table">
            <a:tbl>
              <a:tblPr firstRow="1" bandRow="1">
                <a:noFill/>
                <a:tableStyleId>{5940675A-B579-460E-94D1-54222C63F5DA}</a:tableStyleId>
              </a:tblPr>
              <a:tblGrid>
                <a:gridCol w="5855547">
                  <a:extLst>
                    <a:ext uri="{9D8B030D-6E8A-4147-A177-3AD203B41FA5}">
                      <a16:colId xmlns:a16="http://schemas.microsoft.com/office/drawing/2014/main" val="3592680666"/>
                    </a:ext>
                  </a:extLst>
                </a:gridCol>
                <a:gridCol w="5760128">
                  <a:extLst>
                    <a:ext uri="{9D8B030D-6E8A-4147-A177-3AD203B41FA5}">
                      <a16:colId xmlns:a16="http://schemas.microsoft.com/office/drawing/2014/main" val="1654399098"/>
                    </a:ext>
                  </a:extLst>
                </a:gridCol>
              </a:tblGrid>
              <a:tr h="1304455">
                <a:tc>
                  <a:txBody>
                    <a:bodyPr/>
                    <a:lstStyle/>
                    <a:p>
                      <a:pPr algn="l" fontAlgn="t">
                        <a:buNone/>
                      </a:pPr>
                      <a:r>
                        <a:rPr lang="en-US" sz="1400" b="1" u="none" strike="noStrike" kern="1200" cap="none" spc="0">
                          <a:solidFill>
                            <a:schemeClr val="tx1"/>
                          </a:solidFill>
                          <a:effectLst/>
                          <a:latin typeface="Calibri"/>
                          <a:ea typeface="Calibri"/>
                          <a:cs typeface="Calibri"/>
                        </a:rPr>
                        <a:t>Challenges (risks / issues): </a:t>
                      </a:r>
                      <a:endParaRPr lang="en-US" sz="1400" b="0" i="0" u="none" strike="noStrike" kern="1200" cap="none" spc="0" noProof="0">
                        <a:solidFill>
                          <a:srgbClr val="000000"/>
                        </a:solidFill>
                        <a:effectLst/>
                        <a:latin typeface="Calibri"/>
                        <a:ea typeface="Calibri"/>
                        <a:cs typeface="Calibri"/>
                      </a:endParaRPr>
                    </a:p>
                    <a:p>
                      <a:pPr marL="171450" lvl="0" indent="-171450" algn="l" rtl="0">
                        <a:lnSpc>
                          <a:spcPct val="100000"/>
                        </a:lnSpc>
                        <a:spcBef>
                          <a:spcPts val="0"/>
                        </a:spcBef>
                        <a:spcAft>
                          <a:spcPts val="0"/>
                        </a:spcAft>
                        <a:buFont typeface="Arial"/>
                        <a:buChar char="•"/>
                      </a:pPr>
                      <a:r>
                        <a:rPr lang="en-US" sz="1100" b="0" i="0" u="none" strike="noStrike" kern="1200" noProof="0">
                          <a:latin typeface="Segoe UI"/>
                          <a:cs typeface="Segoe UI"/>
                        </a:rPr>
                        <a:t>We were supposed to start API Mod testing today; however, none of the APIs are available in the QA environment,</a:t>
                      </a:r>
                      <a:br>
                        <a:rPr lang="en-US" sz="1200" b="0" i="0" u="none" strike="noStrike" kern="1200" noProof="0">
                          <a:solidFill>
                            <a:srgbClr val="000000"/>
                          </a:solidFill>
                          <a:latin typeface="Calibri"/>
                          <a:ea typeface="Calibri"/>
                          <a:cs typeface="Calibri"/>
                        </a:rPr>
                      </a:br>
                      <a:endParaRPr lang="en-US" sz="1000" b="0" i="0" u="none" strike="noStrike" kern="1200" noProof="0">
                        <a:solidFill>
                          <a:srgbClr val="000000"/>
                        </a:solidFill>
                        <a:latin typeface="Aptos Narrow"/>
                        <a:ea typeface="Calibri"/>
                        <a:cs typeface="Calibri"/>
                      </a:endParaRPr>
                    </a:p>
                    <a:p>
                      <a:pPr marL="0" lvl="0" indent="0" algn="l">
                        <a:lnSpc>
                          <a:spcPct val="100000"/>
                        </a:lnSpc>
                        <a:spcBef>
                          <a:spcPts val="0"/>
                        </a:spcBef>
                        <a:spcAft>
                          <a:spcPts val="0"/>
                        </a:spcAft>
                        <a:buNone/>
                      </a:pPr>
                      <a:endParaRPr lang="en-US" sz="1200" b="0" i="0" u="none" strike="noStrike" kern="1200" noProof="0">
                        <a:solidFill>
                          <a:srgbClr val="000000"/>
                        </a:solidFill>
                        <a:latin typeface="Calibri"/>
                        <a:ea typeface="Calibri"/>
                        <a:cs typeface="Calibri"/>
                      </a:endParaRPr>
                    </a:p>
                    <a:p>
                      <a:pPr lvl="0" algn="l">
                        <a:buNone/>
                      </a:pPr>
                      <a:endParaRPr lang="en-US" sz="1400" b="1" u="none" strike="noStrike" kern="1200" cap="none" spc="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285750" indent="-285750" algn="l" fontAlgn="t">
                        <a:buFont typeface="Arial"/>
                        <a:buChar char="•"/>
                      </a:pPr>
                      <a:r>
                        <a:rPr lang="en-US" sz="1400" b="1" u="none" strike="noStrike" kern="1200" cap="none" spc="0">
                          <a:solidFill>
                            <a:schemeClr val="tx1"/>
                          </a:solidFill>
                          <a:effectLst/>
                          <a:latin typeface="Calibri"/>
                          <a:ea typeface="Calibri"/>
                          <a:cs typeface="Calibri"/>
                        </a:rPr>
                        <a:t>Action Needed / Action Taken (for the identified risks/issues): </a:t>
                      </a:r>
                      <a:endParaRPr lang="en-US"/>
                    </a:p>
                    <a:p>
                      <a:pPr marL="285750" lvl="0" indent="-285750" algn="l">
                        <a:buFont typeface="Arial"/>
                        <a:buChar char="•"/>
                      </a:pPr>
                      <a:r>
                        <a:rPr lang="en-US" sz="1100" b="0" i="0" u="none" strike="noStrike" kern="1200" cap="none" spc="0" noProof="0">
                          <a:solidFill>
                            <a:schemeClr val="tx1"/>
                          </a:solidFill>
                          <a:effectLst/>
                          <a:latin typeface="Segoe UI"/>
                          <a:cs typeface="Segoe UI"/>
                        </a:rPr>
                        <a:t>If the stories are deployed and available in the QA environment by today, we can begin our testing as planned. Otherwise, it will be challenging to complete the testing and provide sign-off within the expected timeline</a:t>
                      </a:r>
                    </a:p>
                    <a:p>
                      <a:pPr marL="285750" lvl="0" indent="-285750" algn="l">
                        <a:buFont typeface="Arial"/>
                        <a:buChar char="•"/>
                      </a:pPr>
                      <a:endParaRPr lang="en-US" sz="1100" b="0" i="0" u="none" strike="noStrike" kern="1200" cap="none" spc="0" noProof="0">
                        <a:solidFill>
                          <a:schemeClr val="tx1"/>
                        </a:solidFill>
                        <a:effectLst/>
                        <a:latin typeface="Segoe UI"/>
                        <a:cs typeface="Segoe UI"/>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046025">
                <a:tc gridSpan="2">
                  <a:txBody>
                    <a:bodyPr/>
                    <a:lstStyle/>
                    <a:p>
                      <a:pPr lvl="0" algn="l">
                        <a:buNone/>
                      </a:pPr>
                      <a:r>
                        <a:rPr lang="en-US" sz="1400" b="1" i="0" u="none" strike="noStrike" kern="1200" cap="none" spc="0" noProof="0">
                          <a:solidFill>
                            <a:schemeClr val="tx1"/>
                          </a:solidFill>
                          <a:effectLst/>
                          <a:latin typeface="Calibri"/>
                          <a:ea typeface="Calibri"/>
                          <a:cs typeface="Calibri"/>
                        </a:rPr>
                        <a:t>Automation Regression Updates : </a:t>
                      </a:r>
                      <a:endParaRPr lang="en-US" i="0" noProof="0"/>
                    </a:p>
                    <a:p>
                      <a:pPr marL="171450" lvl="0" indent="-171450" algn="l">
                        <a:buClr>
                          <a:srgbClr val="000000"/>
                        </a:buClr>
                        <a:buFont typeface="Arial"/>
                        <a:buChar char="•"/>
                      </a:pPr>
                      <a:r>
                        <a:rPr lang="en-US" sz="1100" b="0" i="0" u="none" strike="noStrike" kern="1200" cap="none" spc="0" noProof="0">
                          <a:solidFill>
                            <a:schemeClr val="tx1"/>
                          </a:solidFill>
                          <a:effectLst/>
                          <a:latin typeface="Segoe UI"/>
                          <a:ea typeface="Calibri"/>
                          <a:cs typeface="Segoe UI"/>
                        </a:rPr>
                        <a:t>The API Mod test cases have been sent to Jimmy (PO) for review. Once we receive his approval, we will identify the regression test cases and share them with the automation team</a:t>
                      </a:r>
                    </a:p>
                    <a:p>
                      <a:pPr marL="171450" lvl="0" indent="-171450" algn="l">
                        <a:buClr>
                          <a:srgbClr val="000000"/>
                        </a:buClr>
                        <a:buFont typeface="Arial"/>
                        <a:buChar char="•"/>
                      </a:pPr>
                      <a:endParaRPr lang="en-US" sz="1100" b="0" i="0" u="none" strike="noStrike" kern="1200" cap="none" spc="0" noProof="0">
                        <a:solidFill>
                          <a:schemeClr val="tx1"/>
                        </a:solidFill>
                        <a:effectLst/>
                        <a:latin typeface="Segoe UI"/>
                        <a:ea typeface="Calibri"/>
                        <a:cs typeface="Segoe UI"/>
                      </a:endParaRPr>
                    </a:p>
                    <a:p>
                      <a:pPr marL="285750" lvl="0" indent="-285750" algn="l">
                        <a:buClr>
                          <a:srgbClr val="000000"/>
                        </a:buClr>
                        <a:buFont typeface="Arial" panose="020B0604020202020204" pitchFamily="34" charset="0"/>
                        <a:buChar char="•"/>
                      </a:pPr>
                      <a:endParaRPr lang="en-US" sz="1200" b="0" i="0" u="none" strike="noStrike" kern="1200" cap="none" spc="0" noProof="0">
                        <a:solidFill>
                          <a:schemeClr val="tx1"/>
                        </a:solidFill>
                        <a:effectLst/>
                        <a:latin typeface="Calibri"/>
                        <a:ea typeface="Calibri"/>
                        <a:cs typeface="Calibri"/>
                      </a:endParaRPr>
                    </a:p>
                    <a:p>
                      <a:pPr marL="285750" lvl="0" indent="-285750" algn="l">
                        <a:buClr>
                          <a:srgbClr val="000000"/>
                        </a:buClr>
                        <a:buFont typeface="Arial" panose="020B0604020202020204" pitchFamily="34" charset="0"/>
                        <a:buChar char="•"/>
                      </a:pPr>
                      <a:endParaRPr lang="en-US" sz="1200" b="0" i="0" u="none" strike="noStrike" kern="1200" cap="none" spc="0" noProof="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6" name="Table 5">
            <a:extLst>
              <a:ext uri="{FF2B5EF4-FFF2-40B4-BE49-F238E27FC236}">
                <a16:creationId xmlns:a16="http://schemas.microsoft.com/office/drawing/2014/main" id="{C5D6F288-CADF-CCDA-6878-D66C151EB298}"/>
              </a:ext>
            </a:extLst>
          </p:cNvPr>
          <p:cNvGraphicFramePr>
            <a:graphicFrameLocks noGrp="1"/>
          </p:cNvGraphicFramePr>
          <p:nvPr>
            <p:extLst>
              <p:ext uri="{D42A27DB-BD31-4B8C-83A1-F6EECF244321}">
                <p14:modId xmlns:p14="http://schemas.microsoft.com/office/powerpoint/2010/main" val="1508235826"/>
              </p:ext>
            </p:extLst>
          </p:nvPr>
        </p:nvGraphicFramePr>
        <p:xfrm>
          <a:off x="345057" y="2118745"/>
          <a:ext cx="11615839" cy="929085"/>
        </p:xfrm>
        <a:graphic>
          <a:graphicData uri="http://schemas.openxmlformats.org/drawingml/2006/table">
            <a:tbl>
              <a:tblPr/>
              <a:tblGrid>
                <a:gridCol w="1485131">
                  <a:extLst>
                    <a:ext uri="{9D8B030D-6E8A-4147-A177-3AD203B41FA5}">
                      <a16:colId xmlns:a16="http://schemas.microsoft.com/office/drawing/2014/main" val="383858331"/>
                    </a:ext>
                  </a:extLst>
                </a:gridCol>
                <a:gridCol w="1209320">
                  <a:extLst>
                    <a:ext uri="{9D8B030D-6E8A-4147-A177-3AD203B41FA5}">
                      <a16:colId xmlns:a16="http://schemas.microsoft.com/office/drawing/2014/main" val="1560180378"/>
                    </a:ext>
                  </a:extLst>
                </a:gridCol>
                <a:gridCol w="1527563">
                  <a:extLst>
                    <a:ext uri="{9D8B030D-6E8A-4147-A177-3AD203B41FA5}">
                      <a16:colId xmlns:a16="http://schemas.microsoft.com/office/drawing/2014/main" val="2270929281"/>
                    </a:ext>
                  </a:extLst>
                </a:gridCol>
                <a:gridCol w="1548779">
                  <a:extLst>
                    <a:ext uri="{9D8B030D-6E8A-4147-A177-3AD203B41FA5}">
                      <a16:colId xmlns:a16="http://schemas.microsoft.com/office/drawing/2014/main" val="2506251312"/>
                    </a:ext>
                  </a:extLst>
                </a:gridCol>
                <a:gridCol w="1548779">
                  <a:extLst>
                    <a:ext uri="{9D8B030D-6E8A-4147-A177-3AD203B41FA5}">
                      <a16:colId xmlns:a16="http://schemas.microsoft.com/office/drawing/2014/main" val="3295045209"/>
                    </a:ext>
                  </a:extLst>
                </a:gridCol>
                <a:gridCol w="1145669">
                  <a:extLst>
                    <a:ext uri="{9D8B030D-6E8A-4147-A177-3AD203B41FA5}">
                      <a16:colId xmlns:a16="http://schemas.microsoft.com/office/drawing/2014/main" val="1923205917"/>
                    </a:ext>
                  </a:extLst>
                </a:gridCol>
                <a:gridCol w="1766244">
                  <a:extLst>
                    <a:ext uri="{9D8B030D-6E8A-4147-A177-3AD203B41FA5}">
                      <a16:colId xmlns:a16="http://schemas.microsoft.com/office/drawing/2014/main" val="3147362022"/>
                    </a:ext>
                  </a:extLst>
                </a:gridCol>
                <a:gridCol w="1384354">
                  <a:extLst>
                    <a:ext uri="{9D8B030D-6E8A-4147-A177-3AD203B41FA5}">
                      <a16:colId xmlns:a16="http://schemas.microsoft.com/office/drawing/2014/main" val="4292749998"/>
                    </a:ext>
                  </a:extLst>
                </a:gridCol>
              </a:tblGrid>
              <a:tr h="562970">
                <a:tc>
                  <a:txBody>
                    <a:bodyPr/>
                    <a:lstStyle/>
                    <a:p>
                      <a:pPr lvl="0" algn="ctr">
                        <a:buNone/>
                      </a:pPr>
                      <a:r>
                        <a:rPr lang="en-US" sz="1000" b="1" i="0" u="none" strike="noStrike">
                          <a:solidFill>
                            <a:srgbClr val="000000"/>
                          </a:solidFill>
                          <a:effectLst/>
                          <a:latin typeface="Aptos Narrow"/>
                        </a:rPr>
                        <a:t> User stories</a:t>
                      </a:r>
                      <a:endParaRPr lang="en-US"/>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Aptos Narrow"/>
                        </a:rPr>
                        <a:t>Test design Status</a:t>
                      </a:r>
                      <a:endParaRPr lang="en-US"/>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Aptos Narrow"/>
                        </a:rPr>
                        <a:t>Test Design %</a:t>
                      </a:r>
                      <a:endParaRPr lang="en-US"/>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though AI tools (Sulfur / Strider)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285750" lvl="0" indent="-285750" algn="l" defTabSz="914400" rtl="0" eaLnBrk="1" fontAlgn="ctr" latinLnBrk="0" hangingPunct="1">
                        <a:buClr>
                          <a:srgbClr val="000000"/>
                        </a:buClr>
                        <a:buFont typeface="Arial"/>
                        <a:buChar char="•"/>
                      </a:pPr>
                      <a:r>
                        <a:rPr lang="en-US" sz="1100" b="0" i="0" u="none" strike="noStrike" kern="1200">
                          <a:solidFill>
                            <a:srgbClr val="000000"/>
                          </a:solidFill>
                          <a:latin typeface="Segoe UI"/>
                          <a:ea typeface="Calibri"/>
                          <a:cs typeface="Segoe UI"/>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366115">
                <a:tc>
                  <a:txBody>
                    <a:bodyPr/>
                    <a:lstStyle/>
                    <a:p>
                      <a:pPr marL="171450" lvl="0" indent="-171450" algn="l">
                        <a:buFont typeface="Arial"/>
                        <a:buChar char="•"/>
                      </a:pPr>
                      <a:r>
                        <a:rPr lang="en-IN" sz="1000" b="0" i="0" u="none" strike="noStrike">
                          <a:solidFill>
                            <a:schemeClr val="tx1"/>
                          </a:solidFill>
                          <a:effectLst/>
                          <a:latin typeface="Aptos Narrow"/>
                        </a:rPr>
                        <a:t>Claims API – API Mod</a:t>
                      </a:r>
                    </a:p>
                    <a:p>
                      <a:pPr marL="171450" lvl="0" indent="-171450" algn="l">
                        <a:buFont typeface="Arial"/>
                        <a:buChar char="•"/>
                      </a:pPr>
                      <a:r>
                        <a:rPr lang="en-IN" sz="1000" b="0" i="0" u="none" strike="noStrike">
                          <a:solidFill>
                            <a:schemeClr val="tx1"/>
                          </a:solidFill>
                          <a:effectLst/>
                          <a:latin typeface="Aptos Narrow"/>
                        </a:rPr>
                        <a:t>Accumus API – API Mod</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000" b="0" i="0" u="none" strike="noStrike">
                          <a:solidFill>
                            <a:schemeClr val="tx1"/>
                          </a:solidFill>
                          <a:effectLst/>
                          <a:latin typeface="Aptos Narrow"/>
                        </a:rPr>
                        <a:t>InProgress</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000" b="0" i="0" u="none" strike="noStrike">
                          <a:solidFill>
                            <a:schemeClr val="tx1"/>
                          </a:solidFill>
                          <a:effectLst/>
                          <a:latin typeface="Aptos Narrow"/>
                        </a:rPr>
                        <a:t>100%</a:t>
                      </a:r>
                      <a:endParaRPr lang="en-US"/>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000" b="0" i="0" u="none" strike="noStrike" noProof="0">
                          <a:solidFill>
                            <a:schemeClr val="tx1"/>
                          </a:solidFill>
                          <a:effectLst/>
                          <a:latin typeface="Aptos Narrow"/>
                        </a:rPr>
                        <a:t>30%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noProof="0">
                          <a:solidFill>
                            <a:schemeClr val="tx1"/>
                          </a:solidFill>
                          <a:effectLst/>
                          <a:latin typeface="Aptos Narrow"/>
                        </a:rPr>
                        <a:t>Yet to Start</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Aptos Narrow"/>
                        </a:rPr>
                        <a:t>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5750" lvl="0" indent="-285750" algn="l" defTabSz="914400" rtl="0" eaLnBrk="1" latinLnBrk="0" hangingPunct="1">
                        <a:buClr>
                          <a:srgbClr val="000000"/>
                        </a:buClr>
                        <a:buFont typeface="Arial"/>
                        <a:buChar char="•"/>
                      </a:pPr>
                      <a:r>
                        <a:rPr lang="en-US" sz="1000" b="0" i="0" u="none" strike="noStrike" kern="1200">
                          <a:solidFill>
                            <a:srgbClr val="000000"/>
                          </a:solidFill>
                          <a:effectLst/>
                          <a:latin typeface="Aptos Narrow"/>
                          <a:ea typeface="+mn-ea"/>
                          <a:cs typeface="+mn-cs"/>
                        </a:rPr>
                        <a:t>7/24/2026</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Aptos Narrow"/>
                        </a:rPr>
                        <a:t>08/05/2026</a:t>
                      </a:r>
                    </a:p>
                  </a:txBody>
                  <a:tcPr marL="9524" marR="9524" marT="9524" marB="0" anchor="ctr">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1841502"/>
                  </a:ext>
                </a:extLst>
              </a:tr>
            </a:tbl>
          </a:graphicData>
        </a:graphic>
      </p:graphicFrame>
    </p:spTree>
    <p:extLst>
      <p:ext uri="{BB962C8B-B14F-4D97-AF65-F5344CB8AC3E}">
        <p14:creationId xmlns:p14="http://schemas.microsoft.com/office/powerpoint/2010/main" val="86451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7B186-AC23-C29C-2C36-0E363A309590}"/>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8B86A8F-856C-56B3-CF5F-8A18DD65DC0E}"/>
              </a:ext>
            </a:extLst>
          </p:cNvPr>
          <p:cNvGraphicFramePr>
            <a:graphicFrameLocks noGrp="1"/>
          </p:cNvGraphicFramePr>
          <p:nvPr>
            <p:extLst>
              <p:ext uri="{D42A27DB-BD31-4B8C-83A1-F6EECF244321}">
                <p14:modId xmlns:p14="http://schemas.microsoft.com/office/powerpoint/2010/main" val="2352482646"/>
              </p:ext>
            </p:extLst>
          </p:nvPr>
        </p:nvGraphicFramePr>
        <p:xfrm>
          <a:off x="345056" y="71886"/>
          <a:ext cx="11615848" cy="4505286"/>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970133">
                  <a:extLst>
                    <a:ext uri="{9D8B030D-6E8A-4147-A177-3AD203B41FA5}">
                      <a16:colId xmlns:a16="http://schemas.microsoft.com/office/drawing/2014/main" val="2428918094"/>
                    </a:ext>
                  </a:extLst>
                </a:gridCol>
                <a:gridCol w="1361701">
                  <a:extLst>
                    <a:ext uri="{9D8B030D-6E8A-4147-A177-3AD203B41FA5}">
                      <a16:colId xmlns:a16="http://schemas.microsoft.com/office/drawing/2014/main" val="2434076975"/>
                    </a:ext>
                  </a:extLst>
                </a:gridCol>
                <a:gridCol w="1183174">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785364">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Apollo</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Drug List Pricing API (UDP)</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Kasthuri</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r>
                        <a:rPr lang="en-US" sz="1400" b="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kern="1200" cap="none" spc="60">
                        <a:solidFill>
                          <a:schemeClr val="bg1"/>
                        </a:solidFill>
                        <a:effectLst/>
                        <a:latin typeface="Calibri"/>
                        <a:ea typeface="Calibri"/>
                        <a:cs typeface="Calibri"/>
                      </a:endParaRPr>
                    </a:p>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N26.08 (08/05)</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959419">
                <a:tc gridSpan="8">
                  <a:txBody>
                    <a:bodyPr/>
                    <a:lstStyle/>
                    <a:p>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 :</a:t>
                      </a:r>
                    </a:p>
                    <a:p>
                      <a:pPr marL="285750" lvl="0" indent="-285750" algn="l">
                        <a:buFont typeface="Arial" panose="020B0604020202020204" pitchFamily="34" charset="0"/>
                        <a:buChar char="•"/>
                      </a:pPr>
                      <a:r>
                        <a:rPr lang="en-US" sz="1200" kern="1200">
                          <a:solidFill>
                            <a:schemeClr val="tx1"/>
                          </a:solidFill>
                          <a:latin typeface="Calibri"/>
                          <a:ea typeface="Calibri"/>
                          <a:cs typeface="Calibri"/>
                        </a:rPr>
                        <a:t>PPV Testing for N26.07 (07/15) has been completed and provided sign off</a:t>
                      </a:r>
                    </a:p>
                    <a:p>
                      <a:pPr marL="285750" lvl="0" indent="-285750" algn="l">
                        <a:buFont typeface="Arial" panose="020B0604020202020204" pitchFamily="34" charset="0"/>
                        <a:buChar char="•"/>
                      </a:pPr>
                      <a:r>
                        <a:rPr lang="en-US" sz="1200" kern="1200">
                          <a:solidFill>
                            <a:schemeClr val="tx1"/>
                          </a:solidFill>
                          <a:latin typeface="Calibri"/>
                          <a:ea typeface="Calibri"/>
                          <a:cs typeface="Calibri"/>
                        </a:rPr>
                        <a:t>Currently working on the testing for 08/05 release user stories</a:t>
                      </a:r>
                    </a:p>
                    <a:p>
                      <a:pPr marL="285750" lvl="0" indent="-285750" algn="l">
                        <a:buFont typeface="Arial" panose="020B0604020202020204" pitchFamily="34" charset="0"/>
                        <a:buChar char="•"/>
                      </a:pPr>
                      <a:r>
                        <a:rPr lang="en-US" sz="1200" kern="1200">
                          <a:solidFill>
                            <a:schemeClr val="tx1"/>
                          </a:solidFill>
                          <a:latin typeface="Calibri"/>
                          <a:ea typeface="Calibri"/>
                          <a:cs typeface="Calibri"/>
                        </a:rPr>
                        <a:t>Few of the stories related to 08/05 release codes are yet to deploy </a:t>
                      </a:r>
                    </a:p>
                    <a:p>
                      <a:pPr marL="742950" lvl="1" indent="-285750" algn="l">
                        <a:buFont typeface="Arial" panose="020B0604020202020204" pitchFamily="34" charset="0"/>
                        <a:buChar char="•"/>
                      </a:pPr>
                      <a:r>
                        <a:rPr lang="en-US" sz="1200" b="0" i="0" u="none" strike="noStrike" kern="1200" noProof="0">
                          <a:solidFill>
                            <a:schemeClr val="tx1"/>
                          </a:solidFill>
                          <a:latin typeface="Calibri"/>
                          <a:ea typeface="Calibri"/>
                          <a:cs typeface="Calibri"/>
                        </a:rPr>
                        <a:t>PMM</a:t>
                      </a:r>
                      <a:endParaRPr lang="en-US" sz="1200" kern="1200">
                        <a:solidFill>
                          <a:schemeClr val="tx1"/>
                        </a:solidFill>
                        <a:latin typeface="Calibri"/>
                        <a:ea typeface="Calibri"/>
                        <a:cs typeface="Calibri"/>
                      </a:endParaRPr>
                    </a:p>
                    <a:p>
                      <a:pPr marL="742950" lvl="1" indent="-285750" algn="l">
                        <a:buFont typeface="Arial" panose="020B0604020202020204" pitchFamily="34" charset="0"/>
                        <a:buChar char="•"/>
                      </a:pPr>
                      <a:r>
                        <a:rPr lang="en-US" sz="1200" b="0" i="0" u="none" strike="noStrike" kern="1200" noProof="0"/>
                        <a:t>druglist-v1</a:t>
                      </a:r>
                      <a:br>
                        <a:rPr lang="en-US" sz="1200" kern="1200">
                          <a:solidFill>
                            <a:srgbClr val="000000"/>
                          </a:solidFill>
                          <a:latin typeface="Calibri"/>
                          <a:ea typeface="Calibri"/>
                          <a:cs typeface="Calibri"/>
                        </a:rPr>
                      </a:br>
                      <a:br>
                        <a:rPr lang="en-US" sz="1200" kern="1200">
                          <a:solidFill>
                            <a:srgbClr val="000000"/>
                          </a:solidFill>
                          <a:latin typeface="Calibri"/>
                          <a:ea typeface="Calibri"/>
                          <a:cs typeface="Calibri"/>
                        </a:rPr>
                      </a:br>
                      <a:endParaRPr lang="en-US" sz="1200" kern="1200">
                        <a:solidFill>
                          <a:schemeClr val="tx1"/>
                        </a:solidFill>
                        <a:latin typeface="Calibri"/>
                        <a:ea typeface="Calibri"/>
                        <a:cs typeface="Calibri"/>
                      </a:endParaRPr>
                    </a:p>
                    <a:p>
                      <a:pPr marL="742950" lvl="1" indent="-285750" algn="l">
                        <a:buFont typeface="Arial" panose="020B0604020202020204" pitchFamily="34" charset="0"/>
                        <a:buChar char="•"/>
                      </a:pPr>
                      <a:endParaRPr lang="en-US" sz="1200" kern="1200">
                        <a:solidFill>
                          <a:schemeClr val="tx1"/>
                        </a:solidFill>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19050" cap="flat" cmpd="sng" algn="ctr">
                      <a:noFill/>
                      <a:prstDash val="soli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959418">
                <a:tc gridSpan="8">
                  <a:txBody>
                    <a:bodyPr/>
                    <a:lstStyle/>
                    <a:p>
                      <a:pPr marL="742950" lvl="1" indent="-285750" algn="l">
                        <a:buFont typeface="Arial"/>
                        <a:buChar char="•"/>
                      </a:pPr>
                      <a:endParaRPr lang="en-US" sz="1200" kern="1200">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1369012"/>
                  </a:ext>
                </a:extLst>
              </a:tr>
              <a:tr h="959417">
                <a:tc gridSpan="8">
                  <a:txBody>
                    <a:bodyPr/>
                    <a:lstStyle/>
                    <a:p>
                      <a:pPr marL="742950" lvl="1" indent="-285750" algn="l">
                        <a:buFont typeface="Arial"/>
                        <a:buChar char="•"/>
                      </a:pPr>
                      <a:endParaRPr lang="en-US" sz="1200" kern="1200">
                        <a:solidFill>
                          <a:schemeClr val="tx1"/>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96226277"/>
                  </a:ext>
                </a:extLst>
              </a:tr>
            </a:tbl>
          </a:graphicData>
        </a:graphic>
      </p:graphicFrame>
      <p:graphicFrame>
        <p:nvGraphicFramePr>
          <p:cNvPr id="6" name="Table 5">
            <a:extLst>
              <a:ext uri="{FF2B5EF4-FFF2-40B4-BE49-F238E27FC236}">
                <a16:creationId xmlns:a16="http://schemas.microsoft.com/office/drawing/2014/main" id="{0B4F7F49-6F36-B4E9-C0B4-95EFC1319F00}"/>
              </a:ext>
            </a:extLst>
          </p:cNvPr>
          <p:cNvGraphicFramePr>
            <a:graphicFrameLocks noGrp="1"/>
          </p:cNvGraphicFramePr>
          <p:nvPr>
            <p:extLst>
              <p:ext uri="{D42A27DB-BD31-4B8C-83A1-F6EECF244321}">
                <p14:modId xmlns:p14="http://schemas.microsoft.com/office/powerpoint/2010/main" val="3263221583"/>
              </p:ext>
            </p:extLst>
          </p:nvPr>
        </p:nvGraphicFramePr>
        <p:xfrm>
          <a:off x="391885" y="2137228"/>
          <a:ext cx="11619929" cy="1297436"/>
        </p:xfrm>
        <a:graphic>
          <a:graphicData uri="http://schemas.openxmlformats.org/drawingml/2006/table">
            <a:tbl>
              <a:tblPr bandRow="1">
                <a:tableStyleId>{5C22544A-7EE6-4342-B048-85BDC9FD1C3A}</a:tableStyleId>
              </a:tblPr>
              <a:tblGrid>
                <a:gridCol w="1485650">
                  <a:extLst>
                    <a:ext uri="{9D8B030D-6E8A-4147-A177-3AD203B41FA5}">
                      <a16:colId xmlns:a16="http://schemas.microsoft.com/office/drawing/2014/main" val="1762988219"/>
                    </a:ext>
                  </a:extLst>
                </a:gridCol>
                <a:gridCol w="1209747">
                  <a:extLst>
                    <a:ext uri="{9D8B030D-6E8A-4147-A177-3AD203B41FA5}">
                      <a16:colId xmlns:a16="http://schemas.microsoft.com/office/drawing/2014/main" val="3526358249"/>
                    </a:ext>
                  </a:extLst>
                </a:gridCol>
                <a:gridCol w="1528098">
                  <a:extLst>
                    <a:ext uri="{9D8B030D-6E8A-4147-A177-3AD203B41FA5}">
                      <a16:colId xmlns:a16="http://schemas.microsoft.com/office/drawing/2014/main" val="535694903"/>
                    </a:ext>
                  </a:extLst>
                </a:gridCol>
                <a:gridCol w="1549327">
                  <a:extLst>
                    <a:ext uri="{9D8B030D-6E8A-4147-A177-3AD203B41FA5}">
                      <a16:colId xmlns:a16="http://schemas.microsoft.com/office/drawing/2014/main" val="4208937300"/>
                    </a:ext>
                  </a:extLst>
                </a:gridCol>
                <a:gridCol w="1549327">
                  <a:extLst>
                    <a:ext uri="{9D8B030D-6E8A-4147-A177-3AD203B41FA5}">
                      <a16:colId xmlns:a16="http://schemas.microsoft.com/office/drawing/2014/main" val="1592576158"/>
                    </a:ext>
                  </a:extLst>
                </a:gridCol>
                <a:gridCol w="1146069">
                  <a:extLst>
                    <a:ext uri="{9D8B030D-6E8A-4147-A177-3AD203B41FA5}">
                      <a16:colId xmlns:a16="http://schemas.microsoft.com/office/drawing/2014/main" val="2794132459"/>
                    </a:ext>
                  </a:extLst>
                </a:gridCol>
                <a:gridCol w="1766870">
                  <a:extLst>
                    <a:ext uri="{9D8B030D-6E8A-4147-A177-3AD203B41FA5}">
                      <a16:colId xmlns:a16="http://schemas.microsoft.com/office/drawing/2014/main" val="2113272443"/>
                    </a:ext>
                  </a:extLst>
                </a:gridCol>
                <a:gridCol w="1384841">
                  <a:extLst>
                    <a:ext uri="{9D8B030D-6E8A-4147-A177-3AD203B41FA5}">
                      <a16:colId xmlns:a16="http://schemas.microsoft.com/office/drawing/2014/main" val="4194149159"/>
                    </a:ext>
                  </a:extLst>
                </a:gridCol>
              </a:tblGrid>
              <a:tr h="556050">
                <a:tc>
                  <a:txBody>
                    <a:bodyPr/>
                    <a:lstStyle/>
                    <a:p>
                      <a:pPr algn="ctr" rtl="0" fontAlgn="base">
                        <a:lnSpc>
                          <a:spcPts val="600"/>
                        </a:lnSpc>
                        <a:buNone/>
                      </a:pPr>
                      <a:r>
                        <a:rPr lang="en-US" sz="1000" b="1">
                          <a:effectLst/>
                          <a:latin typeface="Aptos Narrow"/>
                        </a:rPr>
                        <a:t>User stories</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00"/>
                        </a:lnSpc>
                        <a:buNone/>
                      </a:pPr>
                      <a:r>
                        <a:rPr lang="en-US" sz="1000" b="1">
                          <a:effectLst/>
                          <a:latin typeface="Aptos Narrow" panose="020B0004020202020204" pitchFamily="34" charset="0"/>
                        </a:rPr>
                        <a:t>Test design Status</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00"/>
                        </a:lnSpc>
                        <a:buNone/>
                      </a:pPr>
                      <a:r>
                        <a:rPr lang="en-US" sz="1000" b="1">
                          <a:effectLst/>
                          <a:latin typeface="Aptos Narrow" panose="020B0004020202020204" pitchFamily="34" charset="0"/>
                        </a:rPr>
                        <a:t>Test Design %</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lvl="0" indent="0" algn="ctr">
                        <a:lnSpc>
                          <a:spcPts val="600"/>
                        </a:lnSpc>
                        <a:spcBef>
                          <a:spcPts val="0"/>
                        </a:spcBef>
                        <a:spcAft>
                          <a:spcPts val="0"/>
                        </a:spcAft>
                        <a:buNone/>
                      </a:pPr>
                      <a:r>
                        <a:rPr lang="en-US" sz="1000" b="1" i="0" u="none" strike="noStrike" noProof="0">
                          <a:solidFill>
                            <a:srgbClr val="000000"/>
                          </a:solidFill>
                          <a:effectLst/>
                          <a:latin typeface="Aptos Narrow"/>
                        </a:rPr>
                        <a:t>Test Design though AI </a:t>
                      </a:r>
                      <a:endParaRPr lang="en-US"/>
                    </a:p>
                    <a:p>
                      <a:pPr marL="0" marR="0" lvl="0" indent="0" algn="ctr">
                        <a:lnSpc>
                          <a:spcPts val="600"/>
                        </a:lnSpc>
                        <a:spcBef>
                          <a:spcPts val="0"/>
                        </a:spcBef>
                        <a:spcAft>
                          <a:spcPts val="0"/>
                        </a:spcAft>
                        <a:buNone/>
                      </a:pPr>
                      <a:endParaRPr lang="en-US" sz="1000" b="1" i="0" u="none" strike="noStrike" noProof="0">
                        <a:solidFill>
                          <a:srgbClr val="000000"/>
                        </a:solidFill>
                        <a:effectLst/>
                        <a:latin typeface="Aptos Narrow"/>
                      </a:endParaRPr>
                    </a:p>
                    <a:p>
                      <a:pPr marL="0" marR="0" lvl="0" indent="0" algn="ctr" defTabSz="914400">
                        <a:lnSpc>
                          <a:spcPts val="600"/>
                        </a:lnSpc>
                        <a:spcBef>
                          <a:spcPts val="0"/>
                        </a:spcBef>
                        <a:spcAft>
                          <a:spcPts val="0"/>
                        </a:spcAft>
                        <a:buNone/>
                        <a:tabLst/>
                        <a:defRPr/>
                      </a:pPr>
                      <a:r>
                        <a:rPr lang="en-US" sz="1000" b="1" i="0" u="none" strike="noStrike" noProof="0">
                          <a:solidFill>
                            <a:srgbClr val="000000"/>
                          </a:solidFill>
                          <a:effectLst/>
                          <a:latin typeface="Aptos Narrow"/>
                        </a:rPr>
                        <a:t>tools (Sulfur / Strider)</a:t>
                      </a:r>
                      <a:endParaRPr lang="en-US"/>
                    </a:p>
                    <a:p>
                      <a:pPr marL="0" marR="0" lvl="0" indent="0" algn="ctr">
                        <a:lnSpc>
                          <a:spcPts val="600"/>
                        </a:lnSpc>
                        <a:spcBef>
                          <a:spcPts val="0"/>
                        </a:spcBef>
                        <a:spcAft>
                          <a:spcPts val="0"/>
                        </a:spcAft>
                        <a:buNone/>
                      </a:pPr>
                      <a:endParaRPr lang="en-US" sz="1000" b="1" i="0" u="none" strike="noStrike" noProof="0">
                        <a:solidFill>
                          <a:srgbClr val="000000"/>
                        </a:solidFill>
                        <a:effectLst/>
                        <a:latin typeface="Aptos Narrow"/>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00"/>
                        </a:lnSpc>
                        <a:buNone/>
                      </a:pPr>
                      <a:r>
                        <a:rPr lang="en-US" sz="1000" b="1">
                          <a:effectLst/>
                          <a:latin typeface="Aptos Narrow" panose="020B0004020202020204" pitchFamily="34" charset="0"/>
                        </a:rPr>
                        <a:t>Test Execution Status</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00"/>
                        </a:lnSpc>
                        <a:buNone/>
                      </a:pPr>
                      <a:r>
                        <a:rPr lang="en-US" sz="1000" b="1">
                          <a:effectLst/>
                          <a:latin typeface="Aptos Narrow" panose="020B0004020202020204" pitchFamily="34" charset="0"/>
                        </a:rPr>
                        <a:t>Test Execution %</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00"/>
                        </a:lnSpc>
                        <a:buNone/>
                      </a:pPr>
                      <a:r>
                        <a:rPr lang="en-US" sz="1000" b="1">
                          <a:effectLst/>
                          <a:latin typeface="Aptos Narrow" panose="020B0004020202020204" pitchFamily="34" charset="0"/>
                        </a:rPr>
                        <a:t>Testing Completion date</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00"/>
                        </a:lnSpc>
                        <a:buNone/>
                      </a:pPr>
                      <a:r>
                        <a:rPr lang="en-US" sz="1000" b="1">
                          <a:effectLst/>
                          <a:latin typeface="Aptos Narrow" panose="020B0004020202020204" pitchFamily="34" charset="0"/>
                        </a:rPr>
                        <a:t>Release date</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extLst>
                  <a:ext uri="{0D108BD9-81ED-4DB2-BD59-A6C34878D82A}">
                    <a16:rowId xmlns:a16="http://schemas.microsoft.com/office/drawing/2014/main" val="954830434"/>
                  </a:ext>
                </a:extLst>
              </a:tr>
              <a:tr h="370693">
                <a:tc>
                  <a:txBody>
                    <a:bodyPr/>
                    <a:lstStyle/>
                    <a:p>
                      <a:pPr algn="ctr" rtl="0" fontAlgn="base">
                        <a:lnSpc>
                          <a:spcPts val="600"/>
                        </a:lnSpc>
                        <a:buNone/>
                      </a:pPr>
                      <a:r>
                        <a:rPr lang="en-IN" sz="1000">
                          <a:effectLst/>
                          <a:latin typeface="Aptos Narrow"/>
                        </a:rPr>
                        <a:t>PMM API​</a:t>
                      </a:r>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Completed</a:t>
                      </a:r>
                      <a:endParaRPr lang="en-US" err="1"/>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100%</a:t>
                      </a:r>
                      <a:endParaRPr lang="en-US"/>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a:t>
                      </a:r>
                      <a:endParaRPr lang="en-US"/>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Inprogress (Partially deployed)</a:t>
                      </a:r>
                      <a:endParaRPr lang="en-US"/>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a:t>
                      </a:r>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07/24/2026</a:t>
                      </a:r>
                      <a:endParaRPr lang="en-US"/>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08/05/2026</a:t>
                      </a:r>
                      <a:endParaRPr lang="en-US"/>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2267228"/>
                  </a:ext>
                </a:extLst>
              </a:tr>
              <a:tr h="370693">
                <a:tc>
                  <a:txBody>
                    <a:bodyPr/>
                    <a:lstStyle/>
                    <a:p>
                      <a:pPr lvl="0" algn="ctr">
                        <a:lnSpc>
                          <a:spcPts val="600"/>
                        </a:lnSpc>
                        <a:buNone/>
                      </a:pPr>
                      <a:r>
                        <a:rPr lang="en-IN" sz="1000">
                          <a:effectLst/>
                          <a:latin typeface="Aptos Narrow"/>
                        </a:rPr>
                        <a:t>Druglist-v1</a:t>
                      </a:r>
                    </a:p>
                  </a:txBody>
                  <a:tcPr marL="4886" marR="4886" marT="4886"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Completed</a:t>
                      </a:r>
                      <a:endParaRPr lang="en-US" sz="1000" err="1">
                        <a:effectLst/>
                        <a:latin typeface="Aptos Narrow"/>
                      </a:endParaRPr>
                    </a:p>
                  </a:txBody>
                  <a:tcPr marL="4886" marR="4886" marT="4886"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100%</a:t>
                      </a:r>
                    </a:p>
                  </a:txBody>
                  <a:tcPr marL="4886" marR="4886" marT="4886"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a:t>
                      </a:r>
                    </a:p>
                  </a:txBody>
                  <a:tcPr marL="4886" marR="4886" marT="4886"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Yet to deploy</a:t>
                      </a:r>
                      <a:endParaRPr lang="en-US" sz="1000" err="1">
                        <a:effectLst/>
                        <a:latin typeface="Aptos Narrow"/>
                      </a:endParaRPr>
                    </a:p>
                  </a:txBody>
                  <a:tcPr marL="4886" marR="4886" marT="4886"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a:t>
                      </a:r>
                    </a:p>
                  </a:txBody>
                  <a:tcPr marL="4886" marR="4886" marT="4886"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07/24/2026</a:t>
                      </a:r>
                      <a:endParaRPr lang="en-US"/>
                    </a:p>
                  </a:txBody>
                  <a:tcPr marL="4886" marR="4886" marT="4886"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00"/>
                        </a:lnSpc>
                        <a:buNone/>
                      </a:pPr>
                      <a:r>
                        <a:rPr lang="en-US" sz="1000">
                          <a:effectLst/>
                          <a:latin typeface="Aptos Narrow"/>
                        </a:rPr>
                        <a:t>08/05/2026</a:t>
                      </a:r>
                      <a:endParaRPr lang="en-US"/>
                    </a:p>
                  </a:txBody>
                  <a:tcPr marL="4886" marR="4886" marT="488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3868099"/>
                  </a:ext>
                </a:extLst>
              </a:tr>
            </a:tbl>
          </a:graphicData>
        </a:graphic>
      </p:graphicFrame>
      <p:graphicFrame>
        <p:nvGraphicFramePr>
          <p:cNvPr id="4" name="Table 3">
            <a:extLst>
              <a:ext uri="{FF2B5EF4-FFF2-40B4-BE49-F238E27FC236}">
                <a16:creationId xmlns:a16="http://schemas.microsoft.com/office/drawing/2014/main" id="{FB2DEC31-7F9D-9F27-A9D4-BAF623276A66}"/>
              </a:ext>
            </a:extLst>
          </p:cNvPr>
          <p:cNvGraphicFramePr>
            <a:graphicFrameLocks noGrp="1"/>
          </p:cNvGraphicFramePr>
          <p:nvPr>
            <p:extLst>
              <p:ext uri="{D42A27DB-BD31-4B8C-83A1-F6EECF244321}">
                <p14:modId xmlns:p14="http://schemas.microsoft.com/office/powerpoint/2010/main" val="2397012485"/>
              </p:ext>
            </p:extLst>
          </p:nvPr>
        </p:nvGraphicFramePr>
        <p:xfrm>
          <a:off x="345056" y="3651849"/>
          <a:ext cx="11615675" cy="2481352"/>
        </p:xfrm>
        <a:graphic>
          <a:graphicData uri="http://schemas.openxmlformats.org/drawingml/2006/table">
            <a:tbl>
              <a:tblPr firstRow="1" bandRow="1">
                <a:noFill/>
                <a:tableStyleId>{5940675A-B579-460E-94D1-54222C63F5DA}</a:tableStyleId>
              </a:tblPr>
              <a:tblGrid>
                <a:gridCol w="5855547">
                  <a:extLst>
                    <a:ext uri="{9D8B030D-6E8A-4147-A177-3AD203B41FA5}">
                      <a16:colId xmlns:a16="http://schemas.microsoft.com/office/drawing/2014/main" val="3592680666"/>
                    </a:ext>
                  </a:extLst>
                </a:gridCol>
                <a:gridCol w="5760128">
                  <a:extLst>
                    <a:ext uri="{9D8B030D-6E8A-4147-A177-3AD203B41FA5}">
                      <a16:colId xmlns:a16="http://schemas.microsoft.com/office/drawing/2014/main" val="1654399098"/>
                    </a:ext>
                  </a:extLst>
                </a:gridCol>
              </a:tblGrid>
              <a:tr h="1304455">
                <a:tc>
                  <a:txBody>
                    <a:bodyPr/>
                    <a:lstStyle/>
                    <a:p>
                      <a:pPr algn="l" fontAlgn="t">
                        <a:buNone/>
                      </a:pPr>
                      <a:r>
                        <a:rPr lang="en-US" sz="1400" b="1" u="none" strike="noStrike" kern="1200" cap="none" spc="0">
                          <a:solidFill>
                            <a:schemeClr val="tx1"/>
                          </a:solidFill>
                          <a:effectLst/>
                          <a:latin typeface="Calibri"/>
                          <a:ea typeface="Calibri"/>
                          <a:cs typeface="Calibri"/>
                        </a:rPr>
                        <a:t>Challenges (risks / issues): </a:t>
                      </a:r>
                      <a:endParaRPr lang="en-US" sz="1400" b="0" i="0" u="none" strike="noStrike" kern="1200" cap="none" spc="0" noProof="0">
                        <a:solidFill>
                          <a:srgbClr val="000000"/>
                        </a:solidFill>
                        <a:effectLst/>
                        <a:latin typeface="Calibri"/>
                        <a:ea typeface="Calibri"/>
                        <a:cs typeface="Calibri"/>
                      </a:endParaRPr>
                    </a:p>
                    <a:p>
                      <a:pPr marL="171450" lvl="0" indent="-171450" algn="l">
                        <a:lnSpc>
                          <a:spcPct val="100000"/>
                        </a:lnSpc>
                        <a:spcBef>
                          <a:spcPts val="0"/>
                        </a:spcBef>
                        <a:spcAft>
                          <a:spcPts val="0"/>
                        </a:spcAft>
                        <a:buFont typeface="Arial"/>
                        <a:buChar char="•"/>
                      </a:pPr>
                      <a:r>
                        <a:rPr lang="en-US" sz="1200" b="0" i="0" u="none" strike="noStrike" kern="1200" noProof="0">
                          <a:solidFill>
                            <a:srgbClr val="000000"/>
                          </a:solidFill>
                          <a:latin typeface="Calibri"/>
                          <a:ea typeface="Calibri"/>
                          <a:cs typeface="Calibri"/>
                        </a:rPr>
                        <a:t>Few of the API MOD stories are not yet available in QA. Hence it would be better if we get additional time for testing</a:t>
                      </a:r>
                    </a:p>
                    <a:p>
                      <a:pPr marL="0" lvl="0" indent="0" algn="l">
                        <a:lnSpc>
                          <a:spcPct val="100000"/>
                        </a:lnSpc>
                        <a:spcBef>
                          <a:spcPts val="0"/>
                        </a:spcBef>
                        <a:spcAft>
                          <a:spcPts val="0"/>
                        </a:spcAft>
                        <a:buNone/>
                      </a:pPr>
                      <a:r>
                        <a:rPr lang="en-US" sz="1200" b="0" i="0" u="none" strike="noStrike" kern="1200" noProof="0">
                          <a:solidFill>
                            <a:srgbClr val="000000"/>
                          </a:solidFill>
                          <a:latin typeface="Calibri"/>
                          <a:ea typeface="Calibri"/>
                          <a:cs typeface="Calibri"/>
                        </a:rPr>
                        <a:t> </a:t>
                      </a:r>
                      <a:br>
                        <a:rPr lang="en-US" sz="1200" b="0" i="0" u="none" strike="noStrike" kern="1200" noProof="0">
                          <a:solidFill>
                            <a:srgbClr val="000000"/>
                          </a:solidFill>
                          <a:latin typeface="Calibri"/>
                          <a:ea typeface="Calibri"/>
                          <a:cs typeface="Calibri"/>
                        </a:rPr>
                      </a:br>
                      <a:endParaRPr lang="en-US" sz="1000" b="0" i="0" u="none" strike="noStrike" kern="1200" noProof="0">
                        <a:solidFill>
                          <a:srgbClr val="000000"/>
                        </a:solidFill>
                        <a:latin typeface="Aptos Narrow"/>
                        <a:ea typeface="Calibri"/>
                        <a:cs typeface="Calibri"/>
                      </a:endParaRPr>
                    </a:p>
                    <a:p>
                      <a:pPr marL="0" lvl="0" indent="0" algn="l">
                        <a:lnSpc>
                          <a:spcPct val="100000"/>
                        </a:lnSpc>
                        <a:spcBef>
                          <a:spcPts val="0"/>
                        </a:spcBef>
                        <a:spcAft>
                          <a:spcPts val="0"/>
                        </a:spcAft>
                        <a:buNone/>
                      </a:pPr>
                      <a:endParaRPr lang="en-US" sz="1200" b="0" i="0" u="none" strike="noStrike" kern="1200" noProof="0">
                        <a:solidFill>
                          <a:srgbClr val="000000"/>
                        </a:solidFill>
                        <a:latin typeface="Calibri"/>
                        <a:ea typeface="Calibri"/>
                        <a:cs typeface="Calibri"/>
                      </a:endParaRPr>
                    </a:p>
                    <a:p>
                      <a:pPr lvl="0" algn="l">
                        <a:buNone/>
                      </a:pPr>
                      <a:endParaRPr lang="en-US" sz="1400" b="1" u="none" strike="noStrike" kern="1200" cap="none" spc="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285750" indent="-285750" algn="l" fontAlgn="t">
                        <a:buFont typeface="Arial"/>
                        <a:buChar char="•"/>
                      </a:pPr>
                      <a:r>
                        <a:rPr lang="en-US" sz="1400" b="1" u="none" strike="noStrike" kern="1200" cap="none" spc="0">
                          <a:solidFill>
                            <a:schemeClr val="tx1"/>
                          </a:solidFill>
                          <a:effectLst/>
                          <a:latin typeface="Calibri"/>
                          <a:ea typeface="Calibri"/>
                          <a:cs typeface="Calibri"/>
                        </a:rPr>
                        <a:t>Action Needed / Action Taken (for the identified risks/issues): </a:t>
                      </a:r>
                      <a:endParaRPr lang="en-US"/>
                    </a:p>
                    <a:p>
                      <a:pPr marL="285750" lvl="0" indent="-285750" algn="l">
                        <a:buFont typeface="Arial"/>
                        <a:buChar char="•"/>
                      </a:pPr>
                      <a:r>
                        <a:rPr lang="en-US" sz="1100" b="0" i="0" u="none" strike="noStrike" kern="1200" cap="none" spc="0" noProof="0">
                          <a:solidFill>
                            <a:schemeClr val="tx1"/>
                          </a:solidFill>
                          <a:effectLst/>
                          <a:latin typeface="Segoe UI"/>
                          <a:cs typeface="Segoe UI"/>
                        </a:rPr>
                        <a:t>N/A</a:t>
                      </a:r>
                    </a:p>
                    <a:p>
                      <a:pPr marL="285750" lvl="0" indent="-285750" algn="l">
                        <a:buFont typeface="Arial"/>
                        <a:buChar char="•"/>
                      </a:pPr>
                      <a:endParaRPr lang="en-US" sz="1100" b="0" i="0" u="none" strike="noStrike" kern="1200" cap="none" spc="0" noProof="0">
                        <a:solidFill>
                          <a:schemeClr val="tx1"/>
                        </a:solidFill>
                        <a:effectLst/>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046025">
                <a:tc gridSpan="2">
                  <a:txBody>
                    <a:bodyPr/>
                    <a:lstStyle/>
                    <a:p>
                      <a:pPr algn="l" fontAlgn="t">
                        <a:buNone/>
                      </a:pPr>
                      <a:r>
                        <a:rPr lang="en-US" sz="1400" b="1" u="none" strike="noStrike" kern="1200" cap="none" spc="0">
                          <a:solidFill>
                            <a:schemeClr val="tx1"/>
                          </a:solidFill>
                          <a:effectLst/>
                          <a:latin typeface="Calibri"/>
                          <a:ea typeface="Calibri"/>
                          <a:cs typeface="Calibri"/>
                        </a:rPr>
                        <a:t>Automation Regression Updates : </a:t>
                      </a:r>
                      <a:endParaRPr lang="en-US"/>
                    </a:p>
                    <a:p>
                      <a:pPr marL="171450" lvl="0" indent="-171450" algn="l">
                        <a:buClr>
                          <a:srgbClr val="000000"/>
                        </a:buClr>
                        <a:buFont typeface="Arial"/>
                        <a:buChar char="•"/>
                      </a:pPr>
                      <a:r>
                        <a:rPr lang="en-US" sz="1100" b="0" i="0" u="none" strike="noStrike" kern="1200" cap="none" spc="0" noProof="0">
                          <a:solidFill>
                            <a:schemeClr val="tx1"/>
                          </a:solidFill>
                          <a:effectLst/>
                          <a:latin typeface="Segoe UI"/>
                          <a:ea typeface="Calibri"/>
                          <a:cs typeface="Segoe UI"/>
                        </a:rPr>
                        <a:t>In-release test cases will be identified and share with automation team</a:t>
                      </a:r>
                    </a:p>
                    <a:p>
                      <a:pPr marL="285750" lvl="0" indent="-285750" algn="l">
                        <a:buClr>
                          <a:srgbClr val="000000"/>
                        </a:buClr>
                        <a:buFont typeface="Arial" panose="020B0604020202020204" pitchFamily="34" charset="0"/>
                        <a:buChar char="•"/>
                      </a:pPr>
                      <a:endParaRPr lang="en-US" sz="1200" b="0" i="0" u="none" strike="noStrike" kern="1200" cap="none" spc="0" noProof="0">
                        <a:solidFill>
                          <a:schemeClr val="tx1"/>
                        </a:solidFill>
                        <a:effectLst/>
                        <a:latin typeface="Calibri"/>
                        <a:ea typeface="Calibri"/>
                        <a:cs typeface="Calibri"/>
                      </a:endParaRPr>
                    </a:p>
                    <a:p>
                      <a:pPr marL="285750" lvl="0" indent="-285750" algn="l">
                        <a:buClr>
                          <a:srgbClr val="000000"/>
                        </a:buClr>
                        <a:buFont typeface="Arial" panose="020B0604020202020204" pitchFamily="34" charset="0"/>
                        <a:buChar char="•"/>
                      </a:pPr>
                      <a:endParaRPr lang="en-US" sz="1200" b="0" i="0" u="none" strike="noStrike" kern="1200" cap="none" spc="0" noProof="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spTree>
    <p:extLst>
      <p:ext uri="{BB962C8B-B14F-4D97-AF65-F5344CB8AC3E}">
        <p14:creationId xmlns:p14="http://schemas.microsoft.com/office/powerpoint/2010/main" val="1660628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2BE6-7AD9-C674-2E1E-26D1BFA1381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78E79F0-3F1D-99DD-E54C-55ACB5FB93CE}"/>
              </a:ext>
            </a:extLst>
          </p:cNvPr>
          <p:cNvGraphicFramePr>
            <a:graphicFrameLocks noGrp="1"/>
          </p:cNvGraphicFramePr>
          <p:nvPr>
            <p:extLst>
              <p:ext uri="{D42A27DB-BD31-4B8C-83A1-F6EECF244321}">
                <p14:modId xmlns:p14="http://schemas.microsoft.com/office/powerpoint/2010/main" val="2514353670"/>
              </p:ext>
            </p:extLst>
          </p:nvPr>
        </p:nvGraphicFramePr>
        <p:xfrm>
          <a:off x="345056" y="71886"/>
          <a:ext cx="11615848" cy="3609372"/>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348320">
                  <a:extLst>
                    <a:ext uri="{9D8B030D-6E8A-4147-A177-3AD203B41FA5}">
                      <a16:colId xmlns:a16="http://schemas.microsoft.com/office/drawing/2014/main" val="157821927"/>
                    </a:ext>
                  </a:extLst>
                </a:gridCol>
                <a:gridCol w="2371725">
                  <a:extLst>
                    <a:ext uri="{9D8B030D-6E8A-4147-A177-3AD203B41FA5}">
                      <a16:colId xmlns:a16="http://schemas.microsoft.com/office/drawing/2014/main" val="2428918094"/>
                    </a:ext>
                  </a:extLst>
                </a:gridCol>
                <a:gridCol w="1251955">
                  <a:extLst>
                    <a:ext uri="{9D8B030D-6E8A-4147-A177-3AD203B41FA5}">
                      <a16:colId xmlns:a16="http://schemas.microsoft.com/office/drawing/2014/main" val="2434076975"/>
                    </a:ext>
                  </a:extLst>
                </a:gridCol>
                <a:gridCol w="1183174">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599001">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Cronos</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RxConnect, Pharmacy finder &amp; WDI Databricks</a:t>
                      </a:r>
                      <a:endParaRPr lang="en-IN" sz="1400" b="0" i="0" u="none" strike="noStrike" kern="1200" cap="none" spc="60" err="1">
                        <a:solidFill>
                          <a:schemeClr val="bg1"/>
                        </a:solidFill>
                        <a:effectLst/>
                        <a:latin typeface="Calibri"/>
                        <a:ea typeface="Calibri"/>
                        <a:cs typeface="Calibri"/>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JaiPrasath</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r>
                        <a:rPr lang="en-US" sz="1400" b="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N26.08 (08/05)</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1505186">
                <a:tc gridSpan="8">
                  <a:txBody>
                    <a:bodyPr/>
                    <a:lstStyle/>
                    <a:p>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 :</a:t>
                      </a:r>
                    </a:p>
                    <a:p>
                      <a:pPr marL="285750" lvl="0" indent="-285750">
                        <a:buClr>
                          <a:srgbClr val="000000"/>
                        </a:buClr>
                        <a:buFont typeface="Arial" panose="020B0604020202020204" pitchFamily="34" charset="0"/>
                        <a:buChar char="•"/>
                      </a:pPr>
                      <a:r>
                        <a:rPr lang="en-US" sz="1100" b="0" i="0" u="none" strike="noStrike" noProof="0">
                          <a:solidFill>
                            <a:schemeClr val="tx1"/>
                          </a:solidFill>
                          <a:latin typeface="Segoe UI"/>
                          <a:ea typeface="Calibri"/>
                          <a:cs typeface="Segoe UI"/>
                        </a:rPr>
                        <a:t>All 07/22 stories were moved to the 08/19 release because the API MOD stories are planned for the 08/05 release</a:t>
                      </a:r>
                      <a:endParaRPr lang="en-US" sz="1200" b="0" i="0" u="none" strike="noStrike" noProof="0">
                        <a:solidFill>
                          <a:schemeClr val="tx1"/>
                        </a:solidFill>
                        <a:latin typeface="Calibri"/>
                        <a:ea typeface="Calibri"/>
                        <a:cs typeface="Calibri"/>
                      </a:endParaRPr>
                    </a:p>
                    <a:p>
                      <a:pPr marL="285750" lvl="0" indent="-285750">
                        <a:buClr>
                          <a:srgbClr val="000000"/>
                        </a:buClr>
                        <a:buFont typeface="Arial,Sans-Serif" panose="020B0604020202020204" pitchFamily="34" charset="0"/>
                        <a:buChar char="•"/>
                      </a:pPr>
                      <a:r>
                        <a:rPr lang="en-US" sz="1200" b="0" i="0" u="none" strike="noStrike" noProof="0">
                          <a:solidFill>
                            <a:schemeClr val="tx1"/>
                          </a:solidFill>
                          <a:latin typeface="Calibri"/>
                          <a:ea typeface="Calibri"/>
                          <a:cs typeface="Calibri"/>
                        </a:rPr>
                        <a:t>Test design is in progress for API MOD (EMI/WDI) </a:t>
                      </a:r>
                    </a:p>
                    <a:p>
                      <a:pPr marL="285750" lvl="0" indent="-285750">
                        <a:buClr>
                          <a:srgbClr val="000000"/>
                        </a:buClr>
                        <a:buFont typeface="Arial,Sans-Serif" panose="020B0604020202020204" pitchFamily="34" charset="0"/>
                        <a:buChar char="•"/>
                      </a:pPr>
                      <a:r>
                        <a:rPr lang="en-US" sz="1200" b="0" i="0" u="none" strike="noStrike" noProof="0">
                          <a:solidFill>
                            <a:schemeClr val="tx1"/>
                          </a:solidFill>
                          <a:latin typeface="Calibri"/>
                          <a:ea typeface="Calibri"/>
                          <a:cs typeface="Calibri"/>
                        </a:rPr>
                        <a:t>Test execution is in progress for API MOD Pharmacy finder stories</a:t>
                      </a:r>
                    </a:p>
                    <a:p>
                      <a:pPr marL="285750" lvl="0" indent="-285750">
                        <a:buClr>
                          <a:srgbClr val="000000"/>
                        </a:buClr>
                        <a:buFont typeface="Arial,Sans-Serif" panose="020B0604020202020204" pitchFamily="34" charset="0"/>
                        <a:buChar char="•"/>
                      </a:pPr>
                      <a:endParaRPr lang="en-US" sz="1200" b="0" i="0" u="none" strike="noStrike" noProof="0">
                        <a:solidFill>
                          <a:schemeClr val="tx1"/>
                        </a:solidFill>
                        <a:latin typeface="Calibri"/>
                        <a:ea typeface="Calibri"/>
                        <a:cs typeface="Calibri"/>
                      </a:endParaRPr>
                    </a:p>
                    <a:p>
                      <a:pPr marL="285750" lvl="0" indent="-285750">
                        <a:buClr>
                          <a:srgbClr val="000000"/>
                        </a:buClr>
                        <a:buFont typeface="Arial,Sans-Serif" panose="020B0604020202020204" pitchFamily="34" charset="0"/>
                        <a:buChar char="•"/>
                      </a:pPr>
                      <a:endParaRPr lang="en-US" sz="1200" b="0" i="0" u="none" strike="noStrike" noProof="0">
                        <a:solidFill>
                          <a:schemeClr val="tx1"/>
                        </a:solidFill>
                        <a:latin typeface="Calibri"/>
                        <a:ea typeface="Calibri"/>
                        <a:cs typeface="Calibri"/>
                      </a:endParaRPr>
                    </a:p>
                    <a:p>
                      <a:pPr marL="285750" lvl="0" indent="-285750">
                        <a:buClr>
                          <a:srgbClr val="000000"/>
                        </a:buClr>
                        <a:buFont typeface="Arial,Sans-Serif" panose="020B0604020202020204" pitchFamily="34" charset="0"/>
                        <a:buChar char="•"/>
                      </a:pPr>
                      <a:endParaRPr lang="en-US" sz="1200" b="0" i="0" u="none" strike="noStrike" noProof="0">
                        <a:solidFill>
                          <a:schemeClr val="tx1"/>
                        </a:solidFill>
                        <a:latin typeface="Calibri"/>
                        <a:ea typeface="Calibri"/>
                        <a:cs typeface="Calibri"/>
                      </a:endParaRPr>
                    </a:p>
                  </a:txBody>
                  <a:tcPr marL="108022" marR="12002" marT="124687" marB="0">
                    <a:lnL w="12700" cmpd="sng">
                      <a:noFill/>
                    </a:lnL>
                    <a:lnR w="12700" cmpd="sng">
                      <a:noFill/>
                    </a:lnR>
                    <a:lnT w="19050" cap="flat" cmpd="sng" algn="ctr">
                      <a:noFill/>
                      <a:prstDash val="solid"/>
                    </a:lnT>
                    <a:lnB w="19050" cap="flat" cmpd="sng" algn="ctr">
                      <a:noFill/>
                      <a:prstDash val="soli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1505185">
                <a:tc gridSpan="8">
                  <a:txBody>
                    <a:bodyPr/>
                    <a:lstStyle/>
                    <a:p>
                      <a:pPr marL="285750" lvl="0" indent="-285750">
                        <a:buFont typeface="Arial"/>
                        <a:buChar char="•"/>
                      </a:pPr>
                      <a:r>
                        <a:rPr lang="en-US" sz="1200">
                          <a:solidFill>
                            <a:schemeClr val="tx1"/>
                          </a:solidFill>
                          <a:latin typeface="Calibri"/>
                          <a:ea typeface="Calibri"/>
                          <a:cs typeface="Calibri"/>
                        </a:rPr>
                        <a:t>2</a:t>
                      </a:r>
                    </a:p>
                  </a:txBody>
                  <a:tcPr marL="108022" marR="12001" marT="124687" marB="0">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3530518"/>
                  </a:ext>
                </a:extLst>
              </a:tr>
            </a:tbl>
          </a:graphicData>
        </a:graphic>
      </p:graphicFrame>
      <p:graphicFrame>
        <p:nvGraphicFramePr>
          <p:cNvPr id="3" name="Table 2">
            <a:extLst>
              <a:ext uri="{FF2B5EF4-FFF2-40B4-BE49-F238E27FC236}">
                <a16:creationId xmlns:a16="http://schemas.microsoft.com/office/drawing/2014/main" id="{980BE787-C8F6-9050-1C4E-38AE8CA89BDA}"/>
              </a:ext>
            </a:extLst>
          </p:cNvPr>
          <p:cNvGraphicFramePr>
            <a:graphicFrameLocks noGrp="1"/>
          </p:cNvGraphicFramePr>
          <p:nvPr>
            <p:extLst>
              <p:ext uri="{D42A27DB-BD31-4B8C-83A1-F6EECF244321}">
                <p14:modId xmlns:p14="http://schemas.microsoft.com/office/powerpoint/2010/main" val="3557389606"/>
              </p:ext>
            </p:extLst>
          </p:nvPr>
        </p:nvGraphicFramePr>
        <p:xfrm>
          <a:off x="344465" y="4290164"/>
          <a:ext cx="11615678" cy="2764889"/>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830057">
                <a:tc>
                  <a:txBody>
                    <a:bodyPr/>
                    <a:lstStyle/>
                    <a:p>
                      <a:pPr algn="l" fontAlgn="t">
                        <a:buNone/>
                      </a:pPr>
                      <a:r>
                        <a:rPr lang="en-US" sz="1400" b="1" u="none" strike="noStrike" kern="1200" cap="none" spc="0">
                          <a:solidFill>
                            <a:schemeClr val="tx1"/>
                          </a:solidFill>
                          <a:effectLst/>
                          <a:latin typeface="Calibri"/>
                          <a:ea typeface="Calibri"/>
                          <a:cs typeface="Calibri"/>
                        </a:rPr>
                        <a:t>Challenges (risks / issues): </a:t>
                      </a:r>
                    </a:p>
                    <a:p>
                      <a:pPr lvl="0" algn="l">
                        <a:buNone/>
                      </a:pPr>
                      <a:endParaRPr lang="en-US" sz="1400" b="1" u="none" strike="noStrike" kern="1200" cap="none" spc="0">
                        <a:solidFill>
                          <a:schemeClr val="tx1"/>
                        </a:solidFill>
                        <a:effectLst/>
                        <a:latin typeface="Calibri"/>
                        <a:ea typeface="Calibri"/>
                        <a:cs typeface="Calibri"/>
                      </a:endParaRPr>
                    </a:p>
                    <a:p>
                      <a:pPr marL="0" lvl="0" indent="0" algn="l">
                        <a:lnSpc>
                          <a:spcPct val="100000"/>
                        </a:lnSpc>
                        <a:spcBef>
                          <a:spcPts val="0"/>
                        </a:spcBef>
                        <a:spcAft>
                          <a:spcPts val="0"/>
                        </a:spcAft>
                        <a:buClr>
                          <a:srgbClr val="000000"/>
                        </a:buClr>
                        <a:buFont typeface="Arial"/>
                        <a:buChar char="•"/>
                      </a:pPr>
                      <a:r>
                        <a:rPr lang="en-US" sz="1200" b="0" i="0" u="none" strike="noStrike" kern="1200" noProof="0">
                          <a:solidFill>
                            <a:srgbClr val="000000"/>
                          </a:solidFill>
                          <a:latin typeface="+mn-lt"/>
                          <a:ea typeface="+mn-ea"/>
                          <a:cs typeface="+mn-cs"/>
                        </a:rPr>
                        <a:t>The WDI/EMI stories are being developed from scratch, requiring comprehensive validation of requests, responses, database updates, pipelines, and end-to-end integrations. At the same time, we need to execute testing for both Finder and WDI/EMI API mod stories in parallel. One week per endpoint is not possible</a:t>
                      </a:r>
                    </a:p>
                    <a:p>
                      <a:pPr marL="0" lvl="0" indent="0" algn="l">
                        <a:lnSpc>
                          <a:spcPct val="100000"/>
                        </a:lnSpc>
                        <a:spcBef>
                          <a:spcPts val="0"/>
                        </a:spcBef>
                        <a:spcAft>
                          <a:spcPts val="0"/>
                        </a:spcAft>
                        <a:buClr>
                          <a:srgbClr val="000000"/>
                        </a:buClr>
                        <a:buFont typeface="Arial"/>
                        <a:buChar char="•"/>
                      </a:pPr>
                      <a:endParaRPr lang="en-US" sz="1100" b="0" i="0" u="none" strike="noStrike" kern="1200" cap="none" spc="0" noProof="0">
                        <a:solidFill>
                          <a:schemeClr val="tx1"/>
                        </a:solidFill>
                        <a:effectLst/>
                        <a:latin typeface="Aptos"/>
                        <a:ea typeface="+mn-ea"/>
                        <a:cs typeface="+mn-cs"/>
                      </a:endParaRPr>
                    </a:p>
                    <a:p>
                      <a:pPr marL="0" lvl="0" indent="0" algn="l">
                        <a:lnSpc>
                          <a:spcPct val="100000"/>
                        </a:lnSpc>
                        <a:spcBef>
                          <a:spcPts val="0"/>
                        </a:spcBef>
                        <a:spcAft>
                          <a:spcPts val="0"/>
                        </a:spcAft>
                        <a:buClr>
                          <a:srgbClr val="000000"/>
                        </a:buClr>
                        <a:buFont typeface="Arial"/>
                        <a:buChar char="•"/>
                      </a:pPr>
                      <a:endParaRPr lang="en-US" sz="1100" b="0" i="0" u="none" strike="noStrike" kern="1200" cap="none" spc="0" noProof="0">
                        <a:solidFill>
                          <a:srgbClr val="000000"/>
                        </a:solidFill>
                        <a:effectLst/>
                        <a:latin typeface="Aptos"/>
                      </a:endParaRPr>
                    </a:p>
                    <a:p>
                      <a:pPr marL="171450" lvl="0" indent="-171450" algn="l">
                        <a:buFont typeface="Arial"/>
                        <a:buChar char="•"/>
                      </a:pPr>
                      <a:endParaRPr lang="en-US" sz="1100" b="0" i="0" u="none" strike="noStrike" kern="1200" cap="none" spc="0" noProof="0">
                        <a:solidFill>
                          <a:schemeClr val="tx1"/>
                        </a:solidFill>
                        <a:effectLst/>
                        <a:latin typeface="Aptos"/>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400" b="1" u="none" strike="noStrike" kern="1200" cap="none" spc="0">
                          <a:solidFill>
                            <a:schemeClr val="tx1"/>
                          </a:solidFill>
                          <a:effectLst/>
                          <a:latin typeface="Calibri"/>
                          <a:ea typeface="Calibri"/>
                          <a:cs typeface="Calibri"/>
                        </a:rPr>
                        <a:t>Action Needed / Action Taken (for the identified risks/issues): </a:t>
                      </a:r>
                      <a:endParaRPr lang="en-US" sz="1400" b="0" u="none" strike="noStrike" kern="1200" cap="none" spc="0">
                        <a:solidFill>
                          <a:schemeClr val="tx1"/>
                        </a:solidFill>
                        <a:effectLst/>
                        <a:latin typeface="Calibri"/>
                        <a:ea typeface="Calibri"/>
                        <a:cs typeface="Calibri"/>
                      </a:endParaRPr>
                    </a:p>
                    <a:p>
                      <a:pPr marL="171450" indent="-171450" algn="l" fontAlgn="t">
                        <a:buFont typeface="Arial" panose="020B0604020202020204" pitchFamily="34" charset="0"/>
                        <a:buChar char="•"/>
                      </a:pPr>
                      <a:endParaRPr lang="en-US" sz="1200" b="0" u="none" strike="noStrike" kern="1200" cap="none" spc="0">
                        <a:solidFill>
                          <a:schemeClr val="tx1"/>
                        </a:solidFill>
                        <a:effectLst/>
                        <a:latin typeface="Calibri"/>
                        <a:ea typeface="Calibri"/>
                        <a:cs typeface="Calibri"/>
                      </a:endParaRPr>
                    </a:p>
                    <a:p>
                      <a:pPr marL="171450" lvl="0" indent="-171450" algn="l">
                        <a:buFont typeface="Arial" panose="020B0604020202020204" pitchFamily="34" charset="0"/>
                        <a:buChar char="•"/>
                      </a:pPr>
                      <a:r>
                        <a:rPr lang="en-US" sz="1100" b="0" i="0" u="none" strike="noStrike" kern="1200" cap="none" spc="0" noProof="0">
                          <a:solidFill>
                            <a:schemeClr val="tx1"/>
                          </a:solidFill>
                          <a:effectLst/>
                          <a:latin typeface="Segoe UI"/>
                          <a:ea typeface="Calibri"/>
                          <a:cs typeface="Segoe UI"/>
                        </a:rPr>
                        <a:t>NA</a:t>
                      </a:r>
                    </a:p>
                    <a:p>
                      <a:pPr marL="0" lvl="0" indent="0" algn="l">
                        <a:buNone/>
                      </a:pPr>
                      <a:endParaRPr lang="en-US" sz="1200" b="0" u="none" strike="noStrike" kern="1200" cap="none" spc="0">
                        <a:solidFill>
                          <a:schemeClr val="tx1"/>
                        </a:solidFill>
                        <a:effectLst/>
                        <a:latin typeface="Calibri"/>
                        <a:ea typeface="Calibri"/>
                        <a:cs typeface="Calibri"/>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979042">
                <a:tc gridSpan="2">
                  <a:txBody>
                    <a:bodyPr/>
                    <a:lstStyle/>
                    <a:p>
                      <a:pPr algn="l" fontAlgn="t">
                        <a:buNone/>
                      </a:pPr>
                      <a:r>
                        <a:rPr lang="en-US" sz="1400" b="1" u="none" strike="noStrike" kern="1200" cap="none" spc="0">
                          <a:solidFill>
                            <a:schemeClr val="tx1"/>
                          </a:solidFill>
                          <a:effectLst/>
                          <a:latin typeface="Calibri"/>
                          <a:ea typeface="Calibri"/>
                          <a:cs typeface="Calibri"/>
                        </a:rPr>
                        <a:t>Automation Regression Updates : </a:t>
                      </a:r>
                    </a:p>
                    <a:p>
                      <a:pPr marL="285750" indent="-285750" algn="l" fontAlgn="t">
                        <a:buFont typeface="Arial" panose="020B0604020202020204" pitchFamily="34" charset="0"/>
                        <a:buChar char="•"/>
                      </a:pPr>
                      <a:r>
                        <a:rPr lang="en-US" sz="1100" b="0" i="0" u="none" strike="noStrike" kern="1200" cap="none" spc="0" noProof="0">
                          <a:solidFill>
                            <a:schemeClr val="tx1"/>
                          </a:solidFill>
                          <a:effectLst/>
                          <a:latin typeface="Segoe UI"/>
                          <a:ea typeface="Calibri"/>
                          <a:cs typeface="Segoe UI"/>
                        </a:rPr>
                        <a:t>Upon completion of test design, the test cases will be shared to automation team</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BDA2CADA-4486-851E-3B24-7237162DB3C4}"/>
              </a:ext>
            </a:extLst>
          </p:cNvPr>
          <p:cNvGraphicFramePr>
            <a:graphicFrameLocks noGrp="1"/>
          </p:cNvGraphicFramePr>
          <p:nvPr>
            <p:extLst>
              <p:ext uri="{D42A27DB-BD31-4B8C-83A1-F6EECF244321}">
                <p14:modId xmlns:p14="http://schemas.microsoft.com/office/powerpoint/2010/main" val="3430682406"/>
              </p:ext>
            </p:extLst>
          </p:nvPr>
        </p:nvGraphicFramePr>
        <p:xfrm>
          <a:off x="345057" y="2046677"/>
          <a:ext cx="11600931" cy="1308748"/>
        </p:xfrm>
        <a:graphic>
          <a:graphicData uri="http://schemas.openxmlformats.org/drawingml/2006/table">
            <a:tbl>
              <a:tblPr/>
              <a:tblGrid>
                <a:gridCol w="1485940">
                  <a:extLst>
                    <a:ext uri="{9D8B030D-6E8A-4147-A177-3AD203B41FA5}">
                      <a16:colId xmlns:a16="http://schemas.microsoft.com/office/drawing/2014/main" val="383858331"/>
                    </a:ext>
                  </a:extLst>
                </a:gridCol>
                <a:gridCol w="1209977">
                  <a:extLst>
                    <a:ext uri="{9D8B030D-6E8A-4147-A177-3AD203B41FA5}">
                      <a16:colId xmlns:a16="http://schemas.microsoft.com/office/drawing/2014/main" val="1560180378"/>
                    </a:ext>
                  </a:extLst>
                </a:gridCol>
                <a:gridCol w="1528394">
                  <a:extLst>
                    <a:ext uri="{9D8B030D-6E8A-4147-A177-3AD203B41FA5}">
                      <a16:colId xmlns:a16="http://schemas.microsoft.com/office/drawing/2014/main" val="2270929281"/>
                    </a:ext>
                  </a:extLst>
                </a:gridCol>
                <a:gridCol w="1528394">
                  <a:extLst>
                    <a:ext uri="{9D8B030D-6E8A-4147-A177-3AD203B41FA5}">
                      <a16:colId xmlns:a16="http://schemas.microsoft.com/office/drawing/2014/main" val="1448308291"/>
                    </a:ext>
                  </a:extLst>
                </a:gridCol>
                <a:gridCol w="1549622">
                  <a:extLst>
                    <a:ext uri="{9D8B030D-6E8A-4147-A177-3AD203B41FA5}">
                      <a16:colId xmlns:a16="http://schemas.microsoft.com/office/drawing/2014/main" val="3295045209"/>
                    </a:ext>
                  </a:extLst>
                </a:gridCol>
                <a:gridCol w="1146292">
                  <a:extLst>
                    <a:ext uri="{9D8B030D-6E8A-4147-A177-3AD203B41FA5}">
                      <a16:colId xmlns:a16="http://schemas.microsoft.com/office/drawing/2014/main" val="1923205917"/>
                    </a:ext>
                  </a:extLst>
                </a:gridCol>
                <a:gridCol w="1767205">
                  <a:extLst>
                    <a:ext uri="{9D8B030D-6E8A-4147-A177-3AD203B41FA5}">
                      <a16:colId xmlns:a16="http://schemas.microsoft.com/office/drawing/2014/main" val="3147362022"/>
                    </a:ext>
                  </a:extLst>
                </a:gridCol>
                <a:gridCol w="1385107">
                  <a:extLst>
                    <a:ext uri="{9D8B030D-6E8A-4147-A177-3AD203B41FA5}">
                      <a16:colId xmlns:a16="http://schemas.microsoft.com/office/drawing/2014/main" val="4292749998"/>
                    </a:ext>
                  </a:extLst>
                </a:gridCol>
              </a:tblGrid>
              <a:tr h="526472">
                <a:tc>
                  <a:txBody>
                    <a:bodyPr/>
                    <a:lstStyle/>
                    <a:p>
                      <a:pPr algn="ctr" fontAlgn="ctr">
                        <a:buNone/>
                      </a:pPr>
                      <a:r>
                        <a:rPr lang="en-US" sz="1000" b="1" i="0" u="none" strike="noStrike">
                          <a:solidFill>
                            <a:srgbClr val="000000"/>
                          </a:solidFill>
                          <a:effectLst/>
                          <a:latin typeface="Aptos Narrow"/>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noProof="0">
                          <a:solidFill>
                            <a:srgbClr val="000000"/>
                          </a:solidFill>
                          <a:effectLst/>
                          <a:latin typeface="Aptos Narrow"/>
                        </a:rPr>
                        <a:t>Test Design though AI tools (Sulfur / Strider)</a:t>
                      </a:r>
                      <a:endParaRPr lang="en-US"/>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391138">
                <a:tc>
                  <a:txBody>
                    <a:bodyPr/>
                    <a:lstStyle/>
                    <a:p>
                      <a:pPr marL="0" lvl="0" algn="ctr">
                        <a:buNone/>
                      </a:pPr>
                      <a:r>
                        <a:rPr lang="en-US" sz="1000" b="0" i="0" u="none" strike="noStrike" kern="1200">
                          <a:solidFill>
                            <a:schemeClr val="tx1"/>
                          </a:solidFill>
                          <a:effectLst/>
                          <a:latin typeface="Aptos Narrow"/>
                          <a:ea typeface="+mn-ea"/>
                          <a:cs typeface="+mn-cs"/>
                        </a:rPr>
                        <a:t>Pharmacy Finder – API MOD</a:t>
                      </a:r>
                    </a:p>
                  </a:txBody>
                  <a:tcPr marL="9524" marR="9524" marT="9524" marB="0" anchor="ctr">
                    <a:lnL w="6350">
                      <a:solidFill>
                        <a:srgbClr val="000000"/>
                      </a:solid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defTabSz="914400">
                        <a:buNone/>
                      </a:pPr>
                      <a:r>
                        <a:rPr lang="en-US" sz="1000" b="0" i="0" u="none" strike="noStrike" kern="1200" noProof="0">
                          <a:solidFill>
                            <a:schemeClr val="tx1"/>
                          </a:solidFill>
                          <a:effectLst/>
                          <a:latin typeface="Aptos Narrow"/>
                          <a:ea typeface="+mn-ea"/>
                          <a:cs typeface="+mn-cs"/>
                        </a:rPr>
                        <a:t>In-progress</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100%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20%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Partially Deployed</a:t>
                      </a:r>
                      <a:endParaRPr lang="en-US"/>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effectLst/>
                          <a:latin typeface="Aptos Narrow"/>
                          <a:ea typeface="+mn-ea"/>
                          <a:cs typeface="+mn-cs"/>
                        </a:rPr>
                        <a:t>7/31/2026</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effectLst/>
                          <a:latin typeface="Aptos Narrow"/>
                          <a:ea typeface="+mn-ea"/>
                          <a:cs typeface="+mn-cs"/>
                        </a:rPr>
                        <a:t>08/05/2026</a:t>
                      </a:r>
                    </a:p>
                  </a:txBody>
                  <a:tcPr marL="9524" marR="9524" marT="9524" marB="0" anchor="ctr">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8299319"/>
                  </a:ext>
                </a:extLst>
              </a:tr>
              <a:tr h="391138">
                <a:tc>
                  <a:txBody>
                    <a:bodyPr/>
                    <a:lstStyle/>
                    <a:p>
                      <a:pPr marL="0" lvl="0" algn="ctr">
                        <a:buNone/>
                      </a:pPr>
                      <a:r>
                        <a:rPr lang="en-US" sz="1000" b="0" i="0" u="none" strike="noStrike" kern="1200">
                          <a:solidFill>
                            <a:schemeClr val="tx1"/>
                          </a:solidFill>
                          <a:effectLst/>
                          <a:latin typeface="Aptos Narrow"/>
                          <a:ea typeface="+mn-ea"/>
                          <a:cs typeface="+mn-cs"/>
                        </a:rPr>
                        <a:t>WDI/ENI - API MOD</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marL="0" lvl="0" algn="ctr">
                        <a:buNone/>
                      </a:pPr>
                      <a:r>
                        <a:rPr lang="en-US" sz="1000" b="0" i="0" u="none" strike="noStrike" kern="1200" noProof="0">
                          <a:solidFill>
                            <a:schemeClr val="tx1"/>
                          </a:solidFill>
                          <a:effectLst/>
                          <a:latin typeface="Aptos Narrow"/>
                          <a:ea typeface="+mn-ea"/>
                          <a:cs typeface="+mn-cs"/>
                        </a:rPr>
                        <a:t>In- Progress</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95%</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50%</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Code yet to deploy</a:t>
                      </a:r>
                      <a:endParaRPr lang="en-US"/>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lnSpc>
                          <a:spcPct val="100000"/>
                        </a:lnSpc>
                        <a:spcBef>
                          <a:spcPts val="0"/>
                        </a:spcBef>
                        <a:spcAft>
                          <a:spcPts val="0"/>
                        </a:spcAft>
                        <a:buNone/>
                      </a:pPr>
                      <a:r>
                        <a:rPr lang="en-US" sz="1000" b="0" i="0" u="none" strike="noStrike" kern="1200" noProof="0">
                          <a:solidFill>
                            <a:schemeClr val="tx1"/>
                          </a:solidFill>
                          <a:effectLst/>
                          <a:latin typeface="Aptos Narrow"/>
                          <a:ea typeface="+mn-ea"/>
                          <a:cs typeface="+mn-cs"/>
                        </a:rPr>
                        <a:t>0%</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effectLst/>
                          <a:latin typeface="Aptos Narrow"/>
                          <a:ea typeface="+mn-ea"/>
                          <a:cs typeface="+mn-cs"/>
                        </a:rPr>
                        <a:t>7/31/2026</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effectLst/>
                          <a:latin typeface="Aptos Narrow"/>
                          <a:ea typeface="+mn-ea"/>
                          <a:cs typeface="+mn-cs"/>
                        </a:rPr>
                        <a:t>08/05/2026</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2204015051"/>
                  </a:ext>
                </a:extLst>
              </a:tr>
            </a:tbl>
          </a:graphicData>
        </a:graphic>
      </p:graphicFrame>
    </p:spTree>
    <p:extLst>
      <p:ext uri="{BB962C8B-B14F-4D97-AF65-F5344CB8AC3E}">
        <p14:creationId xmlns:p14="http://schemas.microsoft.com/office/powerpoint/2010/main" val="631795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C4C1F-36C5-5E07-BF14-431313A1E0E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DC43075-C0BB-4F8C-8894-A800EB73AA5A}"/>
              </a:ext>
            </a:extLst>
          </p:cNvPr>
          <p:cNvGraphicFramePr>
            <a:graphicFrameLocks noGrp="1"/>
          </p:cNvGraphicFramePr>
          <p:nvPr>
            <p:extLst>
              <p:ext uri="{D42A27DB-BD31-4B8C-83A1-F6EECF244321}">
                <p14:modId xmlns:p14="http://schemas.microsoft.com/office/powerpoint/2010/main" val="2522170162"/>
              </p:ext>
            </p:extLst>
          </p:nvPr>
        </p:nvGraphicFramePr>
        <p:xfrm>
          <a:off x="208578" y="140125"/>
          <a:ext cx="11603937" cy="8117688"/>
        </p:xfrm>
        <a:graphic>
          <a:graphicData uri="http://schemas.openxmlformats.org/drawingml/2006/table">
            <a:tbl>
              <a:tblPr firstRow="1" bandRow="1">
                <a:noFill/>
                <a:tableStyleId>{5940675A-B579-460E-94D1-54222C63F5DA}</a:tableStyleId>
              </a:tblPr>
              <a:tblGrid>
                <a:gridCol w="1491738">
                  <a:extLst>
                    <a:ext uri="{9D8B030D-6E8A-4147-A177-3AD203B41FA5}">
                      <a16:colId xmlns:a16="http://schemas.microsoft.com/office/drawing/2014/main" val="3592680666"/>
                    </a:ext>
                  </a:extLst>
                </a:gridCol>
                <a:gridCol w="946234">
                  <a:extLst>
                    <a:ext uri="{9D8B030D-6E8A-4147-A177-3AD203B41FA5}">
                      <a16:colId xmlns:a16="http://schemas.microsoft.com/office/drawing/2014/main" val="1654399098"/>
                    </a:ext>
                  </a:extLst>
                </a:gridCol>
                <a:gridCol w="1346937">
                  <a:extLst>
                    <a:ext uri="{9D8B030D-6E8A-4147-A177-3AD203B41FA5}">
                      <a16:colId xmlns:a16="http://schemas.microsoft.com/office/drawing/2014/main" val="157821927"/>
                    </a:ext>
                  </a:extLst>
                </a:gridCol>
                <a:gridCol w="2369293">
                  <a:extLst>
                    <a:ext uri="{9D8B030D-6E8A-4147-A177-3AD203B41FA5}">
                      <a16:colId xmlns:a16="http://schemas.microsoft.com/office/drawing/2014/main" val="2428918094"/>
                    </a:ext>
                  </a:extLst>
                </a:gridCol>
                <a:gridCol w="1250671">
                  <a:extLst>
                    <a:ext uri="{9D8B030D-6E8A-4147-A177-3AD203B41FA5}">
                      <a16:colId xmlns:a16="http://schemas.microsoft.com/office/drawing/2014/main" val="2434076975"/>
                    </a:ext>
                  </a:extLst>
                </a:gridCol>
                <a:gridCol w="1181961">
                  <a:extLst>
                    <a:ext uri="{9D8B030D-6E8A-4147-A177-3AD203B41FA5}">
                      <a16:colId xmlns:a16="http://schemas.microsoft.com/office/drawing/2014/main" val="4168789034"/>
                    </a:ext>
                  </a:extLst>
                </a:gridCol>
                <a:gridCol w="1571431">
                  <a:extLst>
                    <a:ext uri="{9D8B030D-6E8A-4147-A177-3AD203B41FA5}">
                      <a16:colId xmlns:a16="http://schemas.microsoft.com/office/drawing/2014/main" val="1518792060"/>
                    </a:ext>
                  </a:extLst>
                </a:gridCol>
                <a:gridCol w="1445672">
                  <a:extLst>
                    <a:ext uri="{9D8B030D-6E8A-4147-A177-3AD203B41FA5}">
                      <a16:colId xmlns:a16="http://schemas.microsoft.com/office/drawing/2014/main" val="1805739722"/>
                    </a:ext>
                  </a:extLst>
                </a:gridCol>
              </a:tblGrid>
              <a:tr h="715740">
                <a:tc>
                  <a:txBody>
                    <a:bodyPr/>
                    <a:lstStyle/>
                    <a:p>
                      <a:pPr algn="l" fontAlgn="ctr">
                        <a:buNone/>
                      </a:pPr>
                      <a:r>
                        <a:rPr lang="en-US" sz="1400" b="1" u="none" strike="noStrike" cap="none" spc="60">
                          <a:solidFill>
                            <a:schemeClr val="bg1"/>
                          </a:solidFill>
                          <a:effectLst/>
                          <a:latin typeface="Calibri"/>
                          <a:ea typeface="Calibri"/>
                          <a:cs typeface="Calibri"/>
                        </a:rPr>
                        <a:t>Scrum Team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err="1">
                          <a:solidFill>
                            <a:schemeClr val="bg1"/>
                          </a:solidFill>
                          <a:effectLst/>
                          <a:latin typeface="Calibri"/>
                          <a:ea typeface="Calibri"/>
                          <a:cs typeface="Calibri"/>
                        </a:rPr>
                        <a:t>Cretas</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Application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Common UI</a:t>
                      </a:r>
                      <a:endParaRPr lang="en-US" sz="1400" b="0" i="0" u="none" strike="noStrike" kern="1200" cap="none" spc="60">
                        <a:solidFill>
                          <a:schemeClr val="bg1"/>
                        </a:solidFill>
                        <a:effectLst/>
                        <a:latin typeface="Calibri"/>
                        <a:ea typeface="Calibri"/>
                        <a:cs typeface="Calibri"/>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Testing POC:</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Snehal Mane</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Release</a:t>
                      </a:r>
                      <a:r>
                        <a:rPr lang="en-US" sz="1400" b="0" u="none" strike="noStrike" cap="none" spc="60">
                          <a:solidFill>
                            <a:schemeClr val="bg1"/>
                          </a:solidFill>
                          <a:effectLst/>
                          <a:latin typeface="Calibri"/>
                          <a:ea typeface="Calibri"/>
                          <a:cs typeface="Calibri"/>
                        </a:rPr>
                        <a:t>:</a:t>
                      </a:r>
                      <a:endParaRPr lang="en-US" sz="1400" b="0"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N26.08(08/05)</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3318438">
                <a:tc gridSpan="8">
                  <a:txBody>
                    <a:bodyPr/>
                    <a:lstStyle/>
                    <a:p>
                      <a:r>
                        <a:rPr lang="en-US" sz="1400" b="1">
                          <a:solidFill>
                            <a:schemeClr val="tx1"/>
                          </a:solidFill>
                          <a:latin typeface="Calibri"/>
                          <a:ea typeface="Calibri"/>
                          <a:cs typeface="Calibri"/>
                        </a:rPr>
                        <a:t>Overall Summary :</a:t>
                      </a:r>
                    </a:p>
                    <a:p>
                      <a:pPr lvl="0">
                        <a:buNone/>
                      </a:pPr>
                      <a:endParaRPr lang="en-US" sz="1400" b="1">
                        <a:solidFill>
                          <a:schemeClr val="tx1"/>
                        </a:solidFill>
                        <a:latin typeface="Calibri"/>
                        <a:ea typeface="Calibri"/>
                        <a:cs typeface="Calibri"/>
                      </a:endParaRPr>
                    </a:p>
                    <a:p>
                      <a:pPr marL="285750" lvl="0" indent="-285750">
                        <a:buFont typeface="Arial"/>
                        <a:buChar char="•"/>
                      </a:pPr>
                      <a:r>
                        <a:rPr lang="en-US" sz="1400" b="0">
                          <a:solidFill>
                            <a:schemeClr val="tx1"/>
                          </a:solidFill>
                          <a:latin typeface="Calibri"/>
                          <a:ea typeface="Calibri"/>
                          <a:cs typeface="Calibri"/>
                        </a:rPr>
                        <a:t>07/14 Deployment to Prod was successful with security scan issues from Nexus fixed.</a:t>
                      </a:r>
                    </a:p>
                    <a:p>
                      <a:pPr marL="285750" lvl="0" indent="-285750">
                        <a:buFont typeface="Arial"/>
                        <a:buChar char="•"/>
                      </a:pPr>
                      <a:r>
                        <a:rPr lang="en-US" sz="1400" b="0">
                          <a:solidFill>
                            <a:schemeClr val="tx1"/>
                          </a:solidFill>
                          <a:latin typeface="Calibri"/>
                          <a:ea typeface="Calibri"/>
                          <a:cs typeface="Calibri"/>
                        </a:rPr>
                        <a:t>PPV sign off was given for 07/14 UI release,</a:t>
                      </a:r>
                    </a:p>
                    <a:p>
                      <a:pPr marL="285750" lvl="0" indent="-285750">
                        <a:buFont typeface="Arial"/>
                        <a:buChar char="•"/>
                      </a:pPr>
                      <a:r>
                        <a:rPr lang="en-US" sz="1400" b="1">
                          <a:solidFill>
                            <a:schemeClr val="tx1"/>
                          </a:solidFill>
                          <a:latin typeface="Calibri"/>
                          <a:ea typeface="Calibri"/>
                          <a:cs typeface="Calibri"/>
                        </a:rPr>
                        <a:t>Next API release is on 08/05 for Single PBM feature.</a:t>
                      </a:r>
                    </a:p>
                    <a:p>
                      <a:pPr marL="285750" lvl="0" indent="-285750">
                        <a:buFont typeface="Arial"/>
                        <a:buChar char="•"/>
                      </a:pPr>
                      <a:r>
                        <a:rPr lang="en-US" sz="1400" b="0" i="0" u="none" strike="noStrike" noProof="0">
                          <a:solidFill>
                            <a:schemeClr val="tx1"/>
                          </a:solidFill>
                          <a:latin typeface="Calibri"/>
                          <a:ea typeface="Calibri"/>
                          <a:cs typeface="Calibri"/>
                        </a:rPr>
                        <a:t>Test case design is 100% complete and Test Execution is 80% complete for current sprint.</a:t>
                      </a:r>
                    </a:p>
                    <a:p>
                      <a:pPr marL="285750" lvl="0" indent="-285750">
                        <a:buFont typeface="Arial"/>
                        <a:buChar char="•"/>
                      </a:pPr>
                      <a:r>
                        <a:rPr lang="en-US" sz="1400" b="0" i="0" u="none" strike="noStrike" noProof="0">
                          <a:solidFill>
                            <a:schemeClr val="tx1"/>
                          </a:solidFill>
                          <a:latin typeface="Calibri"/>
                          <a:ea typeface="Calibri"/>
                          <a:cs typeface="Calibri"/>
                        </a:rPr>
                        <a:t>All defects verified and closed.</a:t>
                      </a:r>
                    </a:p>
                    <a:p>
                      <a:pPr marL="0" lvl="0" indent="0">
                        <a:buNone/>
                      </a:pPr>
                      <a:endParaRPr lang="en-US" sz="1400" b="0" i="0" u="none" strike="noStrike" noProof="0">
                        <a:solidFill>
                          <a:schemeClr val="tx1"/>
                        </a:solidFill>
                        <a:latin typeface="Calibri"/>
                        <a:ea typeface="Calibri"/>
                        <a:cs typeface="Calibri"/>
                      </a:endParaRPr>
                    </a:p>
                    <a:p>
                      <a:pPr marL="0" lvl="0" indent="0">
                        <a:buNone/>
                      </a:pPr>
                      <a:endParaRPr lang="en-US" sz="1400" b="0" i="0" u="none" strike="noStrike" noProof="0">
                        <a:solidFill>
                          <a:schemeClr val="tx1"/>
                        </a:solidFill>
                        <a:latin typeface="Calibri"/>
                        <a:ea typeface="Calibri"/>
                        <a:cs typeface="Calibri"/>
                      </a:endParaRPr>
                    </a:p>
                    <a:p>
                      <a:pPr marL="285750" lvl="0" indent="-285750">
                        <a:buFont typeface="Arial"/>
                        <a:buChar char="•"/>
                      </a:pPr>
                      <a:endParaRPr lang="en-US" sz="1200" b="0" i="0" u="none" strike="noStrike" kern="1200">
                        <a:solidFill>
                          <a:schemeClr val="tx1"/>
                        </a:solidFill>
                        <a:latin typeface="Calibri"/>
                        <a:ea typeface="Calibri"/>
                        <a:cs typeface="Calibri"/>
                      </a:endParaRPr>
                    </a:p>
                    <a:p>
                      <a:pPr marL="285750" lvl="0" indent="-285750">
                        <a:buFont typeface="Arial"/>
                        <a:buChar char="•"/>
                      </a:pPr>
                      <a:endParaRPr lang="en-US" sz="1100" b="0" i="0" u="none" strike="noStrike" kern="1200" noProof="0">
                        <a:solidFill>
                          <a:schemeClr val="tx1"/>
                        </a:solidFill>
                        <a:latin typeface="Segoe UI"/>
                        <a:ea typeface="Calibri"/>
                        <a:cs typeface="Segoe UI"/>
                      </a:endParaRPr>
                    </a:p>
                    <a:p>
                      <a:pPr marL="285750" lvl="0" indent="-285750">
                        <a:buFont typeface="Arial"/>
                        <a:buChar char="•"/>
                      </a:pPr>
                      <a:endParaRPr lang="en-US" sz="1200" b="0" i="0" u="none" strike="noStrike" kern="1200">
                        <a:solidFill>
                          <a:schemeClr val="tx1"/>
                        </a:solidFill>
                        <a:latin typeface="Calibri"/>
                        <a:ea typeface="Calibri"/>
                        <a:cs typeface="Calibri"/>
                      </a:endParaRPr>
                    </a:p>
                    <a:p>
                      <a:pPr marL="285750" lvl="0" indent="-285750">
                        <a:buFont typeface="Arial"/>
                        <a:buChar char="•"/>
                      </a:pPr>
                      <a:endParaRPr lang="en-US" sz="1100" b="0" i="0" u="none" strike="noStrike" kern="1200" noProof="0">
                        <a:solidFill>
                          <a:srgbClr val="FF0000"/>
                        </a:solidFill>
                        <a:latin typeface="Segoe UI"/>
                        <a:cs typeface="Segoe UI"/>
                      </a:endParaRPr>
                    </a:p>
                    <a:p>
                      <a:pPr lvl="0" algn="l">
                        <a:buNone/>
                      </a:pPr>
                      <a:endParaRPr lang="en-US" sz="1400" b="0" i="0" u="none" strike="noStrike" noProof="0">
                        <a:solidFill>
                          <a:schemeClr val="tx1"/>
                        </a:solidFill>
                        <a:latin typeface="Calibri"/>
                        <a:ea typeface="Calibri"/>
                        <a:cs typeface="Calibri"/>
                      </a:endParaRPr>
                    </a:p>
                    <a:p>
                      <a:pPr lvl="0" algn="l">
                        <a:buNone/>
                      </a:pPr>
                      <a:endParaRPr lang="en-US" sz="1400" b="0" i="0" u="none" strike="noStrike" noProof="0">
                        <a:solidFill>
                          <a:schemeClr val="tx1"/>
                        </a:solidFill>
                        <a:latin typeface="Calibri"/>
                        <a:ea typeface="Calibri"/>
                        <a:cs typeface="Calibri"/>
                      </a:endParaRPr>
                    </a:p>
                    <a:p>
                      <a:pPr lvl="0" algn="l">
                        <a:buNone/>
                      </a:pPr>
                      <a:endParaRPr lang="en-US" sz="1400" b="0" i="0" u="none" strike="noStrike" kern="1200" noProof="0">
                        <a:solidFill>
                          <a:schemeClr val="tx1"/>
                        </a:solidFill>
                        <a:latin typeface="Calibri"/>
                        <a:ea typeface="Calibri"/>
                        <a:cs typeface="Calibri"/>
                      </a:endParaRPr>
                    </a:p>
                    <a:p>
                      <a:pPr lvl="0" algn="l">
                        <a:buNone/>
                      </a:pPr>
                      <a:endParaRPr lang="en-US" sz="1100" b="0" i="0" u="none" strike="noStrike" kern="1200" noProof="0">
                        <a:solidFill>
                          <a:srgbClr val="027AC6"/>
                        </a:solidFill>
                      </a:endParaRPr>
                    </a:p>
                    <a:p>
                      <a:pPr lvl="0" algn="l">
                        <a:buNone/>
                      </a:pPr>
                      <a:endParaRPr lang="en-US" sz="1400" b="0" i="0" u="none" strike="noStrike" kern="1200" noProof="0">
                        <a:solidFill>
                          <a:schemeClr val="tx1"/>
                        </a:solidFill>
                        <a:latin typeface="Calibri"/>
                        <a:ea typeface="Calibri"/>
                        <a:cs typeface="Calibri"/>
                      </a:endParaRPr>
                    </a:p>
                    <a:p>
                      <a:pPr marL="457200" lvl="1" indent="0" algn="l">
                        <a:buNone/>
                      </a:pPr>
                      <a:endParaRPr lang="en-US" sz="1200" b="0" i="0" u="none" strike="noStrike" kern="1200" noProof="0">
                        <a:solidFill>
                          <a:schemeClr val="tx1"/>
                        </a:solidFill>
                        <a:latin typeface="Calibri"/>
                        <a:ea typeface="Calibri"/>
                        <a:cs typeface="Calibri"/>
                      </a:endParaRPr>
                    </a:p>
                    <a:p>
                      <a:pPr marL="457200" lvl="1" indent="0" algn="l">
                        <a:buNone/>
                      </a:pPr>
                      <a:endParaRPr lang="en-US" sz="1200" b="0" i="0" u="none" strike="noStrike" kern="1200" noProof="0">
                        <a:solidFill>
                          <a:schemeClr val="tx1"/>
                        </a:solidFill>
                        <a:latin typeface="Calibri"/>
                        <a:ea typeface="Calibri"/>
                        <a:cs typeface="Calibri"/>
                      </a:endParaRPr>
                    </a:p>
                    <a:p>
                      <a:pPr marL="742950" lvl="1" indent="-285750" algn="l">
                        <a:buFont typeface="Arial" panose="020B0604020202020204" pitchFamily="34" charset="0"/>
                        <a:buChar char="•"/>
                      </a:pPr>
                      <a:endParaRPr lang="en-US" sz="1200" b="0" i="0" u="none" strike="noStrike" kern="1200" noProof="0">
                        <a:solidFill>
                          <a:schemeClr val="tx1"/>
                        </a:solidFill>
                        <a:latin typeface="Calibri"/>
                        <a:ea typeface="Calibri"/>
                        <a:cs typeface="Calibri"/>
                      </a:endParaRPr>
                    </a:p>
                    <a:p>
                      <a:pPr marL="742950" lvl="1" indent="-285750" algn="l">
                        <a:buFont typeface="Arial" panose="020B0604020202020204" pitchFamily="34" charset="0"/>
                        <a:buChar char="•"/>
                      </a:pPr>
                      <a:endParaRPr lang="en-US" sz="1200" b="0" i="0" u="none" strike="noStrike" kern="1200" noProof="0">
                        <a:solidFill>
                          <a:schemeClr val="tx1"/>
                        </a:solidFill>
                        <a:latin typeface="Calibri"/>
                        <a:ea typeface="Calibri"/>
                        <a:cs typeface="Calibri"/>
                      </a:endParaRPr>
                    </a:p>
                    <a:p>
                      <a:pPr marL="285750" lvl="0" indent="-285750" algn="l">
                        <a:buFont typeface="Arial" panose="020B0604020202020204" pitchFamily="34" charset="0"/>
                        <a:buChar char="•"/>
                      </a:pPr>
                      <a:endParaRPr lang="en-US" sz="1200" kern="1200">
                        <a:solidFill>
                          <a:srgbClr val="FF0000"/>
                        </a:solidFill>
                        <a:latin typeface="Calibri"/>
                        <a:ea typeface="Calibri"/>
                        <a:cs typeface="Calibri"/>
                      </a:endParaRPr>
                    </a:p>
                    <a:p>
                      <a:pPr marL="285750" lvl="0" indent="-285750" algn="l">
                        <a:buFont typeface="Arial" panose="020B0604020202020204" pitchFamily="34" charset="0"/>
                        <a:buChar char="•"/>
                      </a:pPr>
                      <a:endParaRPr lang="en-US" sz="1200" kern="1200">
                        <a:solidFill>
                          <a:srgbClr val="FF0000"/>
                        </a:solidFill>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19050" cap="flat" cmpd="sng" algn="ctr">
                      <a:noFill/>
                      <a:prstDash val="soli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845874">
                <a:tc gridSpan="8">
                  <a:txBody>
                    <a:bodyPr/>
                    <a:lstStyle/>
                    <a:p>
                      <a:pPr marL="285750" lvl="0" indent="-285750" algn="l">
                        <a:buFont typeface="Arial"/>
                        <a:buChar char="•"/>
                      </a:pPr>
                      <a:r>
                        <a:rPr lang="en-US" sz="1200" kern="1200">
                          <a:solidFill>
                            <a:srgbClr val="FF0000"/>
                          </a:solidFill>
                          <a:latin typeface="Calibri"/>
                          <a:ea typeface="Calibri"/>
                          <a:cs typeface="Calibri"/>
                        </a:rPr>
                        <a:t>         </a:t>
                      </a: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16142666"/>
                  </a:ext>
                </a:extLst>
              </a:tr>
              <a:tr h="845874">
                <a:tc gridSpan="8">
                  <a:txBody>
                    <a:bodyPr/>
                    <a:lstStyle/>
                    <a:p>
                      <a:pPr marL="285750" lvl="0" indent="-285750" algn="l">
                        <a:buFont typeface="Arial"/>
                        <a:buChar char="•"/>
                      </a:pPr>
                      <a:endParaRPr lang="en-US" sz="1200" kern="1200">
                        <a:solidFill>
                          <a:srgbClr val="FF0000"/>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31538147"/>
                  </a:ext>
                </a:extLst>
              </a:tr>
              <a:tr h="845873">
                <a:tc gridSpan="8">
                  <a:txBody>
                    <a:bodyPr/>
                    <a:lstStyle/>
                    <a:p>
                      <a:pPr marL="285750" lvl="0" indent="-285750" algn="l">
                        <a:buFont typeface="Arial"/>
                        <a:buChar char="•"/>
                      </a:pPr>
                      <a:endParaRPr lang="en-US" sz="1200" kern="1200">
                        <a:solidFill>
                          <a:srgbClr val="FF0000"/>
                        </a:solidFill>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96681891"/>
                  </a:ext>
                </a:extLst>
              </a:tr>
            </a:tbl>
          </a:graphicData>
        </a:graphic>
      </p:graphicFrame>
      <p:graphicFrame>
        <p:nvGraphicFramePr>
          <p:cNvPr id="4" name="Table 3">
            <a:extLst>
              <a:ext uri="{FF2B5EF4-FFF2-40B4-BE49-F238E27FC236}">
                <a16:creationId xmlns:a16="http://schemas.microsoft.com/office/drawing/2014/main" id="{9AF49056-E092-2C06-B6F5-B1C43C7929D1}"/>
              </a:ext>
            </a:extLst>
          </p:cNvPr>
          <p:cNvGraphicFramePr>
            <a:graphicFrameLocks noGrp="1"/>
          </p:cNvGraphicFramePr>
          <p:nvPr>
            <p:extLst>
              <p:ext uri="{D42A27DB-BD31-4B8C-83A1-F6EECF244321}">
                <p14:modId xmlns:p14="http://schemas.microsoft.com/office/powerpoint/2010/main" val="3687000476"/>
              </p:ext>
            </p:extLst>
          </p:nvPr>
        </p:nvGraphicFramePr>
        <p:xfrm>
          <a:off x="391885" y="2764971"/>
          <a:ext cx="11077606" cy="466725"/>
        </p:xfrm>
        <a:graphic>
          <a:graphicData uri="http://schemas.openxmlformats.org/drawingml/2006/table">
            <a:tbl>
              <a:tblPr/>
              <a:tblGrid>
                <a:gridCol w="1239380">
                  <a:extLst>
                    <a:ext uri="{9D8B030D-6E8A-4147-A177-3AD203B41FA5}">
                      <a16:colId xmlns:a16="http://schemas.microsoft.com/office/drawing/2014/main" val="2533240102"/>
                    </a:ext>
                  </a:extLst>
                </a:gridCol>
                <a:gridCol w="1239380">
                  <a:extLst>
                    <a:ext uri="{9D8B030D-6E8A-4147-A177-3AD203B41FA5}">
                      <a16:colId xmlns:a16="http://schemas.microsoft.com/office/drawing/2014/main" val="383858331"/>
                    </a:ext>
                  </a:extLst>
                </a:gridCol>
                <a:gridCol w="1072228">
                  <a:extLst>
                    <a:ext uri="{9D8B030D-6E8A-4147-A177-3AD203B41FA5}">
                      <a16:colId xmlns:a16="http://schemas.microsoft.com/office/drawing/2014/main" val="1560180378"/>
                    </a:ext>
                  </a:extLst>
                </a:gridCol>
                <a:gridCol w="1354393">
                  <a:extLst>
                    <a:ext uri="{9D8B030D-6E8A-4147-A177-3AD203B41FA5}">
                      <a16:colId xmlns:a16="http://schemas.microsoft.com/office/drawing/2014/main" val="2270929281"/>
                    </a:ext>
                  </a:extLst>
                </a:gridCol>
                <a:gridCol w="1354393">
                  <a:extLst>
                    <a:ext uri="{9D8B030D-6E8A-4147-A177-3AD203B41FA5}">
                      <a16:colId xmlns:a16="http://schemas.microsoft.com/office/drawing/2014/main" val="4237142671"/>
                    </a:ext>
                  </a:extLst>
                </a:gridCol>
                <a:gridCol w="1373206">
                  <a:extLst>
                    <a:ext uri="{9D8B030D-6E8A-4147-A177-3AD203B41FA5}">
                      <a16:colId xmlns:a16="http://schemas.microsoft.com/office/drawing/2014/main" val="3295045209"/>
                    </a:ext>
                  </a:extLst>
                </a:gridCol>
                <a:gridCol w="1015792">
                  <a:extLst>
                    <a:ext uri="{9D8B030D-6E8A-4147-A177-3AD203B41FA5}">
                      <a16:colId xmlns:a16="http://schemas.microsoft.com/office/drawing/2014/main" val="1923205917"/>
                    </a:ext>
                  </a:extLst>
                </a:gridCol>
                <a:gridCol w="1566020">
                  <a:extLst>
                    <a:ext uri="{9D8B030D-6E8A-4147-A177-3AD203B41FA5}">
                      <a16:colId xmlns:a16="http://schemas.microsoft.com/office/drawing/2014/main" val="3147362022"/>
                    </a:ext>
                  </a:extLst>
                </a:gridCol>
                <a:gridCol w="862814">
                  <a:extLst>
                    <a:ext uri="{9D8B030D-6E8A-4147-A177-3AD203B41FA5}">
                      <a16:colId xmlns:a16="http://schemas.microsoft.com/office/drawing/2014/main" val="4292749998"/>
                    </a:ext>
                  </a:extLst>
                </a:gridCol>
              </a:tblGrid>
              <a:tr h="123852">
                <a:tc>
                  <a:txBody>
                    <a:bodyPr/>
                    <a:lstStyle/>
                    <a:p>
                      <a:pPr lvl="0" algn="ctr">
                        <a:buNone/>
                      </a:pPr>
                      <a:endParaRPr lang="en-US" sz="1000" b="1" i="0" u="none" strike="noStrike">
                        <a:solidFill>
                          <a:srgbClr val="000000"/>
                        </a:solidFill>
                        <a:effectLst/>
                        <a:latin typeface="Aptos Narrow"/>
                      </a:endParaRP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noProof="0">
                          <a:solidFill>
                            <a:srgbClr val="000000"/>
                          </a:solidFill>
                          <a:effectLst/>
                          <a:latin typeface="Aptos Narrow"/>
                        </a:rPr>
                        <a:t>Test Design though AI tools ( Sulphur/Strider)</a:t>
                      </a:r>
                      <a:endParaRPr lang="en-US"/>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147669">
                <a:tc>
                  <a:txBody>
                    <a:bodyPr/>
                    <a:lstStyle/>
                    <a:p>
                      <a:pPr lvl="0" algn="ctr">
                        <a:buNone/>
                      </a:pPr>
                      <a:endParaRPr lang="en-IN" sz="1000" b="0" i="0" u="none" strike="noStrike">
                        <a:solidFill>
                          <a:srgbClr val="000000"/>
                        </a:solidFill>
                        <a:effectLst/>
                        <a:latin typeface="Aptos Narrow"/>
                      </a:endParaRP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fontAlgn="t">
                        <a:buNone/>
                      </a:pPr>
                      <a:r>
                        <a:rPr lang="en-IN" sz="1000" b="0" i="0" u="none" strike="noStrike">
                          <a:solidFill>
                            <a:srgbClr val="000000"/>
                          </a:solidFill>
                          <a:effectLst/>
                          <a:latin typeface="Aptos Narrow"/>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In progress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Aptos Narrow"/>
                        </a:rPr>
                        <a:t>20%</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fontAlgn="t">
                        <a:buNone/>
                      </a:pPr>
                      <a:r>
                        <a:rPr lang="en-US" sz="1000" b="0" i="0" u="none" strike="noStrike">
                          <a:solidFill>
                            <a:srgbClr val="000000"/>
                          </a:solidFill>
                          <a:effectLst/>
                          <a:latin typeface="Aptos Narrow"/>
                        </a:rPr>
                        <a:t>In progress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07/24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08/05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0630752"/>
                  </a:ext>
                </a:extLst>
              </a:tr>
            </a:tbl>
          </a:graphicData>
        </a:graphic>
      </p:graphicFrame>
      <p:graphicFrame>
        <p:nvGraphicFramePr>
          <p:cNvPr id="6" name="Table 5">
            <a:extLst>
              <a:ext uri="{FF2B5EF4-FFF2-40B4-BE49-F238E27FC236}">
                <a16:creationId xmlns:a16="http://schemas.microsoft.com/office/drawing/2014/main" id="{BFE9A99A-6160-CA84-C36A-78C15D116256}"/>
              </a:ext>
            </a:extLst>
          </p:cNvPr>
          <p:cNvGraphicFramePr>
            <a:graphicFrameLocks noGrp="1"/>
          </p:cNvGraphicFramePr>
          <p:nvPr>
            <p:extLst>
              <p:ext uri="{D42A27DB-BD31-4B8C-83A1-F6EECF244321}">
                <p14:modId xmlns:p14="http://schemas.microsoft.com/office/powerpoint/2010/main" val="3624199399"/>
              </p:ext>
            </p:extLst>
          </p:nvPr>
        </p:nvGraphicFramePr>
        <p:xfrm>
          <a:off x="345056" y="3651849"/>
          <a:ext cx="11615675" cy="2350480"/>
        </p:xfrm>
        <a:graphic>
          <a:graphicData uri="http://schemas.openxmlformats.org/drawingml/2006/table">
            <a:tbl>
              <a:tblPr firstRow="1" bandRow="1">
                <a:noFill/>
                <a:tableStyleId>{5940675A-B579-460E-94D1-54222C63F5DA}</a:tableStyleId>
              </a:tblPr>
              <a:tblGrid>
                <a:gridCol w="5855547">
                  <a:extLst>
                    <a:ext uri="{9D8B030D-6E8A-4147-A177-3AD203B41FA5}">
                      <a16:colId xmlns:a16="http://schemas.microsoft.com/office/drawing/2014/main" val="3592680666"/>
                    </a:ext>
                  </a:extLst>
                </a:gridCol>
                <a:gridCol w="5760128">
                  <a:extLst>
                    <a:ext uri="{9D8B030D-6E8A-4147-A177-3AD203B41FA5}">
                      <a16:colId xmlns:a16="http://schemas.microsoft.com/office/drawing/2014/main" val="1654399098"/>
                    </a:ext>
                  </a:extLst>
                </a:gridCol>
              </a:tblGrid>
              <a:tr h="1304455">
                <a:tc>
                  <a:txBody>
                    <a:bodyPr/>
                    <a:lstStyle/>
                    <a:p>
                      <a:pPr algn="l" fontAlgn="t">
                        <a:buNone/>
                      </a:pPr>
                      <a:r>
                        <a:rPr lang="en-US" sz="1400" b="1" u="none" strike="noStrike" kern="1200" cap="none" spc="0">
                          <a:solidFill>
                            <a:schemeClr val="tx1"/>
                          </a:solidFill>
                          <a:effectLst/>
                          <a:latin typeface="Calibri"/>
                          <a:ea typeface="Calibri"/>
                          <a:cs typeface="Calibri"/>
                        </a:rPr>
                        <a:t>Challenges (risks / issues): </a:t>
                      </a:r>
                      <a:endParaRPr lang="en-US" sz="1200" b="0" i="0" u="none" strike="noStrike" kern="1200" noProof="0">
                        <a:solidFill>
                          <a:srgbClr val="000000"/>
                        </a:solidFill>
                        <a:latin typeface="Calibri"/>
                        <a:ea typeface="Calibri"/>
                        <a:cs typeface="Calibri"/>
                      </a:endParaRPr>
                    </a:p>
                    <a:p>
                      <a:pPr lvl="0" algn="l">
                        <a:buNone/>
                      </a:pPr>
                      <a:r>
                        <a:rPr lang="en-US" sz="1200" b="0" i="0" u="none" strike="noStrike" kern="1200" noProof="0">
                          <a:solidFill>
                            <a:srgbClr val="000000"/>
                          </a:solidFill>
                          <a:latin typeface="Aptos"/>
                        </a:rPr>
                        <a:t>*None. </a:t>
                      </a:r>
                      <a:endParaRPr lang="en-US" sz="1200" b="0" i="0" u="none" strike="noStrike" kern="1200" noProof="0">
                        <a:solidFill>
                          <a:srgbClr val="000000"/>
                        </a:solidFill>
                        <a:latin typeface="Calibri"/>
                        <a:ea typeface="Calibri"/>
                        <a:cs typeface="Calibri"/>
                      </a:endParaRPr>
                    </a:p>
                    <a:p>
                      <a:pPr marL="0" lvl="0" indent="0" algn="l">
                        <a:lnSpc>
                          <a:spcPct val="100000"/>
                        </a:lnSpc>
                        <a:spcBef>
                          <a:spcPts val="0"/>
                        </a:spcBef>
                        <a:spcAft>
                          <a:spcPts val="0"/>
                        </a:spcAft>
                        <a:buNone/>
                      </a:pPr>
                      <a:r>
                        <a:rPr lang="en-US" sz="1200" b="0" i="0" u="none" strike="noStrike" kern="1200" noProof="0">
                          <a:solidFill>
                            <a:srgbClr val="000000"/>
                          </a:solidFill>
                          <a:latin typeface="Calibri"/>
                          <a:ea typeface="Calibri"/>
                          <a:cs typeface="Calibri"/>
                        </a:rPr>
                        <a:t> </a:t>
                      </a:r>
                      <a:br>
                        <a:rPr lang="en-US" sz="1200" b="0" i="0" u="none" strike="noStrike" kern="1200" noProof="0">
                          <a:solidFill>
                            <a:srgbClr val="000000"/>
                          </a:solidFill>
                          <a:latin typeface="Calibri"/>
                          <a:ea typeface="Calibri"/>
                          <a:cs typeface="Calibri"/>
                        </a:rPr>
                      </a:br>
                      <a:endParaRPr lang="en-US" sz="1000" b="0" i="0" u="none" strike="noStrike" kern="1200" noProof="0">
                        <a:solidFill>
                          <a:srgbClr val="000000"/>
                        </a:solidFill>
                        <a:latin typeface="Aptos Narrow"/>
                        <a:ea typeface="Calibri"/>
                        <a:cs typeface="Calibri"/>
                      </a:endParaRPr>
                    </a:p>
                    <a:p>
                      <a:pPr marL="0" lvl="0" indent="0" algn="l">
                        <a:lnSpc>
                          <a:spcPct val="100000"/>
                        </a:lnSpc>
                        <a:spcBef>
                          <a:spcPts val="0"/>
                        </a:spcBef>
                        <a:spcAft>
                          <a:spcPts val="0"/>
                        </a:spcAft>
                        <a:buNone/>
                      </a:pPr>
                      <a:endParaRPr lang="en-US" sz="1200" b="0" i="0" u="none" strike="noStrike" kern="1200" noProof="0">
                        <a:solidFill>
                          <a:srgbClr val="000000"/>
                        </a:solidFill>
                        <a:latin typeface="Calibri"/>
                        <a:ea typeface="Calibri"/>
                        <a:cs typeface="Calibri"/>
                      </a:endParaRPr>
                    </a:p>
                    <a:p>
                      <a:pPr lvl="0" algn="l">
                        <a:buNone/>
                      </a:pPr>
                      <a:endParaRPr lang="en-US" sz="1400" b="1" u="none" strike="noStrike" kern="1200" cap="none" spc="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285750" indent="-285750" algn="l" fontAlgn="t">
                        <a:buFont typeface="Arial"/>
                        <a:buChar char="•"/>
                      </a:pPr>
                      <a:r>
                        <a:rPr lang="en-US" sz="1400" b="1" u="none" strike="noStrike" kern="1200" cap="none" spc="0">
                          <a:solidFill>
                            <a:schemeClr val="tx1"/>
                          </a:solidFill>
                          <a:effectLst/>
                          <a:latin typeface="Calibri"/>
                          <a:ea typeface="Calibri"/>
                          <a:cs typeface="Calibri"/>
                        </a:rPr>
                        <a:t>Action Needed / Action Taken (for the identified risks/issues): </a:t>
                      </a:r>
                      <a:endParaRPr lang="en-US"/>
                    </a:p>
                    <a:p>
                      <a:pPr marL="285750" lvl="0" indent="-285750" algn="l">
                        <a:buFont typeface="Arial"/>
                        <a:buChar char="•"/>
                      </a:pPr>
                      <a:r>
                        <a:rPr lang="en-US" sz="1100" b="0" i="0" u="none" strike="noStrike" kern="1200" cap="none" spc="0" noProof="0">
                          <a:solidFill>
                            <a:schemeClr val="tx1"/>
                          </a:solidFill>
                          <a:effectLst/>
                        </a:rPr>
                        <a:t>None</a:t>
                      </a:r>
                    </a:p>
                    <a:p>
                      <a:pPr marL="285750" lvl="0" indent="-285750" algn="l">
                        <a:buFont typeface="Arial"/>
                        <a:buChar char="•"/>
                      </a:pPr>
                      <a:endParaRPr lang="en-US" sz="1100" b="0" i="0" u="none" strike="noStrike" kern="1200" cap="none" spc="0" noProof="0">
                        <a:solidFill>
                          <a:schemeClr val="tx1"/>
                        </a:solidFill>
                        <a:effectLst/>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046025">
                <a:tc gridSpan="2">
                  <a:txBody>
                    <a:bodyPr/>
                    <a:lstStyle/>
                    <a:p>
                      <a:pPr algn="l" fontAlgn="t">
                        <a:buNone/>
                      </a:pPr>
                      <a:r>
                        <a:rPr lang="en-US" sz="1400" b="1" u="none" strike="noStrike" kern="1200" cap="none" spc="0">
                          <a:solidFill>
                            <a:schemeClr val="tx1"/>
                          </a:solidFill>
                          <a:effectLst/>
                          <a:latin typeface="Calibri"/>
                          <a:ea typeface="Calibri"/>
                          <a:cs typeface="Calibri"/>
                        </a:rPr>
                        <a:t>Automation Regression Updates : </a:t>
                      </a:r>
                      <a:endParaRPr lang="en-US"/>
                    </a:p>
                    <a:p>
                      <a:pPr marL="171450" lvl="0" indent="-171450" algn="l">
                        <a:buClr>
                          <a:srgbClr val="000000"/>
                        </a:buClr>
                        <a:buFont typeface="Arial"/>
                        <a:buChar char="•"/>
                      </a:pPr>
                      <a:r>
                        <a:rPr lang="en-US" sz="1100" b="0" i="0" u="none" strike="noStrike" kern="1200" cap="none" spc="0" noProof="0">
                          <a:solidFill>
                            <a:schemeClr val="tx1"/>
                          </a:solidFill>
                          <a:effectLst/>
                          <a:latin typeface="Aptos"/>
                        </a:rPr>
                        <a:t>Team sent Business workflow and Baseline regression Test cases for Benefit Grid API and Claims API Features to PO for approval.</a:t>
                      </a:r>
                      <a:endParaRPr lang="en-US" sz="1100" b="0" i="0" u="none" strike="noStrike" kern="1200" cap="none" spc="0" noProof="0">
                        <a:solidFill>
                          <a:schemeClr val="tx1"/>
                        </a:solidFill>
                        <a:effectLst/>
                      </a:endParaRPr>
                    </a:p>
                    <a:p>
                      <a:pPr marL="285750" lvl="0" indent="-285750" algn="l">
                        <a:buClr>
                          <a:srgbClr val="000000"/>
                        </a:buClr>
                        <a:buFont typeface="Arial" panose="020B0604020202020204" pitchFamily="34" charset="0"/>
                        <a:buChar char="•"/>
                      </a:pPr>
                      <a:endParaRPr lang="en-US" sz="1200" b="0" i="0" u="none" strike="noStrike" kern="1200" cap="none" spc="0" noProof="0">
                        <a:solidFill>
                          <a:schemeClr val="tx1"/>
                        </a:solidFill>
                        <a:effectLst/>
                        <a:latin typeface="Calibri"/>
                        <a:ea typeface="Calibri"/>
                        <a:cs typeface="Calibri"/>
                      </a:endParaRPr>
                    </a:p>
                    <a:p>
                      <a:pPr marL="285750" lvl="0" indent="-285750" algn="l">
                        <a:buClr>
                          <a:srgbClr val="000000"/>
                        </a:buClr>
                        <a:buFont typeface="Arial" panose="020B0604020202020204" pitchFamily="34" charset="0"/>
                        <a:buChar char="•"/>
                      </a:pPr>
                      <a:endParaRPr lang="en-US" sz="1200" b="0" i="0" u="none" strike="noStrike" kern="1200" cap="none" spc="0" noProof="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spTree>
    <p:extLst>
      <p:ext uri="{BB962C8B-B14F-4D97-AF65-F5344CB8AC3E}">
        <p14:creationId xmlns:p14="http://schemas.microsoft.com/office/powerpoint/2010/main" val="1602583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3D074-21C0-0C25-4AE8-70852433104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E09074E-06DF-779B-69B8-92CFB86A0BF2}"/>
              </a:ext>
            </a:extLst>
          </p:cNvPr>
          <p:cNvSpPr txBox="1"/>
          <p:nvPr/>
        </p:nvSpPr>
        <p:spPr>
          <a:xfrm>
            <a:off x="757980" y="2177524"/>
            <a:ext cx="10824420"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black"/>
                </a:solidFill>
                <a:effectLst/>
                <a:uLnTx/>
                <a:uFillTx/>
                <a:latin typeface="Aptos" panose="02110004020202020204"/>
                <a:ea typeface="+mn-ea"/>
                <a:cs typeface="+mn-cs"/>
              </a:rPr>
              <a:t>Pre-Adjudication Workstream – Weekly Status Summary</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3399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ADAC5-1AE1-1653-B4C0-0E755BA382B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46424DA-B596-86B7-6322-5192D2F29DD4}"/>
              </a:ext>
            </a:extLst>
          </p:cNvPr>
          <p:cNvGraphicFramePr>
            <a:graphicFrameLocks noGrp="1"/>
          </p:cNvGraphicFramePr>
          <p:nvPr>
            <p:extLst>
              <p:ext uri="{D42A27DB-BD31-4B8C-83A1-F6EECF244321}">
                <p14:modId xmlns:p14="http://schemas.microsoft.com/office/powerpoint/2010/main" val="538395322"/>
              </p:ext>
            </p:extLst>
          </p:nvPr>
        </p:nvGraphicFramePr>
        <p:xfrm>
          <a:off x="14377" y="86264"/>
          <a:ext cx="12146559" cy="6750506"/>
        </p:xfrm>
        <a:graphic>
          <a:graphicData uri="http://schemas.openxmlformats.org/drawingml/2006/table">
            <a:tbl>
              <a:tblPr firstRow="1" bandRow="1">
                <a:noFill/>
                <a:tableStyleId>{5940675A-B579-460E-94D1-54222C63F5DA}</a:tableStyleId>
              </a:tblPr>
              <a:tblGrid>
                <a:gridCol w="1561495">
                  <a:extLst>
                    <a:ext uri="{9D8B030D-6E8A-4147-A177-3AD203B41FA5}">
                      <a16:colId xmlns:a16="http://schemas.microsoft.com/office/drawing/2014/main" val="3592680666"/>
                    </a:ext>
                  </a:extLst>
                </a:gridCol>
                <a:gridCol w="990481">
                  <a:extLst>
                    <a:ext uri="{9D8B030D-6E8A-4147-A177-3AD203B41FA5}">
                      <a16:colId xmlns:a16="http://schemas.microsoft.com/office/drawing/2014/main" val="1654399098"/>
                    </a:ext>
                  </a:extLst>
                </a:gridCol>
                <a:gridCol w="1715103">
                  <a:extLst>
                    <a:ext uri="{9D8B030D-6E8A-4147-A177-3AD203B41FA5}">
                      <a16:colId xmlns:a16="http://schemas.microsoft.com/office/drawing/2014/main" val="157821927"/>
                    </a:ext>
                  </a:extLst>
                </a:gridCol>
                <a:gridCol w="2060146">
                  <a:extLst>
                    <a:ext uri="{9D8B030D-6E8A-4147-A177-3AD203B41FA5}">
                      <a16:colId xmlns:a16="http://schemas.microsoft.com/office/drawing/2014/main" val="2428918094"/>
                    </a:ext>
                  </a:extLst>
                </a:gridCol>
                <a:gridCol w="1423916">
                  <a:extLst>
                    <a:ext uri="{9D8B030D-6E8A-4147-A177-3AD203B41FA5}">
                      <a16:colId xmlns:a16="http://schemas.microsoft.com/office/drawing/2014/main" val="2434076975"/>
                    </a:ext>
                  </a:extLst>
                </a:gridCol>
                <a:gridCol w="1237230">
                  <a:extLst>
                    <a:ext uri="{9D8B030D-6E8A-4147-A177-3AD203B41FA5}">
                      <a16:colId xmlns:a16="http://schemas.microsoft.com/office/drawing/2014/main" val="4168789034"/>
                    </a:ext>
                  </a:extLst>
                </a:gridCol>
                <a:gridCol w="1644914">
                  <a:extLst>
                    <a:ext uri="{9D8B030D-6E8A-4147-A177-3AD203B41FA5}">
                      <a16:colId xmlns:a16="http://schemas.microsoft.com/office/drawing/2014/main" val="1518792060"/>
                    </a:ext>
                  </a:extLst>
                </a:gridCol>
                <a:gridCol w="1513274">
                  <a:extLst>
                    <a:ext uri="{9D8B030D-6E8A-4147-A177-3AD203B41FA5}">
                      <a16:colId xmlns:a16="http://schemas.microsoft.com/office/drawing/2014/main" val="1805739722"/>
                    </a:ext>
                  </a:extLst>
                </a:gridCol>
              </a:tblGrid>
              <a:tr h="808160">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Gladiator</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Integrated Data Delivery</a:t>
                      </a:r>
                      <a:endPar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Amit Kumar/Adithya Kuna/Sabeena</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Release</a:t>
                      </a:r>
                      <a:r>
                        <a:rPr lang="en-US" sz="1400" b="0" u="none" strike="noStrike" cap="none" spc="60">
                          <a:solidFill>
                            <a:schemeClr val="bg1"/>
                          </a:solidFill>
                          <a:effectLst/>
                          <a:latin typeface="Calibri"/>
                          <a:ea typeface="Calibri"/>
                          <a:cs typeface="Calibri"/>
                        </a:rPr>
                        <a:t>: 07/24</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N26.07</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3391103">
                <a:tc gridSpan="8">
                  <a:txBody>
                    <a:bodyPr/>
                    <a:lstStyle/>
                    <a:p>
                      <a:pPr marL="0" lvl="0" indent="0" algn="l">
                        <a:lnSpc>
                          <a:spcPct val="100000"/>
                        </a:lnSpc>
                        <a:spcBef>
                          <a:spcPts val="0"/>
                        </a:spcBef>
                        <a:spcAft>
                          <a:spcPts val="0"/>
                        </a:spcAft>
                        <a:buNone/>
                      </a:pPr>
                      <a:r>
                        <a:rPr lang="en-US" sz="1400" b="1">
                          <a:solidFill>
                            <a:schemeClr val="tx1"/>
                          </a:solidFill>
                          <a:latin typeface="Calibri"/>
                          <a:ea typeface="Calibri"/>
                          <a:cs typeface="Calibri"/>
                        </a:rPr>
                        <a:t>Overall Summary :</a:t>
                      </a:r>
                    </a:p>
                    <a:p>
                      <a:pPr marL="0" lvl="0" indent="0" algn="l">
                        <a:lnSpc>
                          <a:spcPct val="100000"/>
                        </a:lnSpc>
                        <a:spcBef>
                          <a:spcPts val="0"/>
                        </a:spcBef>
                        <a:spcAft>
                          <a:spcPts val="0"/>
                        </a:spcAft>
                        <a:buFont typeface="Arial" panose="020B0604020202020204" pitchFamily="34" charset="0"/>
                        <a:buChar char="•"/>
                      </a:pPr>
                      <a:r>
                        <a:rPr lang="en-US" sz="1200" b="1" i="0" u="none" strike="noStrike" noProof="0">
                          <a:latin typeface="Calibri"/>
                          <a:ea typeface="Calibri"/>
                          <a:cs typeface="Calibri"/>
                        </a:rPr>
                        <a:t>    User Story:  </a:t>
                      </a:r>
                      <a:r>
                        <a:rPr lang="en-US" sz="1200" b="0" i="0" u="none" strike="noStrike" noProof="0"/>
                        <a:t>9241544 - SOLD_LEDGER_EDW_TO_IDD</a:t>
                      </a:r>
                      <a:endParaRPr lang="en-US" sz="1200" b="1" i="0" u="none" strike="noStrike" noProof="0">
                        <a:solidFill>
                          <a:srgbClr val="000000"/>
                        </a:solidFill>
                        <a:latin typeface="Aptos"/>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200" b="1" i="0" u="none" strike="noStrike" noProof="0">
                          <a:solidFill>
                            <a:srgbClr val="000000"/>
                          </a:solidFill>
                          <a:latin typeface="Calibri"/>
                          <a:ea typeface="Calibri"/>
                          <a:cs typeface="Calibri"/>
                        </a:rPr>
                        <a:t>    User Story:  </a:t>
                      </a:r>
                      <a:r>
                        <a:rPr lang="en-US" sz="1200" b="0" i="0" u="none" strike="noStrike" noProof="0">
                          <a:solidFill>
                            <a:srgbClr val="000000"/>
                          </a:solidFill>
                        </a:rPr>
                        <a:t>9237053 RX_AUTH_EDW_TO_IDD</a:t>
                      </a:r>
                      <a:endParaRPr lang="en-US"/>
                    </a:p>
                    <a:p>
                      <a:pPr marL="0" lvl="0" indent="0" algn="l">
                        <a:lnSpc>
                          <a:spcPct val="100000"/>
                        </a:lnSpc>
                        <a:spcBef>
                          <a:spcPts val="0"/>
                        </a:spcBef>
                        <a:spcAft>
                          <a:spcPts val="0"/>
                        </a:spcAft>
                        <a:buClr>
                          <a:srgbClr val="000000"/>
                        </a:buClr>
                        <a:buFont typeface="Arial,Sans-Serif" panose="020B0604020202020204" pitchFamily="34" charset="0"/>
                        <a:buChar char="•"/>
                      </a:pPr>
                      <a:r>
                        <a:rPr lang="en-US" sz="1200" b="1" i="0" u="none" strike="noStrike" noProof="0">
                          <a:solidFill>
                            <a:srgbClr val="000000"/>
                          </a:solidFill>
                          <a:latin typeface="Calibri"/>
                          <a:ea typeface="Calibri"/>
                          <a:cs typeface="Calibri"/>
                        </a:rPr>
                        <a:t>    User Story:  </a:t>
                      </a:r>
                      <a:r>
                        <a:rPr lang="en-US" sz="1200" b="0" i="0" u="none" strike="noStrike" noProof="0">
                          <a:solidFill>
                            <a:srgbClr val="000000"/>
                          </a:solidFill>
                        </a:rPr>
                        <a:t>9248435 XCL_PROVIDER_IDS</a:t>
                      </a:r>
                      <a:endParaRPr lang="en-US" sz="1200" b="0" i="0" u="none" strike="noStrike" noProof="0">
                        <a:solidFill>
                          <a:srgbClr val="000000"/>
                        </a:solidFill>
                        <a:latin typeface="Aptos"/>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200" b="1" i="0" u="none" strike="noStrike" noProof="0">
                          <a:solidFill>
                            <a:srgbClr val="000000"/>
                          </a:solidFill>
                          <a:latin typeface="Calibri"/>
                          <a:ea typeface="Calibri"/>
                          <a:cs typeface="Calibri"/>
                        </a:rPr>
                        <a:t>    User Story:  </a:t>
                      </a:r>
                      <a:r>
                        <a:rPr lang="en-US" sz="1200" b="0" i="0" u="none" strike="noStrike" noProof="0">
                          <a:solidFill>
                            <a:srgbClr val="000000"/>
                          </a:solidFill>
                        </a:rPr>
                        <a:t>9163594 WEB_RXBNFT_COV_NTWK_FULL_LOAD_IDD</a:t>
                      </a:r>
                      <a:endParaRPr lang="en-US"/>
                    </a:p>
                    <a:p>
                      <a:pPr marL="0" lvl="0" indent="0" algn="l">
                        <a:lnSpc>
                          <a:spcPct val="100000"/>
                        </a:lnSpc>
                        <a:spcBef>
                          <a:spcPts val="0"/>
                        </a:spcBef>
                        <a:spcAft>
                          <a:spcPts val="0"/>
                        </a:spcAft>
                        <a:buClr>
                          <a:srgbClr val="000000"/>
                        </a:buClr>
                        <a:buFont typeface="Arial,Sans-Serif" panose="020B0604020202020204" pitchFamily="34" charset="0"/>
                        <a:buChar char="•"/>
                      </a:pPr>
                      <a:r>
                        <a:rPr lang="en-US" sz="1200" b="1" i="0" u="none" strike="noStrike" noProof="0">
                          <a:solidFill>
                            <a:srgbClr val="000000"/>
                          </a:solidFill>
                          <a:latin typeface="Calibri"/>
                          <a:ea typeface="Calibri"/>
                          <a:cs typeface="Calibri"/>
                        </a:rPr>
                        <a:t>    User Story:  </a:t>
                      </a:r>
                      <a:r>
                        <a:rPr lang="en-US" sz="1200" b="0" i="0" u="none" strike="noStrike" noProof="0">
                          <a:solidFill>
                            <a:srgbClr val="000000"/>
                          </a:solidFill>
                        </a:rPr>
                        <a:t>9236931 SOLD_LEDGER_EDW_TO_IDS</a:t>
                      </a:r>
                      <a:endParaRPr lang="en-US"/>
                    </a:p>
                    <a:p>
                      <a:pPr marL="0" lvl="0" indent="0" algn="l">
                        <a:lnSpc>
                          <a:spcPct val="100000"/>
                        </a:lnSpc>
                        <a:spcBef>
                          <a:spcPts val="0"/>
                        </a:spcBef>
                        <a:spcAft>
                          <a:spcPts val="0"/>
                        </a:spcAft>
                        <a:buClr>
                          <a:srgbClr val="000000"/>
                        </a:buClr>
                        <a:buNone/>
                      </a:pPr>
                      <a:r>
                        <a:rPr lang="en-US" sz="1200" b="0" i="0" u="none" strike="noStrike" noProof="0">
                          <a:solidFill>
                            <a:srgbClr val="000000"/>
                          </a:solidFill>
                          <a:latin typeface="Aptos"/>
                        </a:rPr>
                        <a:t>Objective of the user story to migrate from the snaplogic to azure data bricks and validate data flow from source to stage and stage to target tables.</a:t>
                      </a:r>
                      <a:endParaRPr lang="en-US" sz="1200" b="0" i="0" u="none" strike="noStrike" noProof="0">
                        <a:solidFill>
                          <a:srgbClr val="000000"/>
                        </a:solidFill>
                      </a:endParaRPr>
                    </a:p>
                    <a:p>
                      <a:pPr marL="0" lvl="0" indent="0" algn="l">
                        <a:lnSpc>
                          <a:spcPct val="100000"/>
                        </a:lnSpc>
                        <a:spcBef>
                          <a:spcPts val="0"/>
                        </a:spcBef>
                        <a:spcAft>
                          <a:spcPts val="0"/>
                        </a:spcAft>
                        <a:buClr>
                          <a:srgbClr val="000000"/>
                        </a:buClr>
                        <a:buNone/>
                      </a:pPr>
                      <a:endParaRPr lang="en-US" sz="1200" b="0" i="0" u="none" strike="noStrike" noProof="0">
                        <a:solidFill>
                          <a:srgbClr val="000000"/>
                        </a:solidFill>
                      </a:endParaRPr>
                    </a:p>
                    <a:p>
                      <a:pPr marL="457200" lvl="1" indent="0" algn="l">
                        <a:lnSpc>
                          <a:spcPct val="100000"/>
                        </a:lnSpc>
                        <a:spcBef>
                          <a:spcPts val="0"/>
                        </a:spcBef>
                        <a:spcAft>
                          <a:spcPts val="0"/>
                        </a:spcAft>
                        <a:buClr>
                          <a:srgbClr val="000000"/>
                        </a:buClr>
                        <a:buNone/>
                      </a:pPr>
                      <a:endParaRPr lang="en-US" sz="1200" b="0" i="0" u="none" strike="noStrike" noProof="0">
                        <a:solidFill>
                          <a:srgbClr val="000000"/>
                        </a:solidFill>
                        <a:latin typeface="Calibri"/>
                        <a:ea typeface="Calibri"/>
                        <a:cs typeface="Calibri"/>
                      </a:endParaRPr>
                    </a:p>
                    <a:p>
                      <a:pPr marL="457200" lvl="1" indent="0" algn="l">
                        <a:lnSpc>
                          <a:spcPct val="100000"/>
                        </a:lnSpc>
                        <a:spcBef>
                          <a:spcPts val="0"/>
                        </a:spcBef>
                        <a:spcAft>
                          <a:spcPts val="0"/>
                        </a:spcAft>
                        <a:buClr>
                          <a:srgbClr val="000000"/>
                        </a:buClr>
                        <a:buNone/>
                      </a:pPr>
                      <a:endParaRPr lang="en-US" sz="1200" b="0" i="0" u="none" strike="noStrike" noProof="0">
                        <a:solidFill>
                          <a:srgbClr val="000000"/>
                        </a:solidFill>
                        <a:latin typeface="Calibri"/>
                        <a:ea typeface="Calibri"/>
                        <a:cs typeface="Calibri"/>
                      </a:endParaRPr>
                    </a:p>
                    <a:p>
                      <a:pPr marL="457200" lvl="1" indent="0" algn="l">
                        <a:lnSpc>
                          <a:spcPct val="100000"/>
                        </a:lnSpc>
                        <a:spcBef>
                          <a:spcPts val="0"/>
                        </a:spcBef>
                        <a:spcAft>
                          <a:spcPts val="0"/>
                        </a:spcAft>
                        <a:buNone/>
                      </a:pPr>
                      <a:endParaRPr lang="en-US" sz="1200" b="0" i="0" u="none" strike="noStrike" noProof="0">
                        <a:latin typeface="Calibri"/>
                        <a:ea typeface="Calibri"/>
                        <a:cs typeface="Calibri"/>
                      </a:endParaRPr>
                    </a:p>
                    <a:p>
                      <a:pPr marL="0" lvl="0" indent="0" algn="l">
                        <a:lnSpc>
                          <a:spcPct val="100000"/>
                        </a:lnSpc>
                        <a:spcBef>
                          <a:spcPts val="0"/>
                        </a:spcBef>
                        <a:spcAft>
                          <a:spcPts val="0"/>
                        </a:spcAft>
                        <a:buFont typeface="Arial" panose="020B0604020202020204" pitchFamily="34" charset="0"/>
                        <a:buChar char="•"/>
                      </a:pPr>
                      <a:endParaRPr lang="en-US" sz="1200" b="0" i="0" u="none" strike="noStrike" noProof="0">
                        <a:latin typeface="Segoe UI"/>
                        <a:cs typeface="Segoe UI"/>
                      </a:endParaRPr>
                    </a:p>
                  </a:txBody>
                  <a:tcPr marL="108022" marR="12002" marT="124687" marB="0">
                    <a:lnL w="12700" cmpd="sng">
                      <a:noFill/>
                    </a:lnL>
                    <a:lnR w="12700" cmpd="sng">
                      <a:noFill/>
                    </a:lnR>
                    <a:lnT w="19050" cap="flat" cmpd="sng" algn="ctr">
                      <a:noFill/>
                      <a:prstDash val="solid"/>
                    </a:lnT>
                    <a:lnB w="19050" cap="flat" cmpd="sng" algn="ctr">
                      <a:noFill/>
                      <a:prstDash val="soli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2551243">
                <a:tc gridSpan="8">
                  <a:txBody>
                    <a:bodyPr/>
                    <a:lstStyle/>
                    <a:p>
                      <a:pPr marL="171450" lvl="0" indent="-171450" algn="l">
                        <a:lnSpc>
                          <a:spcPct val="100000"/>
                        </a:lnSpc>
                        <a:spcBef>
                          <a:spcPts val="0"/>
                        </a:spcBef>
                        <a:spcAft>
                          <a:spcPts val="0"/>
                        </a:spcAft>
                        <a:buFont typeface="Arial"/>
                        <a:buChar char="•"/>
                      </a:pPr>
                      <a:endParaRPr lang="en-US" sz="1200" b="0" i="0" u="none" strike="noStrike" noProof="0">
                        <a:latin typeface="Segoe UI"/>
                        <a:cs typeface="Segoe UI"/>
                      </a:endParaRPr>
                    </a:p>
                  </a:txBody>
                  <a:tcPr marL="108022" marR="12001" marT="124687" marB="0">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64868165"/>
                  </a:ext>
                </a:extLst>
              </a:tr>
            </a:tbl>
          </a:graphicData>
        </a:graphic>
      </p:graphicFrame>
      <p:graphicFrame>
        <p:nvGraphicFramePr>
          <p:cNvPr id="3" name="Table 2">
            <a:extLst>
              <a:ext uri="{FF2B5EF4-FFF2-40B4-BE49-F238E27FC236}">
                <a16:creationId xmlns:a16="http://schemas.microsoft.com/office/drawing/2014/main" id="{B4FE0E41-D452-615A-1329-89E68E990116}"/>
              </a:ext>
            </a:extLst>
          </p:cNvPr>
          <p:cNvGraphicFramePr>
            <a:graphicFrameLocks noGrp="1"/>
          </p:cNvGraphicFramePr>
          <p:nvPr>
            <p:extLst>
              <p:ext uri="{D42A27DB-BD31-4B8C-83A1-F6EECF244321}">
                <p14:modId xmlns:p14="http://schemas.microsoft.com/office/powerpoint/2010/main" val="1718534336"/>
              </p:ext>
            </p:extLst>
          </p:nvPr>
        </p:nvGraphicFramePr>
        <p:xfrm>
          <a:off x="188060" y="4155461"/>
          <a:ext cx="11716654" cy="1286741"/>
        </p:xfrm>
        <a:graphic>
          <a:graphicData uri="http://schemas.openxmlformats.org/drawingml/2006/table">
            <a:tbl>
              <a:tblPr firstRow="1" bandRow="1">
                <a:noFill/>
                <a:tableStyleId>{5940675A-B579-460E-94D1-54222C63F5DA}</a:tableStyleId>
              </a:tblPr>
              <a:tblGrid>
                <a:gridCol w="5540892">
                  <a:extLst>
                    <a:ext uri="{9D8B030D-6E8A-4147-A177-3AD203B41FA5}">
                      <a16:colId xmlns:a16="http://schemas.microsoft.com/office/drawing/2014/main" val="3592680666"/>
                    </a:ext>
                  </a:extLst>
                </a:gridCol>
                <a:gridCol w="5883650">
                  <a:extLst>
                    <a:ext uri="{9D8B030D-6E8A-4147-A177-3AD203B41FA5}">
                      <a16:colId xmlns:a16="http://schemas.microsoft.com/office/drawing/2014/main" val="1654399098"/>
                    </a:ext>
                  </a:extLst>
                </a:gridCol>
                <a:gridCol w="146056">
                  <a:extLst>
                    <a:ext uri="{9D8B030D-6E8A-4147-A177-3AD203B41FA5}">
                      <a16:colId xmlns:a16="http://schemas.microsoft.com/office/drawing/2014/main" val="2458353706"/>
                    </a:ext>
                  </a:extLst>
                </a:gridCol>
                <a:gridCol w="146056">
                  <a:extLst>
                    <a:ext uri="{9D8B030D-6E8A-4147-A177-3AD203B41FA5}">
                      <a16:colId xmlns:a16="http://schemas.microsoft.com/office/drawing/2014/main" val="2395867540"/>
                    </a:ext>
                  </a:extLst>
                </a:gridCol>
              </a:tblGrid>
              <a:tr h="707708">
                <a:tc>
                  <a:txBody>
                    <a:bodyPr/>
                    <a:lstStyle/>
                    <a:p>
                      <a:pPr algn="l" fontAlgn="t">
                        <a:buNone/>
                      </a:pPr>
                      <a:r>
                        <a:rPr lang="en-US" sz="1400" b="1" u="none" strike="noStrike" kern="1200" cap="none" spc="0">
                          <a:solidFill>
                            <a:schemeClr val="tx1"/>
                          </a:solidFill>
                          <a:effectLst/>
                          <a:latin typeface="Calibri"/>
                          <a:ea typeface="Calibri"/>
                          <a:cs typeface="Calibri"/>
                        </a:rPr>
                        <a:t>Challenges (risks / issues): </a:t>
                      </a:r>
                      <a:endParaRPr lang="en-US" sz="1400" b="0" u="none" strike="noStrike" kern="1200" cap="none" spc="0">
                        <a:solidFill>
                          <a:schemeClr val="tx1"/>
                        </a:solidFill>
                        <a:effectLst/>
                        <a:latin typeface="Calibri"/>
                        <a:ea typeface="Calibri"/>
                        <a:cs typeface="Calibri"/>
                      </a:endParaRP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NA</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400" b="1" u="none" strike="noStrike" kern="1200" cap="none" spc="0">
                          <a:solidFill>
                            <a:schemeClr val="tx1"/>
                          </a:solidFill>
                          <a:effectLst/>
                          <a:latin typeface="Calibri"/>
                          <a:ea typeface="Calibri"/>
                          <a:cs typeface="Calibri"/>
                        </a:rPr>
                        <a:t>Action Needed / Action Taken (for the identified risks/issues): </a:t>
                      </a:r>
                      <a:endParaRPr lang="en-US" sz="1400" b="0" u="none" strike="noStrike" kern="1200" cap="none" spc="0">
                        <a:solidFill>
                          <a:schemeClr val="tx1"/>
                        </a:solidFill>
                        <a:effectLst/>
                        <a:latin typeface="Calibri"/>
                        <a:ea typeface="Calibri"/>
                        <a:cs typeface="Calibri"/>
                      </a:endParaRP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NA</a:t>
                      </a:r>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lvl="0" indent="0" algn="l">
                        <a:buNone/>
                      </a:pPr>
                      <a:endParaRPr lang="en-US" sz="1200" b="0" u="none" strike="noStrike" kern="1200" cap="none" spc="0">
                        <a:solidFill>
                          <a:schemeClr val="tx1"/>
                        </a:solidFill>
                        <a:effectLst/>
                        <a:latin typeface="Calibri"/>
                        <a:ea typeface="Calibri"/>
                        <a:cs typeface="Calibri"/>
                      </a:endParaRPr>
                    </a:p>
                  </a:txBody>
                  <a:tcPr marL="12001" marR="12001" marT="124687" marB="0">
                    <a:lnL w="12700">
                      <a:solidFill>
                        <a:schemeClr val="bg1">
                          <a:lumMod val="85000"/>
                        </a:schemeClr>
                      </a:solidFill>
                    </a:lnL>
                    <a:lnR w="12700" cap="flat" cmpd="sng" algn="ctr">
                      <a:solidFill>
                        <a:schemeClr val="bg1">
                          <a:lumMod val="85000"/>
                        </a:schemeClr>
                      </a:solidFill>
                      <a:prstDash val="solid"/>
                      <a:round/>
                      <a:headEnd type="none" w="med" len="med"/>
                      <a:tailEnd type="none" w="med" len="med"/>
                    </a:lnR>
                    <a:lnT w="12700">
                      <a:solidFill>
                        <a:schemeClr val="bg1">
                          <a:lumMod val="85000"/>
                        </a:schemeClr>
                      </a:solidFill>
                    </a:lnT>
                    <a:lnB w="12700">
                      <a:solidFill>
                        <a:schemeClr val="bg1">
                          <a:lumMod val="85000"/>
                        </a:schemeClr>
                      </a:solidFill>
                    </a:lnB>
                    <a:lnTlToBr w="0">
                      <a:noFill/>
                    </a:lnTlToBr>
                    <a:lnBlToTr w="0">
                      <a:noFill/>
                    </a:lnBlToTr>
                    <a:solidFill>
                      <a:schemeClr val="bg2"/>
                    </a:solidFill>
                  </a:tcPr>
                </a:tc>
                <a:tc>
                  <a:txBody>
                    <a:bodyPr/>
                    <a:lstStyle/>
                    <a:p>
                      <a:pPr marL="0" lvl="0" indent="0" algn="l">
                        <a:buNone/>
                      </a:pPr>
                      <a:endParaRPr lang="en-US" sz="1200" b="0" u="none" strike="noStrike" kern="1200" cap="none" spc="0">
                        <a:solidFill>
                          <a:schemeClr val="tx1"/>
                        </a:solidFill>
                        <a:effectLst/>
                        <a:latin typeface="Calibri"/>
                        <a:ea typeface="Calibri"/>
                        <a:cs typeface="Calibri"/>
                      </a:endParaRPr>
                    </a:p>
                  </a:txBody>
                  <a:tcPr marL="12001" marR="12001" marT="124687" marB="0">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lnTlToBr w="0">
                      <a:noFill/>
                    </a:lnTlToBr>
                    <a:lnBlToTr w="0">
                      <a:noFill/>
                    </a:lnBlToTr>
                    <a:solidFill>
                      <a:schemeClr val="bg2"/>
                    </a:solidFill>
                  </a:tcPr>
                </a:tc>
                <a:extLst>
                  <a:ext uri="{0D108BD9-81ED-4DB2-BD59-A6C34878D82A}">
                    <a16:rowId xmlns:a16="http://schemas.microsoft.com/office/drawing/2014/main" val="2868573265"/>
                  </a:ext>
                </a:extLst>
              </a:tr>
              <a:tr h="579033">
                <a:tc gridSpan="2">
                  <a:txBody>
                    <a:bodyPr/>
                    <a:lstStyle/>
                    <a:p>
                      <a:pPr marL="0" indent="0" algn="l" fontAlgn="t">
                        <a:buNone/>
                      </a:pPr>
                      <a:r>
                        <a:rPr lang="en-US" sz="1400" b="1" u="none" strike="noStrike" kern="1200" cap="none" spc="0">
                          <a:solidFill>
                            <a:schemeClr val="tx1"/>
                          </a:solidFill>
                          <a:effectLst/>
                          <a:latin typeface="Calibri"/>
                          <a:ea typeface="Calibri"/>
                          <a:cs typeface="Calibri"/>
                        </a:rPr>
                        <a:t>Automation Regression Updates : </a:t>
                      </a:r>
                      <a:br>
                        <a:rPr lang="en-US" sz="1400" b="1" u="none" strike="noStrike" kern="1200" cap="none" spc="0">
                          <a:solidFill>
                            <a:srgbClr val="000000"/>
                          </a:solidFill>
                          <a:effectLst/>
                          <a:latin typeface="Calibri"/>
                          <a:ea typeface="Calibri"/>
                          <a:cs typeface="Calibri"/>
                        </a:rPr>
                      </a:br>
                      <a:r>
                        <a:rPr lang="en-US" sz="1400" b="0" u="none" strike="noStrike" kern="1200" cap="none" spc="0">
                          <a:solidFill>
                            <a:schemeClr val="tx1"/>
                          </a:solidFill>
                          <a:effectLst/>
                          <a:latin typeface="Calibri"/>
                          <a:ea typeface="Calibri"/>
                          <a:cs typeface="Calibri"/>
                        </a:rPr>
                        <a:t> Automation Execution for Regression test cases  is in-progress.</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tc>
                  <a:txBody>
                    <a:bodyPr/>
                    <a:lstStyle/>
                    <a:p>
                      <a:pPr marL="0" lvl="0" indent="0" algn="l">
                        <a:buNone/>
                      </a:pPr>
                      <a:endParaRPr lang="en-US" sz="1400" b="0" u="none" strike="noStrike" kern="1200" cap="none" spc="0">
                        <a:solidFill>
                          <a:schemeClr val="tx1"/>
                        </a:solidFill>
                        <a:effectLst/>
                        <a:latin typeface="Calibri"/>
                        <a:ea typeface="Calibri"/>
                        <a:cs typeface="Calibri"/>
                      </a:endParaRPr>
                    </a:p>
                  </a:txBody>
                  <a:tcPr marL="108022" marR="12001" marT="124687" marB="0">
                    <a:lnL w="12700">
                      <a:solidFill>
                        <a:schemeClr val="bg1">
                          <a:lumMod val="85000"/>
                        </a:schemeClr>
                      </a:solidFill>
                    </a:lnL>
                    <a:lnR w="12700" cap="flat" cmpd="sng" algn="ctr">
                      <a:solidFill>
                        <a:schemeClr val="bg1">
                          <a:lumMod val="85000"/>
                        </a:schemeClr>
                      </a:solidFill>
                      <a:prstDash val="solid"/>
                      <a:round/>
                      <a:headEnd type="none" w="med" len="med"/>
                      <a:tailEnd type="none" w="med" len="med"/>
                    </a:lnR>
                    <a:lnT w="12700">
                      <a:solidFill>
                        <a:schemeClr val="bg1">
                          <a:lumMod val="85000"/>
                        </a:schemeClr>
                      </a:solidFill>
                    </a:lnT>
                    <a:lnB w="12700">
                      <a:solidFill>
                        <a:schemeClr val="bg1">
                          <a:lumMod val="85000"/>
                        </a:schemeClr>
                      </a:solidFill>
                    </a:lnB>
                    <a:lnTlToBr w="0">
                      <a:noFill/>
                    </a:lnTlToBr>
                    <a:lnBlToTr w="0">
                      <a:noFill/>
                    </a:lnBlToTr>
                    <a:noFill/>
                  </a:tcPr>
                </a:tc>
                <a:tc>
                  <a:txBody>
                    <a:bodyPr/>
                    <a:lstStyle/>
                    <a:p>
                      <a:pPr marL="0" lvl="0" indent="0" algn="l">
                        <a:buNone/>
                      </a:pPr>
                      <a:endParaRPr lang="en-US" sz="1400" b="0" u="none" strike="noStrike" kern="1200" cap="none" spc="0">
                        <a:solidFill>
                          <a:schemeClr val="tx1"/>
                        </a:solidFill>
                        <a:effectLst/>
                        <a:latin typeface="Calibri"/>
                        <a:ea typeface="Calibri"/>
                        <a:cs typeface="Calibri"/>
                      </a:endParaRPr>
                    </a:p>
                  </a:txBody>
                  <a:tcPr marL="108022" marR="12001" marT="124687" marB="0">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lnTlToBr w="0">
                      <a:noFill/>
                    </a:lnTlToBr>
                    <a:lnBlToTr w="0">
                      <a:noFill/>
                    </a:lnBlToTr>
                    <a:noFill/>
                  </a:tcPr>
                </a:tc>
                <a:extLst>
                  <a:ext uri="{0D108BD9-81ED-4DB2-BD59-A6C34878D82A}">
                    <a16:rowId xmlns:a16="http://schemas.microsoft.com/office/drawing/2014/main" val="3767854269"/>
                  </a:ext>
                </a:extLst>
              </a:tr>
            </a:tbl>
          </a:graphicData>
        </a:graphic>
      </p:graphicFrame>
      <p:graphicFrame>
        <p:nvGraphicFramePr>
          <p:cNvPr id="6" name="Table 5">
            <a:extLst>
              <a:ext uri="{FF2B5EF4-FFF2-40B4-BE49-F238E27FC236}">
                <a16:creationId xmlns:a16="http://schemas.microsoft.com/office/drawing/2014/main" id="{ABE0FBDA-7774-D07E-CEEE-BB28506DB3C8}"/>
              </a:ext>
            </a:extLst>
          </p:cNvPr>
          <p:cNvGraphicFramePr>
            <a:graphicFrameLocks noGrp="1"/>
          </p:cNvGraphicFramePr>
          <p:nvPr>
            <p:extLst>
              <p:ext uri="{D42A27DB-BD31-4B8C-83A1-F6EECF244321}">
                <p14:modId xmlns:p14="http://schemas.microsoft.com/office/powerpoint/2010/main" val="3835005036"/>
              </p:ext>
            </p:extLst>
          </p:nvPr>
        </p:nvGraphicFramePr>
        <p:xfrm>
          <a:off x="188060" y="2624205"/>
          <a:ext cx="11789249" cy="1001864"/>
        </p:xfrm>
        <a:graphic>
          <a:graphicData uri="http://schemas.openxmlformats.org/drawingml/2006/table">
            <a:tbl>
              <a:tblPr bandRow="1">
                <a:tableStyleId>{5C22544A-7EE6-4342-B048-85BDC9FD1C3A}</a:tableStyleId>
              </a:tblPr>
              <a:tblGrid>
                <a:gridCol w="1564499">
                  <a:extLst>
                    <a:ext uri="{9D8B030D-6E8A-4147-A177-3AD203B41FA5}">
                      <a16:colId xmlns:a16="http://schemas.microsoft.com/office/drawing/2014/main" val="1116440512"/>
                    </a:ext>
                  </a:extLst>
                </a:gridCol>
                <a:gridCol w="974554">
                  <a:extLst>
                    <a:ext uri="{9D8B030D-6E8A-4147-A177-3AD203B41FA5}">
                      <a16:colId xmlns:a16="http://schemas.microsoft.com/office/drawing/2014/main" val="3514494943"/>
                    </a:ext>
                  </a:extLst>
                </a:gridCol>
                <a:gridCol w="1600423">
                  <a:extLst>
                    <a:ext uri="{9D8B030D-6E8A-4147-A177-3AD203B41FA5}">
                      <a16:colId xmlns:a16="http://schemas.microsoft.com/office/drawing/2014/main" val="3611586628"/>
                    </a:ext>
                  </a:extLst>
                </a:gridCol>
                <a:gridCol w="1391776">
                  <a:extLst>
                    <a:ext uri="{9D8B030D-6E8A-4147-A177-3AD203B41FA5}">
                      <a16:colId xmlns:a16="http://schemas.microsoft.com/office/drawing/2014/main" val="3475452919"/>
                    </a:ext>
                  </a:extLst>
                </a:gridCol>
                <a:gridCol w="1688934">
                  <a:extLst>
                    <a:ext uri="{9D8B030D-6E8A-4147-A177-3AD203B41FA5}">
                      <a16:colId xmlns:a16="http://schemas.microsoft.com/office/drawing/2014/main" val="1685592383"/>
                    </a:ext>
                  </a:extLst>
                </a:gridCol>
                <a:gridCol w="1162215">
                  <a:extLst>
                    <a:ext uri="{9D8B030D-6E8A-4147-A177-3AD203B41FA5}">
                      <a16:colId xmlns:a16="http://schemas.microsoft.com/office/drawing/2014/main" val="2859634602"/>
                    </a:ext>
                  </a:extLst>
                </a:gridCol>
                <a:gridCol w="1791751">
                  <a:extLst>
                    <a:ext uri="{9D8B030D-6E8A-4147-A177-3AD203B41FA5}">
                      <a16:colId xmlns:a16="http://schemas.microsoft.com/office/drawing/2014/main" val="3631207108"/>
                    </a:ext>
                  </a:extLst>
                </a:gridCol>
                <a:gridCol w="1615097">
                  <a:extLst>
                    <a:ext uri="{9D8B030D-6E8A-4147-A177-3AD203B41FA5}">
                      <a16:colId xmlns:a16="http://schemas.microsoft.com/office/drawing/2014/main" val="3421451580"/>
                    </a:ext>
                  </a:extLst>
                </a:gridCol>
              </a:tblGrid>
              <a:tr h="675169">
                <a:tc>
                  <a:txBody>
                    <a:bodyPr/>
                    <a:lstStyle/>
                    <a:p>
                      <a:pPr marL="0" marR="0" indent="0" algn="ctr" rtl="0" fontAlgn="base">
                        <a:lnSpc>
                          <a:spcPts val="675"/>
                        </a:lnSpc>
                        <a:buNone/>
                      </a:pPr>
                      <a:r>
                        <a:rPr lang="en-US" sz="1000" b="1" i="0" u="none" strike="noStrike">
                          <a:solidFill>
                            <a:srgbClr val="000000"/>
                          </a:solidFill>
                          <a:effectLst/>
                          <a:latin typeface="Aptos Narrow"/>
                        </a:rPr>
                        <a:t># User stories</a:t>
                      </a:r>
                      <a:endParaRPr lang="en-US" sz="900" b="0" i="0">
                        <a:solidFill>
                          <a:srgbClr val="000000"/>
                        </a:solidFill>
                        <a:effectLst/>
                        <a:latin typeface="Segoe UI"/>
                      </a:endParaRPr>
                    </a:p>
                  </a:txBody>
                  <a:tcPr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indent="0" algn="ctr" rtl="0" fontAlgn="base">
                        <a:lnSpc>
                          <a:spcPts val="675"/>
                        </a:lnSpc>
                        <a:buNone/>
                      </a:pPr>
                      <a:r>
                        <a:rPr lang="en-US" sz="1000" b="1" i="0" u="none" strike="noStrike">
                          <a:solidFill>
                            <a:srgbClr val="000000"/>
                          </a:solidFill>
                          <a:effectLst/>
                          <a:latin typeface="Aptos Narrow"/>
                        </a:rPr>
                        <a:t>Test design Status</a:t>
                      </a:r>
                      <a:endParaRPr lang="en-US" sz="900" b="0" i="0">
                        <a:solidFill>
                          <a:srgbClr val="000000"/>
                        </a:solidFill>
                        <a:effectLst/>
                        <a:latin typeface="Segoe U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indent="0" algn="ctr" rtl="0" fontAlgn="base">
                        <a:lnSpc>
                          <a:spcPts val="675"/>
                        </a:lnSpc>
                        <a:buNone/>
                      </a:pPr>
                      <a:r>
                        <a:rPr lang="en-US" sz="1000" b="1" i="0" u="none" strike="noStrike">
                          <a:solidFill>
                            <a:srgbClr val="000000"/>
                          </a:solidFill>
                          <a:effectLst/>
                          <a:latin typeface="Aptos Narrow"/>
                        </a:rPr>
                        <a:t>Test Design %</a:t>
                      </a:r>
                      <a:endParaRPr lang="en-US" sz="900" b="0" i="0">
                        <a:solidFill>
                          <a:srgbClr val="000000"/>
                        </a:solidFill>
                        <a:effectLst/>
                        <a:latin typeface="Segoe U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indent="0" algn="ctr" rtl="0" fontAlgn="base">
                        <a:lnSpc>
                          <a:spcPts val="675"/>
                        </a:lnSpc>
                        <a:buNone/>
                      </a:pPr>
                      <a:r>
                        <a:rPr lang="en-US" sz="1000" b="1" i="0" u="none" strike="noStrike">
                          <a:solidFill>
                            <a:srgbClr val="000000"/>
                          </a:solidFill>
                          <a:effectLst/>
                          <a:latin typeface="Aptos Narrow"/>
                        </a:rPr>
                        <a:t>Test Design though AI tools ( Sulphur/Strider)</a:t>
                      </a:r>
                      <a:endParaRPr lang="en-US" sz="900" b="0" i="0">
                        <a:solidFill>
                          <a:srgbClr val="000000"/>
                        </a:solidFill>
                        <a:effectLst/>
                        <a:latin typeface="Segoe U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indent="0" algn="ctr" rtl="0" fontAlgn="base">
                        <a:lnSpc>
                          <a:spcPts val="675"/>
                        </a:lnSpc>
                        <a:buNone/>
                      </a:pPr>
                      <a:r>
                        <a:rPr lang="en-US" sz="1000" b="1" i="0" u="none" strike="noStrike">
                          <a:solidFill>
                            <a:srgbClr val="000000"/>
                          </a:solidFill>
                          <a:effectLst/>
                          <a:latin typeface="Aptos Narrow"/>
                        </a:rPr>
                        <a:t>Test Execution Status</a:t>
                      </a:r>
                      <a:endParaRPr lang="en-US" sz="900" b="0" i="0">
                        <a:solidFill>
                          <a:srgbClr val="000000"/>
                        </a:solidFill>
                        <a:effectLst/>
                        <a:latin typeface="Segoe U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indent="0" algn="ctr" rtl="0" fontAlgn="base">
                        <a:lnSpc>
                          <a:spcPts val="675"/>
                        </a:lnSpc>
                        <a:buNone/>
                      </a:pPr>
                      <a:r>
                        <a:rPr lang="en-US" sz="1000" b="1" i="0" u="none" strike="noStrike">
                          <a:solidFill>
                            <a:srgbClr val="000000"/>
                          </a:solidFill>
                          <a:effectLst/>
                          <a:latin typeface="Aptos Narrow"/>
                        </a:rPr>
                        <a:t>Test Execution %</a:t>
                      </a:r>
                      <a:endParaRPr lang="en-US" sz="900" b="0" i="0">
                        <a:solidFill>
                          <a:srgbClr val="000000"/>
                        </a:solidFill>
                        <a:effectLst/>
                        <a:latin typeface="Segoe U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indent="0" algn="ctr" rtl="0" fontAlgn="base">
                        <a:lnSpc>
                          <a:spcPts val="675"/>
                        </a:lnSpc>
                        <a:buNone/>
                      </a:pPr>
                      <a:r>
                        <a:rPr lang="en-US" sz="1000" b="1" i="0" u="none" strike="noStrike">
                          <a:solidFill>
                            <a:srgbClr val="000000"/>
                          </a:solidFill>
                          <a:effectLst/>
                          <a:latin typeface="Aptos Narrow"/>
                        </a:rPr>
                        <a:t>Testing Completion date</a:t>
                      </a:r>
                      <a:endParaRPr lang="en-US" sz="900" b="0" i="0">
                        <a:solidFill>
                          <a:srgbClr val="000000"/>
                        </a:solidFill>
                        <a:effectLst/>
                        <a:latin typeface="Segoe U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marL="0" marR="0" indent="0" algn="ctr" rtl="0" fontAlgn="base">
                        <a:lnSpc>
                          <a:spcPts val="675"/>
                        </a:lnSpc>
                        <a:buNone/>
                      </a:pPr>
                      <a:r>
                        <a:rPr lang="en-US" sz="1000" b="1" i="0" u="none" strike="noStrike">
                          <a:solidFill>
                            <a:srgbClr val="000000"/>
                          </a:solidFill>
                          <a:effectLst/>
                          <a:latin typeface="Aptos Narrow"/>
                        </a:rPr>
                        <a:t>Release date</a:t>
                      </a:r>
                      <a:endParaRPr lang="en-US" sz="900" b="0" i="0">
                        <a:solidFill>
                          <a:srgbClr val="000000"/>
                        </a:solidFill>
                        <a:effectLst/>
                        <a:latin typeface="Segoe U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extLst>
                  <a:ext uri="{0D108BD9-81ED-4DB2-BD59-A6C34878D82A}">
                    <a16:rowId xmlns:a16="http://schemas.microsoft.com/office/drawing/2014/main" val="103098740"/>
                  </a:ext>
                </a:extLst>
              </a:tr>
              <a:tr h="326695">
                <a:tc>
                  <a:txBody>
                    <a:bodyPr/>
                    <a:lstStyle/>
                    <a:p>
                      <a:pPr marL="0" marR="0" indent="0" algn="ctr" rtl="0" fontAlgn="base">
                        <a:lnSpc>
                          <a:spcPts val="675"/>
                        </a:lnSpc>
                        <a:buNone/>
                      </a:pPr>
                      <a:r>
                        <a:rPr lang="en-IN" sz="1000" b="0" i="0" u="none" strike="noStrike">
                          <a:solidFill>
                            <a:srgbClr val="000000"/>
                          </a:solidFill>
                          <a:effectLst/>
                          <a:latin typeface="Aptos Narrow"/>
                        </a:rPr>
                        <a:t>10 US(Snaplogic to Databricks Migration)</a:t>
                      </a:r>
                      <a:endParaRPr lang="en-US"/>
                    </a:p>
                  </a:txBody>
                  <a:tcPr marL="5315" marR="5315" marT="531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ctr" rtl="0" fontAlgn="base">
                        <a:lnSpc>
                          <a:spcPts val="675"/>
                        </a:lnSpc>
                        <a:buNone/>
                      </a:pPr>
                      <a:r>
                        <a:rPr lang="en-US" sz="1000" b="0" i="0" u="none" strike="noStrike">
                          <a:solidFill>
                            <a:srgbClr val="000000"/>
                          </a:solidFill>
                          <a:effectLst/>
                          <a:latin typeface="Aptos Narrow"/>
                        </a:rPr>
                        <a:t>In Progress</a:t>
                      </a:r>
                    </a:p>
                  </a:txBody>
                  <a:tcPr marL="5315" marR="5315" marT="531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ctr">
                        <a:lnSpc>
                          <a:spcPts val="675"/>
                        </a:lnSpc>
                        <a:buNone/>
                      </a:pPr>
                      <a:r>
                        <a:rPr lang="en-US" sz="1000" b="0" i="0" u="none" strike="noStrike">
                          <a:solidFill>
                            <a:srgbClr val="000000"/>
                          </a:solidFill>
                          <a:effectLst/>
                          <a:latin typeface="Aptos Narrow"/>
                        </a:rPr>
                        <a:t>75%</a:t>
                      </a:r>
                      <a:endParaRPr lang="en-US"/>
                    </a:p>
                  </a:txBody>
                  <a:tcPr marL="5315" marR="5315" marT="531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ctr">
                        <a:lnSpc>
                          <a:spcPts val="675"/>
                        </a:lnSpc>
                        <a:buNone/>
                      </a:pPr>
                      <a:r>
                        <a:rPr lang="en-US" sz="1000" b="0" i="0" u="none" strike="noStrike">
                          <a:solidFill>
                            <a:srgbClr val="000000"/>
                          </a:solidFill>
                          <a:effectLst/>
                          <a:latin typeface="Aptos Narrow"/>
                        </a:rPr>
                        <a:t>30%</a:t>
                      </a:r>
                      <a:endParaRPr lang="en-US"/>
                    </a:p>
                  </a:txBody>
                  <a:tcPr marL="5315" marR="5315" marT="531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ctr">
                        <a:lnSpc>
                          <a:spcPts val="675"/>
                        </a:lnSpc>
                        <a:buNone/>
                      </a:pPr>
                      <a:r>
                        <a:rPr lang="en-US" sz="1000" b="0" i="0" u="none" strike="noStrike">
                          <a:solidFill>
                            <a:srgbClr val="000000"/>
                          </a:solidFill>
                          <a:effectLst/>
                          <a:latin typeface="Aptos Narrow"/>
                        </a:rPr>
                        <a:t>Execution is in Progress</a:t>
                      </a:r>
                    </a:p>
                  </a:txBody>
                  <a:tcPr marL="5315" marR="5315" marT="531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ctr">
                        <a:lnSpc>
                          <a:spcPts val="675"/>
                        </a:lnSpc>
                        <a:buNone/>
                      </a:pPr>
                      <a:r>
                        <a:rPr lang="en-US" sz="1000" b="0" i="0" u="none" strike="noStrike">
                          <a:solidFill>
                            <a:srgbClr val="000000"/>
                          </a:solidFill>
                          <a:effectLst/>
                          <a:latin typeface="Aptos Narrow"/>
                        </a:rPr>
                        <a:t>30%</a:t>
                      </a:r>
                      <a:endParaRPr lang="en-US"/>
                    </a:p>
                  </a:txBody>
                  <a:tcPr marL="5315" marR="5315" marT="531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ctr" defTabSz="914400" rtl="0" eaLnBrk="1" latinLnBrk="0" hangingPunct="1">
                        <a:lnSpc>
                          <a:spcPts val="675"/>
                        </a:lnSpc>
                        <a:spcBef>
                          <a:spcPts val="0"/>
                        </a:spcBef>
                        <a:spcAft>
                          <a:spcPts val="0"/>
                        </a:spcAft>
                        <a:buNone/>
                      </a:pPr>
                      <a:r>
                        <a:rPr lang="en-US" sz="1000" b="0" i="0" u="none" strike="noStrike" kern="1200" noProof="0">
                          <a:solidFill>
                            <a:srgbClr val="000000"/>
                          </a:solidFill>
                          <a:effectLst/>
                          <a:latin typeface="Aptos Narrow"/>
                          <a:ea typeface="+mn-ea"/>
                          <a:cs typeface="+mn-cs"/>
                        </a:rPr>
                        <a:t>07/24</a:t>
                      </a:r>
                      <a:endParaRPr lang="en-US" sz="1000" b="0" i="0" u="none" strike="noStrike" kern="1200">
                        <a:solidFill>
                          <a:srgbClr val="000000"/>
                        </a:solidFill>
                        <a:effectLst/>
                        <a:latin typeface="Aptos Narrow"/>
                        <a:ea typeface="+mn-ea"/>
                        <a:cs typeface="+mn-cs"/>
                      </a:endParaRPr>
                    </a:p>
                  </a:txBody>
                  <a:tcPr marL="5315" marR="5315" marT="531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ctr" defTabSz="914400" rtl="0" eaLnBrk="1" latinLnBrk="0" hangingPunct="1">
                        <a:lnSpc>
                          <a:spcPts val="675"/>
                        </a:lnSpc>
                        <a:spcBef>
                          <a:spcPts val="0"/>
                        </a:spcBef>
                        <a:spcAft>
                          <a:spcPts val="0"/>
                        </a:spcAft>
                        <a:buNone/>
                      </a:pPr>
                      <a:r>
                        <a:rPr lang="en-US" sz="1000" b="0" i="0" u="none" strike="noStrike" kern="1200" noProof="0">
                          <a:solidFill>
                            <a:srgbClr val="000000"/>
                          </a:solidFill>
                          <a:effectLst/>
                          <a:latin typeface="Aptos Narrow"/>
                          <a:ea typeface="+mn-ea"/>
                          <a:cs typeface="+mn-cs"/>
                        </a:rPr>
                        <a:t>07/29</a:t>
                      </a:r>
                    </a:p>
                    <a:p>
                      <a:pPr marL="0" marR="0" lvl="0" indent="0" algn="ctr" defTabSz="914400" rtl="0" eaLnBrk="1" latinLnBrk="0" hangingPunct="1">
                        <a:lnSpc>
                          <a:spcPts val="675"/>
                        </a:lnSpc>
                        <a:buNone/>
                      </a:pPr>
                      <a:endParaRPr lang="en-US" sz="1000" b="0" i="0" u="none" strike="noStrike" kern="1200">
                        <a:solidFill>
                          <a:srgbClr val="000000"/>
                        </a:solidFill>
                        <a:effectLst/>
                        <a:latin typeface="Aptos Narrow"/>
                        <a:ea typeface="+mn-ea"/>
                        <a:cs typeface="+mn-cs"/>
                      </a:endParaRPr>
                    </a:p>
                  </a:txBody>
                  <a:tcPr marL="5315" marR="5315" marT="531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9129221"/>
                  </a:ext>
                </a:extLst>
              </a:tr>
            </a:tbl>
          </a:graphicData>
        </a:graphic>
      </p:graphicFrame>
    </p:spTree>
    <p:extLst>
      <p:ext uri="{BB962C8B-B14F-4D97-AF65-F5344CB8AC3E}">
        <p14:creationId xmlns:p14="http://schemas.microsoft.com/office/powerpoint/2010/main" val="5781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29FEA-27FD-9638-F054-40F00B699FDE}"/>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267E563-A961-5739-1923-FF4F54A88097}"/>
              </a:ext>
            </a:extLst>
          </p:cNvPr>
          <p:cNvGraphicFramePr>
            <a:graphicFrameLocks noGrp="1"/>
          </p:cNvGraphicFramePr>
          <p:nvPr>
            <p:extLst>
              <p:ext uri="{D42A27DB-BD31-4B8C-83A1-F6EECF244321}">
                <p14:modId xmlns:p14="http://schemas.microsoft.com/office/powerpoint/2010/main" val="216489087"/>
              </p:ext>
            </p:extLst>
          </p:nvPr>
        </p:nvGraphicFramePr>
        <p:xfrm>
          <a:off x="123371" y="101600"/>
          <a:ext cx="11829502" cy="3227218"/>
        </p:xfrm>
        <a:graphic>
          <a:graphicData uri="http://schemas.openxmlformats.org/drawingml/2006/table">
            <a:tbl>
              <a:tblPr firstRow="1" bandRow="1">
                <a:noFill/>
                <a:tableStyleId>{5940675A-B579-460E-94D1-54222C63F5DA}</a:tableStyleId>
              </a:tblPr>
              <a:tblGrid>
                <a:gridCol w="1332722">
                  <a:extLst>
                    <a:ext uri="{9D8B030D-6E8A-4147-A177-3AD203B41FA5}">
                      <a16:colId xmlns:a16="http://schemas.microsoft.com/office/drawing/2014/main" val="3592680666"/>
                    </a:ext>
                  </a:extLst>
                </a:gridCol>
                <a:gridCol w="1149336">
                  <a:extLst>
                    <a:ext uri="{9D8B030D-6E8A-4147-A177-3AD203B41FA5}">
                      <a16:colId xmlns:a16="http://schemas.microsoft.com/office/drawing/2014/main" val="1654399098"/>
                    </a:ext>
                  </a:extLst>
                </a:gridCol>
                <a:gridCol w="1670923">
                  <a:extLst>
                    <a:ext uri="{9D8B030D-6E8A-4147-A177-3AD203B41FA5}">
                      <a16:colId xmlns:a16="http://schemas.microsoft.com/office/drawing/2014/main" val="157821927"/>
                    </a:ext>
                  </a:extLst>
                </a:gridCol>
                <a:gridCol w="2007081">
                  <a:extLst>
                    <a:ext uri="{9D8B030D-6E8A-4147-A177-3AD203B41FA5}">
                      <a16:colId xmlns:a16="http://schemas.microsoft.com/office/drawing/2014/main" val="2428918094"/>
                    </a:ext>
                  </a:extLst>
                </a:gridCol>
                <a:gridCol w="1387237">
                  <a:extLst>
                    <a:ext uri="{9D8B030D-6E8A-4147-A177-3AD203B41FA5}">
                      <a16:colId xmlns:a16="http://schemas.microsoft.com/office/drawing/2014/main" val="2434076975"/>
                    </a:ext>
                  </a:extLst>
                </a:gridCol>
                <a:gridCol w="1205363">
                  <a:extLst>
                    <a:ext uri="{9D8B030D-6E8A-4147-A177-3AD203B41FA5}">
                      <a16:colId xmlns:a16="http://schemas.microsoft.com/office/drawing/2014/main" val="4168789034"/>
                    </a:ext>
                  </a:extLst>
                </a:gridCol>
                <a:gridCol w="1602545">
                  <a:extLst>
                    <a:ext uri="{9D8B030D-6E8A-4147-A177-3AD203B41FA5}">
                      <a16:colId xmlns:a16="http://schemas.microsoft.com/office/drawing/2014/main" val="1518792060"/>
                    </a:ext>
                  </a:extLst>
                </a:gridCol>
                <a:gridCol w="1474295">
                  <a:extLst>
                    <a:ext uri="{9D8B030D-6E8A-4147-A177-3AD203B41FA5}">
                      <a16:colId xmlns:a16="http://schemas.microsoft.com/office/drawing/2014/main" val="1805739722"/>
                    </a:ext>
                  </a:extLst>
                </a:gridCol>
              </a:tblGrid>
              <a:tr h="627229">
                <a:tc>
                  <a:txBody>
                    <a:bodyPr/>
                    <a:lstStyle/>
                    <a:p>
                      <a:pPr marL="0" indent="0" algn="l" fontAlgn="ctr">
                        <a:buFont typeface="Arial"/>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indent="0" algn="l" fontAlgn="b">
                        <a:buFont typeface="Arial"/>
                        <a:buNone/>
                      </a:pPr>
                      <a:r>
                        <a:rPr lang="en-IN"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Data Mavericks</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indent="0" algn="l" fontAlgn="ctr">
                        <a:buFont typeface="Arial"/>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 typeface="Arial"/>
                        <a:buNone/>
                      </a:pPr>
                      <a:r>
                        <a:rPr lang="en-IN"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PBM Data Platform</a:t>
                      </a:r>
                      <a:endPar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indent="0" algn="l" fontAlgn="ctr">
                        <a:buFont typeface="Arial"/>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 typeface="Arial"/>
                        <a:buNone/>
                      </a:pPr>
                      <a:r>
                        <a:rPr lang="en-US" sz="1400" b="0" i="0" u="none" strike="noStrike" kern="1200" cap="none" spc="60">
                          <a:solidFill>
                            <a:schemeClr val="bg1"/>
                          </a:solidFill>
                          <a:effectLst/>
                          <a:latin typeface="Calibri"/>
                          <a:ea typeface="Calibri"/>
                          <a:cs typeface="Calibri"/>
                        </a:rPr>
                        <a:t>Lakshmanudu</a:t>
                      </a:r>
                    </a:p>
                    <a:p>
                      <a:pPr marL="0" marR="0" lvl="0" indent="0" algn="l" rtl="0" eaLnBrk="1" fontAlgn="b" latinLnBrk="0" hangingPunct="1">
                        <a:lnSpc>
                          <a:spcPct val="100000"/>
                        </a:lnSpc>
                        <a:spcBef>
                          <a:spcPts val="0"/>
                        </a:spcBef>
                        <a:spcAft>
                          <a:spcPts val="0"/>
                        </a:spcAft>
                        <a:buClrTx/>
                        <a:buSzTx/>
                        <a:buFont typeface="Arial"/>
                        <a:buNone/>
                      </a:pPr>
                      <a:r>
                        <a:rPr lang="en-US" sz="1400" b="0" i="0" u="none" strike="noStrike" kern="1200" cap="none" spc="60">
                          <a:solidFill>
                            <a:schemeClr val="bg1"/>
                          </a:solidFill>
                          <a:effectLst/>
                          <a:latin typeface="Calibri"/>
                          <a:ea typeface="Calibri"/>
                          <a:cs typeface="Calibri"/>
                        </a:rPr>
                        <a:t>Gurram/Priya Gahloth </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indent="0" algn="l" fontAlgn="ctr">
                        <a:buFont typeface="Arial"/>
                        <a:buNone/>
                      </a:pPr>
                      <a:r>
                        <a:rPr lang="en-US" sz="1400" b="1" u="none" strike="noStrike" cap="none" spc="60">
                          <a:solidFill>
                            <a:schemeClr val="bg1"/>
                          </a:solidFill>
                          <a:effectLst/>
                          <a:latin typeface="Calibri"/>
                          <a:ea typeface="Calibri"/>
                          <a:cs typeface="Calibri"/>
                        </a:rPr>
                        <a:t>Release</a:t>
                      </a:r>
                      <a:r>
                        <a:rPr lang="en-US" sz="1400" b="0" u="none" strike="noStrike" cap="none" spc="60">
                          <a:solidFill>
                            <a:schemeClr val="bg1"/>
                          </a:solidFill>
                          <a:effectLst/>
                          <a:latin typeface="Calibri"/>
                          <a:ea typeface="Calibri"/>
                          <a:cs typeface="Calibri"/>
                        </a:rPr>
                        <a:t>: August 13th</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 typeface="Arial"/>
                        <a:buNone/>
                        <a:tabLst/>
                        <a:defRPr/>
                      </a:pPr>
                      <a:r>
                        <a:rPr lang="en-US" sz="1400" b="0" i="0" u="none" strike="noStrike" kern="1200" cap="none" spc="60">
                          <a:solidFill>
                            <a:schemeClr val="bg1"/>
                          </a:solidFill>
                          <a:effectLst/>
                          <a:latin typeface="Calibri"/>
                          <a:ea typeface="Calibri"/>
                          <a:cs typeface="Calibri"/>
                        </a:rPr>
                        <a:t>N26.08</a:t>
                      </a:r>
                      <a:endPar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2462451">
                <a:tc gridSpan="8">
                  <a:txBody>
                    <a:bodyPr/>
                    <a:lstStyle/>
                    <a:p>
                      <a:pPr marL="0" lvl="0" indent="0" algn="l">
                        <a:buFont typeface="Arial"/>
                        <a:buNone/>
                      </a:pPr>
                      <a:endParaRPr lang="en-US" sz="1200" b="0" i="0" u="none" strike="noStrike" noProof="0">
                        <a:solidFill>
                          <a:srgbClr val="000000"/>
                        </a:solidFill>
                      </a:endParaRPr>
                    </a:p>
                    <a:p>
                      <a:pPr marL="0" lvl="0" indent="0" algn="l">
                        <a:lnSpc>
                          <a:spcPct val="100000"/>
                        </a:lnSpc>
                        <a:spcBef>
                          <a:spcPts val="0"/>
                        </a:spcBef>
                        <a:spcAft>
                          <a:spcPts val="0"/>
                        </a:spcAft>
                        <a:buFont typeface="Arial"/>
                        <a:buNone/>
                      </a:pPr>
                      <a:endParaRPr lang="en-US" sz="1100" b="0" i="0" u="none" strike="noStrike" noProof="0">
                        <a:solidFill>
                          <a:srgbClr val="000000"/>
                        </a:solidFill>
                        <a:highlight>
                          <a:srgbClr val="FFFFFF"/>
                        </a:highlight>
                        <a:latin typeface="Aptos"/>
                      </a:endParaRPr>
                    </a:p>
                    <a:p>
                      <a:pPr marL="0" lvl="0" indent="0" algn="l">
                        <a:lnSpc>
                          <a:spcPct val="100000"/>
                        </a:lnSpc>
                        <a:spcBef>
                          <a:spcPts val="0"/>
                        </a:spcBef>
                        <a:spcAft>
                          <a:spcPts val="0"/>
                        </a:spcAft>
                        <a:buNone/>
                      </a:pPr>
                      <a:r>
                        <a:rPr lang="en-US" sz="1200" b="1" i="0" u="none" strike="noStrike" noProof="0">
                          <a:solidFill>
                            <a:srgbClr val="000000"/>
                          </a:solidFill>
                          <a:highlight>
                            <a:srgbClr val="FFFFFF"/>
                          </a:highlight>
                        </a:rPr>
                        <a:t>US-9259718</a:t>
                      </a:r>
                      <a:r>
                        <a:rPr lang="en-US" sz="1200" b="0" i="0" u="none" strike="noStrike" noProof="0">
                          <a:solidFill>
                            <a:srgbClr val="000000"/>
                          </a:solidFill>
                          <a:highlight>
                            <a:srgbClr val="FFFFFF"/>
                          </a:highlight>
                        </a:rPr>
                        <a:t>_</a:t>
                      </a:r>
                      <a:r>
                        <a:rPr lang="en-US" sz="1200" b="1" i="0" u="none" strike="noStrike" noProof="0">
                          <a:solidFill>
                            <a:srgbClr val="000000"/>
                          </a:solidFill>
                          <a:highlight>
                            <a:srgbClr val="FFFFFF"/>
                          </a:highlight>
                          <a:latin typeface="Aptos"/>
                        </a:rPr>
                        <a:t>Evolve Data Testing in UDAP</a:t>
                      </a:r>
                      <a:endParaRPr lang="en-US" sz="1100" b="0" i="0" u="none" strike="noStrike" noProof="0">
                        <a:solidFill>
                          <a:srgbClr val="000000"/>
                        </a:solidFill>
                        <a:highlight>
                          <a:srgbClr val="FFFFFF"/>
                        </a:highlight>
                        <a:latin typeface="Aptos"/>
                      </a:endParaRPr>
                    </a:p>
                    <a:p>
                      <a:pPr marL="171450" lvl="0" indent="-171450" algn="l">
                        <a:lnSpc>
                          <a:spcPct val="100000"/>
                        </a:lnSpc>
                        <a:spcBef>
                          <a:spcPts val="0"/>
                        </a:spcBef>
                        <a:spcAft>
                          <a:spcPts val="0"/>
                        </a:spcAft>
                        <a:buFont typeface="Arial"/>
                        <a:buChar char="•"/>
                      </a:pPr>
                      <a:r>
                        <a:rPr lang="en-US" sz="1100" b="0" i="0" u="none" strike="noStrike" noProof="0">
                          <a:solidFill>
                            <a:schemeClr val="tx1"/>
                          </a:solidFill>
                          <a:highlight>
                            <a:srgbClr val="F8FAFC"/>
                          </a:highlight>
                          <a:latin typeface="Arial"/>
                          <a:cs typeface="Arial"/>
                        </a:rPr>
                        <a:t>Verify that the data sent by Evolve is successfully ingested into Databricks and validate its accuracy, completeness, and consistency.</a:t>
                      </a:r>
                    </a:p>
                    <a:p>
                      <a:pPr marL="171450" lvl="0" indent="-171450" algn="l">
                        <a:lnSpc>
                          <a:spcPct val="100000"/>
                        </a:lnSpc>
                        <a:spcBef>
                          <a:spcPts val="0"/>
                        </a:spcBef>
                        <a:spcAft>
                          <a:spcPts val="0"/>
                        </a:spcAft>
                        <a:buFont typeface="Arial"/>
                        <a:buChar char="•"/>
                      </a:pPr>
                      <a:r>
                        <a:rPr lang="en-US" sz="1100" b="0" i="0" u="none" strike="noStrike" noProof="0">
                          <a:solidFill>
                            <a:srgbClr val="000000"/>
                          </a:solidFill>
                          <a:highlight>
                            <a:srgbClr val="FFFFFF"/>
                          </a:highlight>
                          <a:latin typeface="Arial"/>
                          <a:cs typeface="Arial"/>
                        </a:rPr>
                        <a:t>Validating the Schema (Table names, column details, datatypes, meta data columns) in Raw, Staging and Main layers</a:t>
                      </a:r>
                    </a:p>
                    <a:p>
                      <a:pPr marL="171450" lvl="0" indent="-171450" algn="l">
                        <a:lnSpc>
                          <a:spcPct val="100000"/>
                        </a:lnSpc>
                        <a:spcBef>
                          <a:spcPts val="0"/>
                        </a:spcBef>
                        <a:spcAft>
                          <a:spcPts val="0"/>
                        </a:spcAft>
                        <a:buFont typeface="Arial"/>
                        <a:buChar char="•"/>
                      </a:pPr>
                      <a:r>
                        <a:rPr lang="en-US" sz="1100" b="0" i="0" u="none" strike="noStrike" noProof="0">
                          <a:solidFill>
                            <a:srgbClr val="000000"/>
                          </a:solidFill>
                          <a:highlight>
                            <a:srgbClr val="FFFFFF"/>
                          </a:highlight>
                          <a:latin typeface="Arial"/>
                          <a:cs typeface="Arial"/>
                        </a:rPr>
                        <a:t>Performing the data validation and completeness testing in Raw, Staging and Main layers</a:t>
                      </a:r>
                    </a:p>
                    <a:p>
                      <a:pPr marL="171450" lvl="0" indent="-171450" algn="l">
                        <a:lnSpc>
                          <a:spcPct val="100000"/>
                        </a:lnSpc>
                        <a:spcBef>
                          <a:spcPts val="0"/>
                        </a:spcBef>
                        <a:spcAft>
                          <a:spcPts val="0"/>
                        </a:spcAft>
                        <a:buFont typeface="Arial"/>
                        <a:buChar char="•"/>
                      </a:pPr>
                      <a:r>
                        <a:rPr lang="en-US" sz="1100" b="0" i="0" u="none" strike="noStrike" noProof="0">
                          <a:solidFill>
                            <a:srgbClr val="000000"/>
                          </a:solidFill>
                          <a:highlight>
                            <a:srgbClr val="FFFFFF"/>
                          </a:highlight>
                          <a:latin typeface="Arial"/>
                          <a:cs typeface="Arial"/>
                        </a:rPr>
                        <a:t>Validate the overwrite and append mode configurations wherever they are defined in the raw, staging, and main layers</a:t>
                      </a:r>
                      <a:endParaRPr lang="en-US" sz="1100" b="1" i="0" u="none" strike="noStrike" noProof="0">
                        <a:solidFill>
                          <a:srgbClr val="000000"/>
                        </a:solidFill>
                        <a:highlight>
                          <a:srgbClr val="FFFFFF"/>
                        </a:highlight>
                        <a:latin typeface="Arial"/>
                        <a:cs typeface="Arial"/>
                      </a:endParaRPr>
                    </a:p>
                    <a:p>
                      <a:pPr marL="171450" lvl="0" indent="-171450" algn="l">
                        <a:lnSpc>
                          <a:spcPct val="100000"/>
                        </a:lnSpc>
                        <a:spcBef>
                          <a:spcPts val="0"/>
                        </a:spcBef>
                        <a:spcAft>
                          <a:spcPts val="0"/>
                        </a:spcAft>
                        <a:buFont typeface="Arial"/>
                        <a:buChar char="•"/>
                      </a:pPr>
                      <a:r>
                        <a:rPr lang="en-US" sz="1100" b="0" i="0" u="none" strike="noStrike" noProof="0">
                          <a:solidFill>
                            <a:srgbClr val="000000"/>
                          </a:solidFill>
                          <a:highlight>
                            <a:srgbClr val="FFFFFF"/>
                          </a:highlight>
                          <a:latin typeface="Arial"/>
                          <a:cs typeface="Arial"/>
                        </a:rPr>
                        <a:t>Test Execution is </a:t>
                      </a:r>
                      <a:r>
                        <a:rPr lang="en-US" sz="1100" b="1" i="0" u="none" strike="noStrike" noProof="0">
                          <a:solidFill>
                            <a:srgbClr val="000000"/>
                          </a:solidFill>
                          <a:highlight>
                            <a:srgbClr val="FFFFFF"/>
                          </a:highlight>
                          <a:latin typeface="Arial"/>
                          <a:cs typeface="Arial"/>
                        </a:rPr>
                        <a:t>29</a:t>
                      </a:r>
                      <a:r>
                        <a:rPr lang="en-US" sz="1100" b="0" i="0" u="none" strike="noStrike" noProof="0">
                          <a:solidFill>
                            <a:srgbClr val="000000"/>
                          </a:solidFill>
                          <a:highlight>
                            <a:srgbClr val="FFFFFF"/>
                          </a:highlight>
                          <a:latin typeface="Arial"/>
                          <a:cs typeface="Arial"/>
                        </a:rPr>
                        <a:t>% completed</a:t>
                      </a:r>
                      <a:endParaRPr lang="en-US" sz="1100" b="1" i="0" u="none" strike="noStrike" noProof="0">
                        <a:solidFill>
                          <a:srgbClr val="000000"/>
                        </a:solidFill>
                        <a:highlight>
                          <a:srgbClr val="FFFFFF"/>
                        </a:highlight>
                        <a:latin typeface="Arial"/>
                        <a:cs typeface="Arial"/>
                      </a:endParaRPr>
                    </a:p>
                    <a:p>
                      <a:pPr marL="171450" lvl="0" indent="-171450" algn="l">
                        <a:lnSpc>
                          <a:spcPct val="100000"/>
                        </a:lnSpc>
                        <a:spcBef>
                          <a:spcPts val="0"/>
                        </a:spcBef>
                        <a:spcAft>
                          <a:spcPts val="0"/>
                        </a:spcAft>
                        <a:buFont typeface="Arial"/>
                        <a:buChar char="•"/>
                      </a:pPr>
                      <a:endParaRPr lang="en-US" sz="1100" b="0" i="0" u="none" strike="noStrike" noProof="0">
                        <a:solidFill>
                          <a:srgbClr val="000000"/>
                        </a:solidFill>
                        <a:highlight>
                          <a:srgbClr val="FFFFFF"/>
                        </a:highlight>
                        <a:latin typeface="Arial"/>
                        <a:cs typeface="Arial"/>
                      </a:endParaRPr>
                    </a:p>
                    <a:p>
                      <a:pPr marL="0" lvl="0" indent="0" algn="l">
                        <a:lnSpc>
                          <a:spcPct val="100000"/>
                        </a:lnSpc>
                        <a:spcBef>
                          <a:spcPts val="0"/>
                        </a:spcBef>
                        <a:spcAft>
                          <a:spcPts val="0"/>
                        </a:spcAft>
                        <a:buFont typeface="Arial"/>
                        <a:buChar char="•"/>
                      </a:pPr>
                      <a:r>
                        <a:rPr lang="en-US" sz="1100" b="1" i="0" u="none" strike="noStrike" noProof="0">
                          <a:solidFill>
                            <a:srgbClr val="000000"/>
                          </a:solidFill>
                          <a:highlight>
                            <a:srgbClr val="FFFFFF"/>
                          </a:highlight>
                          <a:latin typeface="Arial"/>
                          <a:cs typeface="Arial"/>
                        </a:rPr>
                        <a:t>Defects</a:t>
                      </a:r>
                    </a:p>
                    <a:p>
                      <a:pPr marL="0" lvl="0" indent="0" algn="l">
                        <a:lnSpc>
                          <a:spcPct val="100000"/>
                        </a:lnSpc>
                        <a:spcBef>
                          <a:spcPts val="0"/>
                        </a:spcBef>
                        <a:spcAft>
                          <a:spcPts val="0"/>
                        </a:spcAft>
                        <a:buFont typeface="Arial"/>
                        <a:buChar char="•"/>
                      </a:pPr>
                      <a:r>
                        <a:rPr lang="en-US" sz="1100" b="0" i="0" u="none" strike="noStrike" noProof="0">
                          <a:solidFill>
                            <a:srgbClr val="000000"/>
                          </a:solidFill>
                          <a:highlight>
                            <a:srgbClr val="FFFFFF"/>
                          </a:highlight>
                          <a:latin typeface="Arial"/>
                          <a:cs typeface="Arial"/>
                        </a:rPr>
                        <a:t>   DF-6086- Evolve testing, the primary key columns are showing as NULL </a:t>
                      </a:r>
                      <a:endParaRPr lang="en-US">
                        <a:latin typeface="Arial"/>
                        <a:cs typeface="Arial"/>
                      </a:endParaRPr>
                    </a:p>
                    <a:p>
                      <a:pPr marL="0" lvl="0" indent="0" algn="l">
                        <a:lnSpc>
                          <a:spcPct val="100000"/>
                        </a:lnSpc>
                        <a:spcBef>
                          <a:spcPts val="0"/>
                        </a:spcBef>
                        <a:spcAft>
                          <a:spcPts val="0"/>
                        </a:spcAft>
                        <a:buFont typeface="Arial"/>
                        <a:buChar char="•"/>
                      </a:pPr>
                      <a:r>
                        <a:rPr lang="en-US" sz="1100" b="0" i="0" u="none" strike="noStrike" noProof="0">
                          <a:solidFill>
                            <a:srgbClr val="000000"/>
                          </a:solidFill>
                          <a:highlight>
                            <a:srgbClr val="FFFFFF"/>
                          </a:highlight>
                          <a:latin typeface="Arial"/>
                          <a:cs typeface="Arial"/>
                        </a:rPr>
                        <a:t>   DF-6060 - Evolve Testing _Mismatch in the number of records between the source file and the target table</a:t>
                      </a:r>
                      <a:endParaRPr lang="en-US">
                        <a:latin typeface="Arial"/>
                        <a:cs typeface="Arial"/>
                      </a:endParaRPr>
                    </a:p>
                    <a:p>
                      <a:pPr marL="171450" lvl="0" indent="-171450" algn="l">
                        <a:lnSpc>
                          <a:spcPct val="100000"/>
                        </a:lnSpc>
                        <a:spcBef>
                          <a:spcPts val="0"/>
                        </a:spcBef>
                        <a:spcAft>
                          <a:spcPts val="0"/>
                        </a:spcAft>
                        <a:buFont typeface="Arial"/>
                        <a:buChar char="•"/>
                      </a:pPr>
                      <a:endParaRPr lang="en-US" sz="1100" b="1" i="0" u="none" strike="noStrike" noProof="0">
                        <a:solidFill>
                          <a:srgbClr val="000000"/>
                        </a:solidFill>
                        <a:highlight>
                          <a:srgbClr val="FFFFFF"/>
                        </a:highlight>
                        <a:latin typeface="Aptos"/>
                      </a:endParaRPr>
                    </a:p>
                  </a:txBody>
                  <a:tcPr marL="108022" marR="12002" marT="124687" marB="0">
                    <a:lnL w="12700" cmpd="sng">
                      <a:noFill/>
                    </a:lnL>
                    <a:lnR w="12700" cmpd="sng">
                      <a:noFill/>
                    </a:lnR>
                    <a:lnT w="19050" cap="flat" cmpd="sng" algn="ctr">
                      <a:noFill/>
                      <a:prstDash val="soli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CEB4B998-BCCB-0C09-F4A3-6C85361F33F2}"/>
              </a:ext>
            </a:extLst>
          </p:cNvPr>
          <p:cNvGraphicFramePr>
            <a:graphicFrameLocks noGrp="1"/>
          </p:cNvGraphicFramePr>
          <p:nvPr>
            <p:extLst>
              <p:ext uri="{D42A27DB-BD31-4B8C-83A1-F6EECF244321}">
                <p14:modId xmlns:p14="http://schemas.microsoft.com/office/powerpoint/2010/main" val="2066476590"/>
              </p:ext>
            </p:extLst>
          </p:nvPr>
        </p:nvGraphicFramePr>
        <p:xfrm>
          <a:off x="239127" y="4522203"/>
          <a:ext cx="11511009" cy="1579052"/>
        </p:xfrm>
        <a:graphic>
          <a:graphicData uri="http://schemas.openxmlformats.org/drawingml/2006/table">
            <a:tbl>
              <a:tblPr firstRow="1" bandRow="1">
                <a:noFill/>
                <a:tableStyleId>{5940675A-B579-460E-94D1-54222C63F5DA}</a:tableStyleId>
              </a:tblPr>
              <a:tblGrid>
                <a:gridCol w="5762724">
                  <a:extLst>
                    <a:ext uri="{9D8B030D-6E8A-4147-A177-3AD203B41FA5}">
                      <a16:colId xmlns:a16="http://schemas.microsoft.com/office/drawing/2014/main" val="3592680666"/>
                    </a:ext>
                  </a:extLst>
                </a:gridCol>
                <a:gridCol w="5748285">
                  <a:extLst>
                    <a:ext uri="{9D8B030D-6E8A-4147-A177-3AD203B41FA5}">
                      <a16:colId xmlns:a16="http://schemas.microsoft.com/office/drawing/2014/main" val="1654399098"/>
                    </a:ext>
                  </a:extLst>
                </a:gridCol>
              </a:tblGrid>
              <a:tr h="789526">
                <a:tc>
                  <a:txBody>
                    <a:bodyPr/>
                    <a:lstStyle/>
                    <a:p>
                      <a:pPr algn="l" fontAlgn="t">
                        <a:buNone/>
                      </a:pPr>
                      <a:r>
                        <a:rPr lang="en-US" sz="1400" b="1" u="none" strike="noStrike" kern="1200" cap="none" spc="0">
                          <a:solidFill>
                            <a:schemeClr val="tx1"/>
                          </a:solidFill>
                          <a:effectLst/>
                          <a:latin typeface="Calibri"/>
                          <a:ea typeface="Calibri"/>
                          <a:cs typeface="Calibri"/>
                        </a:rPr>
                        <a:t>Challenges (risks / issues): </a:t>
                      </a:r>
                      <a:endParaRPr lang="en-US" sz="1400" b="0" u="none" strike="noStrike" kern="1200" cap="none" spc="0">
                        <a:solidFill>
                          <a:schemeClr val="tx1"/>
                        </a:solidFill>
                        <a:effectLst/>
                        <a:latin typeface="Calibri"/>
                        <a:ea typeface="Calibri"/>
                        <a:cs typeface="Calibri"/>
                      </a:endParaRP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NA</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400" b="1" u="none" strike="noStrike" kern="1200" cap="none" spc="0">
                          <a:solidFill>
                            <a:schemeClr val="tx1"/>
                          </a:solidFill>
                          <a:effectLst/>
                          <a:latin typeface="Calibri"/>
                          <a:ea typeface="Calibri"/>
                          <a:cs typeface="Calibri"/>
                        </a:rPr>
                        <a:t>Action Needed / Action Taken (for the identified risks/issues): </a:t>
                      </a:r>
                      <a:endParaRPr lang="en-US" sz="1400" b="0" u="none" strike="noStrike" kern="1200" cap="none" spc="0">
                        <a:solidFill>
                          <a:schemeClr val="tx1"/>
                        </a:solidFill>
                        <a:effectLst/>
                        <a:latin typeface="Calibri"/>
                        <a:ea typeface="Calibri"/>
                        <a:cs typeface="Calibri"/>
                      </a:endParaRP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NA</a:t>
                      </a:r>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789526">
                <a:tc gridSpan="2">
                  <a:txBody>
                    <a:bodyPr/>
                    <a:lstStyle/>
                    <a:p>
                      <a:pPr algn="l" fontAlgn="t">
                        <a:buNone/>
                      </a:pPr>
                      <a:r>
                        <a:rPr lang="en-US" sz="1400" b="1" u="none" strike="noStrike" kern="1200" cap="none" spc="0">
                          <a:solidFill>
                            <a:schemeClr val="tx1"/>
                          </a:solidFill>
                          <a:effectLst/>
                          <a:latin typeface="Calibri"/>
                          <a:ea typeface="Calibri"/>
                          <a:cs typeface="Calibri"/>
                        </a:rPr>
                        <a:t>Automation Regression Updates : </a:t>
                      </a: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Approval obtained from PO for the Baselined Regression Suite. </a:t>
                      </a: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Automation scripting is 100% completed and reviewed.</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7" name="Table 6">
            <a:extLst>
              <a:ext uri="{FF2B5EF4-FFF2-40B4-BE49-F238E27FC236}">
                <a16:creationId xmlns:a16="http://schemas.microsoft.com/office/drawing/2014/main" id="{10C0EE44-122F-0E7F-9D8C-101E5D5A843B}"/>
              </a:ext>
            </a:extLst>
          </p:cNvPr>
          <p:cNvGraphicFramePr>
            <a:graphicFrameLocks noGrp="1"/>
          </p:cNvGraphicFramePr>
          <p:nvPr>
            <p:extLst>
              <p:ext uri="{D42A27DB-BD31-4B8C-83A1-F6EECF244321}">
                <p14:modId xmlns:p14="http://schemas.microsoft.com/office/powerpoint/2010/main" val="4081875824"/>
              </p:ext>
            </p:extLst>
          </p:nvPr>
        </p:nvGraphicFramePr>
        <p:xfrm>
          <a:off x="239127" y="3548422"/>
          <a:ext cx="11511009" cy="739589"/>
        </p:xfrm>
        <a:graphic>
          <a:graphicData uri="http://schemas.openxmlformats.org/drawingml/2006/table">
            <a:tbl>
              <a:tblPr bandRow="1">
                <a:tableStyleId>{5C22544A-7EE6-4342-B048-85BDC9FD1C3A}</a:tableStyleId>
              </a:tblPr>
              <a:tblGrid>
                <a:gridCol w="1412686">
                  <a:extLst>
                    <a:ext uri="{9D8B030D-6E8A-4147-A177-3AD203B41FA5}">
                      <a16:colId xmlns:a16="http://schemas.microsoft.com/office/drawing/2014/main" val="957329485"/>
                    </a:ext>
                  </a:extLst>
                </a:gridCol>
                <a:gridCol w="1360364">
                  <a:extLst>
                    <a:ext uri="{9D8B030D-6E8A-4147-A177-3AD203B41FA5}">
                      <a16:colId xmlns:a16="http://schemas.microsoft.com/office/drawing/2014/main" val="3328252004"/>
                    </a:ext>
                  </a:extLst>
                </a:gridCol>
                <a:gridCol w="1133632">
                  <a:extLst>
                    <a:ext uri="{9D8B030D-6E8A-4147-A177-3AD203B41FA5}">
                      <a16:colId xmlns:a16="http://schemas.microsoft.com/office/drawing/2014/main" val="3881694452"/>
                    </a:ext>
                  </a:extLst>
                </a:gridCol>
                <a:gridCol w="1604779">
                  <a:extLst>
                    <a:ext uri="{9D8B030D-6E8A-4147-A177-3AD203B41FA5}">
                      <a16:colId xmlns:a16="http://schemas.microsoft.com/office/drawing/2014/main" val="3161609625"/>
                    </a:ext>
                  </a:extLst>
                </a:gridCol>
                <a:gridCol w="1203398">
                  <a:extLst>
                    <a:ext uri="{9D8B030D-6E8A-4147-A177-3AD203B41FA5}">
                      <a16:colId xmlns:a16="http://schemas.microsoft.com/office/drawing/2014/main" val="3598411205"/>
                    </a:ext>
                  </a:extLst>
                </a:gridCol>
                <a:gridCol w="1290596">
                  <a:extLst>
                    <a:ext uri="{9D8B030D-6E8A-4147-A177-3AD203B41FA5}">
                      <a16:colId xmlns:a16="http://schemas.microsoft.com/office/drawing/2014/main" val="1616042860"/>
                    </a:ext>
                  </a:extLst>
                </a:gridCol>
                <a:gridCol w="1813819">
                  <a:extLst>
                    <a:ext uri="{9D8B030D-6E8A-4147-A177-3AD203B41FA5}">
                      <a16:colId xmlns:a16="http://schemas.microsoft.com/office/drawing/2014/main" val="2791648029"/>
                    </a:ext>
                  </a:extLst>
                </a:gridCol>
                <a:gridCol w="1691735">
                  <a:extLst>
                    <a:ext uri="{9D8B030D-6E8A-4147-A177-3AD203B41FA5}">
                      <a16:colId xmlns:a16="http://schemas.microsoft.com/office/drawing/2014/main" val="4017079425"/>
                    </a:ext>
                  </a:extLst>
                </a:gridCol>
              </a:tblGrid>
              <a:tr h="375313">
                <a:tc>
                  <a:txBody>
                    <a:bodyPr/>
                    <a:lstStyle/>
                    <a:p>
                      <a:pPr algn="ctr" rtl="0" fontAlgn="base">
                        <a:lnSpc>
                          <a:spcPts val="675"/>
                        </a:lnSpc>
                        <a:buNone/>
                      </a:pPr>
                      <a:r>
                        <a:rPr lang="en-US" sz="1200" b="1">
                          <a:effectLst/>
                          <a:latin typeface="Calibri"/>
                        </a:rPr>
                        <a:t># User stories</a:t>
                      </a:r>
                      <a:endParaRPr lang="en-US" sz="1200">
                        <a:effectLst/>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75"/>
                        </a:lnSpc>
                        <a:buNone/>
                      </a:pPr>
                      <a:r>
                        <a:rPr lang="en-US" sz="1200" b="1">
                          <a:effectLst/>
                          <a:latin typeface="Calibri"/>
                        </a:rPr>
                        <a:t>Test design Status</a:t>
                      </a:r>
                      <a:endParaRPr lang="en-US" sz="1200">
                        <a:effectLst/>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 Design %</a:t>
                      </a:r>
                      <a:endParaRPr lang="en-US" sz="1200">
                        <a:effectLst/>
                        <a:latin typeface="Calibri"/>
                      </a:endParaRPr>
                    </a:p>
                  </a:txBody>
                  <a:tcPr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a:lnSpc>
                          <a:spcPts val="675"/>
                        </a:lnSpc>
                        <a:buNone/>
                      </a:pPr>
                      <a:r>
                        <a:rPr lang="en-US" sz="1200" b="1" kern="1200" noProof="0">
                          <a:solidFill>
                            <a:schemeClr val="dk1"/>
                          </a:solidFill>
                          <a:effectLst/>
                          <a:latin typeface="Calibri"/>
                          <a:ea typeface="+mn-ea"/>
                          <a:cs typeface="+mn-cs"/>
                        </a:rPr>
                        <a:t>Test Design though AI</a:t>
                      </a:r>
                      <a:endParaRPr lang="en-US"/>
                    </a:p>
                    <a:p>
                      <a:pPr lvl="0" algn="ctr">
                        <a:lnSpc>
                          <a:spcPts val="675"/>
                        </a:lnSpc>
                        <a:buNone/>
                      </a:pPr>
                      <a:endParaRPr lang="en-US" sz="1200" b="1" kern="1200" noProof="0">
                        <a:solidFill>
                          <a:schemeClr val="dk1"/>
                        </a:solidFill>
                        <a:effectLst/>
                        <a:latin typeface="Calibri"/>
                        <a:ea typeface="+mn-ea"/>
                        <a:cs typeface="+mn-cs"/>
                      </a:endParaRPr>
                    </a:p>
                    <a:p>
                      <a:pPr lvl="0" algn="ctr">
                        <a:lnSpc>
                          <a:spcPts val="675"/>
                        </a:lnSpc>
                        <a:buNone/>
                      </a:pPr>
                      <a:r>
                        <a:rPr lang="en-US" sz="1200" b="1" kern="1200" noProof="0">
                          <a:solidFill>
                            <a:schemeClr val="dk1"/>
                          </a:solidFill>
                          <a:effectLst/>
                          <a:latin typeface="Calibri"/>
                          <a:ea typeface="+mn-ea"/>
                          <a:cs typeface="+mn-cs"/>
                        </a:rPr>
                        <a:t> too</a:t>
                      </a:r>
                      <a:r>
                        <a:rPr lang="en-US" sz="1000" b="1" i="0" u="none" strike="noStrike" noProof="0">
                          <a:solidFill>
                            <a:srgbClr val="000000"/>
                          </a:solidFill>
                          <a:effectLst/>
                          <a:latin typeface="Aptos Narrow"/>
                        </a:rPr>
                        <a:t>ls (Sulfur / Strider)</a:t>
                      </a:r>
                      <a:endParaRPr lang="en-US"/>
                    </a:p>
                  </a:txBody>
                  <a:tcPr anchor="ctr">
                    <a:lnL w="9524"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 Execution</a:t>
                      </a:r>
                      <a:endParaRPr lang="en-US"/>
                    </a:p>
                    <a:p>
                      <a:pPr lvl="0" algn="ctr" rtl="0">
                        <a:lnSpc>
                          <a:spcPts val="675"/>
                        </a:lnSpc>
                        <a:buNone/>
                      </a:pPr>
                      <a:endParaRPr lang="en-US" sz="1200" b="1">
                        <a:effectLst/>
                        <a:latin typeface="Calibri"/>
                      </a:endParaRPr>
                    </a:p>
                    <a:p>
                      <a:pPr lvl="0" algn="ctr" rtl="0">
                        <a:lnSpc>
                          <a:spcPts val="675"/>
                        </a:lnSpc>
                        <a:buNone/>
                      </a:pPr>
                      <a:r>
                        <a:rPr lang="en-US" sz="1200" b="1">
                          <a:effectLst/>
                          <a:latin typeface="Calibri"/>
                        </a:rPr>
                        <a:t> Status</a:t>
                      </a:r>
                      <a:endParaRPr lang="en-US" sz="1200">
                        <a:effectLst/>
                        <a:latin typeface="Calibri"/>
                      </a:endParaRPr>
                    </a:p>
                  </a:txBody>
                  <a:tcPr anchor="ctr">
                    <a:lnL w="9524"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 Execution %</a:t>
                      </a:r>
                      <a:endParaRPr lang="en-US" sz="1200">
                        <a:effectLst/>
                        <a:latin typeface="Calibri"/>
                      </a:endParaRPr>
                    </a:p>
                  </a:txBody>
                  <a:tcPr anchor="ctr">
                    <a:lnL w="9524">
                      <a:solidFill>
                        <a:srgbClr val="000000"/>
                      </a:solidFill>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Testing Completion date</a:t>
                      </a:r>
                      <a:endParaRPr lang="en-US" sz="1200">
                        <a:effectLst/>
                        <a:latin typeface="Calibri"/>
                      </a:endParaRPr>
                    </a:p>
                  </a:txBody>
                  <a:tcPr anchor="ctr">
                    <a:lnL w="9524">
                      <a:solidFill>
                        <a:srgbClr val="000000"/>
                      </a:solidFill>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Release date</a:t>
                      </a:r>
                      <a:endParaRPr lang="en-US" sz="1200">
                        <a:effectLst/>
                        <a:latin typeface="Calibri"/>
                      </a:endParaRPr>
                    </a:p>
                  </a:txBody>
                  <a:tcPr anchor="ctr">
                    <a:lnL w="9524">
                      <a:solidFill>
                        <a:srgbClr val="000000"/>
                      </a:solidFill>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solidFill>
                      <a:srgbClr val="FBE3D6"/>
                    </a:solidFill>
                  </a:tcPr>
                </a:tc>
                <a:extLst>
                  <a:ext uri="{0D108BD9-81ED-4DB2-BD59-A6C34878D82A}">
                    <a16:rowId xmlns:a16="http://schemas.microsoft.com/office/drawing/2014/main" val="1459972755"/>
                  </a:ext>
                </a:extLst>
              </a:tr>
              <a:tr h="363415">
                <a:tc>
                  <a:txBody>
                    <a:bodyPr/>
                    <a:lstStyle/>
                    <a:p>
                      <a:pPr lvl="0" algn="ctr">
                        <a:lnSpc>
                          <a:spcPts val="675"/>
                        </a:lnSpc>
                        <a:buNone/>
                      </a:pPr>
                      <a:r>
                        <a:rPr lang="en-US" sz="1200">
                          <a:effectLst/>
                          <a:latin typeface="Calibri"/>
                          <a:ea typeface="Calibri"/>
                          <a:cs typeface="Calibri"/>
                        </a:rPr>
                        <a:t>1</a:t>
                      </a:r>
                      <a:endParaRPr lang="en-US"/>
                    </a:p>
                  </a:txBody>
                  <a:tcPr marL="5353" marR="5353" marT="535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75"/>
                        </a:lnSpc>
                        <a:buNone/>
                      </a:pPr>
                      <a:r>
                        <a:rPr lang="en-US" sz="1200">
                          <a:effectLst/>
                          <a:latin typeface="Calibri"/>
                          <a:ea typeface="Calibri"/>
                          <a:cs typeface="Calibri"/>
                        </a:rPr>
                        <a:t>Completed</a:t>
                      </a:r>
                      <a:endParaRPr lang="en-US" sz="1200" b="0" i="0" u="none" strike="noStrike" noProof="0">
                        <a:solidFill>
                          <a:srgbClr val="000000"/>
                        </a:solidFill>
                        <a:effectLst/>
                        <a:latin typeface="Calibri"/>
                        <a:ea typeface="Calibri"/>
                        <a:cs typeface="Calibri"/>
                      </a:endParaRPr>
                    </a:p>
                  </a:txBody>
                  <a:tcPr marL="5353" marR="5353" marT="535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100%</a:t>
                      </a:r>
                      <a:endParaRPr lang="en-US"/>
                    </a:p>
                  </a:txBody>
                  <a:tcPr marL="5353" marR="5353" marT="5353" anchor="ctr">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50%</a:t>
                      </a:r>
                      <a:endParaRPr lang="en-US"/>
                    </a:p>
                  </a:txBody>
                  <a:tcPr marL="5353" marR="5353" marT="5353" anchor="ctr">
                    <a:lnL w="9524" cap="flat" cmpd="sng" algn="ctr">
                      <a:solidFill>
                        <a:srgbClr val="000000"/>
                      </a:solidFill>
                      <a:prstDash val="solid"/>
                      <a:round/>
                      <a:headEnd type="none" w="med" len="med"/>
                      <a:tailEnd type="none" w="med" len="med"/>
                    </a:lnL>
                    <a:lnR w="9524">
                      <a:solidFill>
                        <a:srgbClr val="000000"/>
                      </a:solidFill>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In-progress</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29%</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08/11/2026</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08/13/2026</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5984568"/>
                  </a:ext>
                </a:extLst>
              </a:tr>
            </a:tbl>
          </a:graphicData>
        </a:graphic>
      </p:graphicFrame>
    </p:spTree>
    <p:extLst>
      <p:ext uri="{BB962C8B-B14F-4D97-AF65-F5344CB8AC3E}">
        <p14:creationId xmlns:p14="http://schemas.microsoft.com/office/powerpoint/2010/main" val="3209501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000C-AED5-5AD5-5353-DD33188DC96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9C68773-C9C1-EA42-B1EC-1885A0D10DD7}"/>
              </a:ext>
            </a:extLst>
          </p:cNvPr>
          <p:cNvGraphicFramePr>
            <a:graphicFrameLocks noGrp="1"/>
          </p:cNvGraphicFramePr>
          <p:nvPr>
            <p:extLst>
              <p:ext uri="{D42A27DB-BD31-4B8C-83A1-F6EECF244321}">
                <p14:modId xmlns:p14="http://schemas.microsoft.com/office/powerpoint/2010/main" val="285582821"/>
              </p:ext>
            </p:extLst>
          </p:nvPr>
        </p:nvGraphicFramePr>
        <p:xfrm>
          <a:off x="373747" y="4690871"/>
          <a:ext cx="11508651" cy="2023156"/>
        </p:xfrm>
        <a:graphic>
          <a:graphicData uri="http://schemas.openxmlformats.org/drawingml/2006/table">
            <a:tbl>
              <a:tblPr firstRow="1" bandRow="1">
                <a:noFill/>
                <a:tableStyleId>{5940675A-B579-460E-94D1-54222C63F5DA}</a:tableStyleId>
              </a:tblPr>
              <a:tblGrid>
                <a:gridCol w="5801596">
                  <a:extLst>
                    <a:ext uri="{9D8B030D-6E8A-4147-A177-3AD203B41FA5}">
                      <a16:colId xmlns:a16="http://schemas.microsoft.com/office/drawing/2014/main" val="3592680666"/>
                    </a:ext>
                  </a:extLst>
                </a:gridCol>
                <a:gridCol w="5707055">
                  <a:extLst>
                    <a:ext uri="{9D8B030D-6E8A-4147-A177-3AD203B41FA5}">
                      <a16:colId xmlns:a16="http://schemas.microsoft.com/office/drawing/2014/main" val="1654399098"/>
                    </a:ext>
                  </a:extLst>
                </a:gridCol>
              </a:tblGrid>
              <a:tr h="874418">
                <a:tc>
                  <a:txBody>
                    <a:bodyPr/>
                    <a:lstStyle/>
                    <a:p>
                      <a:pPr algn="l" fontAlgn="t">
                        <a:buNone/>
                      </a:pPr>
                      <a:r>
                        <a:rPr lang="en-US" sz="1200" b="1" u="none" strike="noStrike" kern="1200" cap="none" spc="0">
                          <a:solidFill>
                            <a:schemeClr val="tx1"/>
                          </a:solidFill>
                          <a:effectLst/>
                          <a:latin typeface="Calibri"/>
                          <a:ea typeface="Calibri"/>
                          <a:cs typeface="Calibri"/>
                        </a:rPr>
                        <a:t>Challenges (risks / issues): </a:t>
                      </a:r>
                      <a:endParaRPr lang="en-US" sz="1200" b="0" kern="1200">
                        <a:solidFill>
                          <a:schemeClr val="tx1"/>
                        </a:solidFill>
                        <a:effectLst/>
                        <a:latin typeface="Calibri"/>
                        <a:ea typeface="Calibri"/>
                        <a:cs typeface="Calibri"/>
                      </a:endParaRPr>
                    </a:p>
                    <a:p>
                      <a:pPr marL="171450" marR="0" lvl="0" indent="-171450" algn="l" rtl="0" eaLnBrk="1" fontAlgn="auto" latinLnBrk="0" hangingPunct="1">
                        <a:lnSpc>
                          <a:spcPct val="100000"/>
                        </a:lnSpc>
                        <a:spcBef>
                          <a:spcPts val="0"/>
                        </a:spcBef>
                        <a:spcAft>
                          <a:spcPts val="0"/>
                        </a:spcAft>
                        <a:buClrTx/>
                        <a:buSzTx/>
                        <a:buFont typeface="Arial"/>
                        <a:buChar char="•"/>
                      </a:pPr>
                      <a:endParaRPr lang="en-US" sz="1200" b="0" kern="120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200" b="1" u="none" strike="noStrike" kern="1200" cap="none" spc="0">
                          <a:solidFill>
                            <a:schemeClr val="tx1"/>
                          </a:solidFill>
                          <a:effectLst/>
                          <a:latin typeface="Calibri"/>
                          <a:ea typeface="Calibri"/>
                          <a:cs typeface="Calibri"/>
                        </a:rPr>
                        <a:t>Action Needed / Action Taken (for the identified risks/issues): </a:t>
                      </a:r>
                      <a:endParaRPr lang="en-US" sz="1200" b="0" u="none" strike="noStrike" kern="1200" cap="none" spc="0">
                        <a:solidFill>
                          <a:schemeClr val="tx1"/>
                        </a:solidFill>
                        <a:effectLst/>
                        <a:latin typeface="Calibri"/>
                        <a:ea typeface="Calibri"/>
                        <a:cs typeface="Calibri"/>
                      </a:endParaRPr>
                    </a:p>
                    <a:p>
                      <a:pPr marL="285750" indent="-285750">
                        <a:buFont typeface="Arial" panose="020B0604020202020204" pitchFamily="34" charset="0"/>
                        <a:buChar char="•"/>
                      </a:pPr>
                      <a:r>
                        <a:rPr lang="en-US" sz="1200" b="0" kern="1200">
                          <a:solidFill>
                            <a:schemeClr val="tx1"/>
                          </a:solidFill>
                          <a:effectLst/>
                          <a:latin typeface="Calibri"/>
                          <a:ea typeface="Calibri"/>
                          <a:cs typeface="Calibri"/>
                        </a:rPr>
                        <a:t>NA</a:t>
                      </a:r>
                    </a:p>
                    <a:p>
                      <a:pPr marL="285750" lvl="0" indent="-285750">
                        <a:buFont typeface="Arial" panose="020B0604020202020204" pitchFamily="34" charset="0"/>
                        <a:buChar char="•"/>
                      </a:pPr>
                      <a:endParaRPr lang="en-US" sz="1200" b="0" kern="1200">
                        <a:solidFill>
                          <a:schemeClr val="tx1"/>
                        </a:solidFill>
                        <a:effectLst/>
                        <a:latin typeface="Calibri"/>
                        <a:ea typeface="Calibri"/>
                        <a:cs typeface="Calibri"/>
                      </a:endParaRPr>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148738">
                <a:tc gridSpan="2">
                  <a:txBody>
                    <a:bodyPr/>
                    <a:lstStyle/>
                    <a:p>
                      <a:pPr algn="l" fontAlgn="t">
                        <a:buNone/>
                      </a:pPr>
                      <a:r>
                        <a:rPr lang="en-US" sz="1200" b="1" u="none" strike="noStrike" kern="1200" cap="none" spc="0">
                          <a:solidFill>
                            <a:schemeClr val="tx1"/>
                          </a:solidFill>
                          <a:effectLst/>
                          <a:latin typeface="Calibri"/>
                          <a:ea typeface="Calibri"/>
                          <a:cs typeface="Calibri"/>
                        </a:rPr>
                        <a:t>Automation Regression Updates : </a:t>
                      </a:r>
                    </a:p>
                    <a:p>
                      <a:pPr marL="171450" marR="0" lvl="0" indent="-171450" algn="l" rtl="0" eaLnBrk="1" fontAlgn="t" latinLnBrk="0" hangingPunct="1">
                        <a:lnSpc>
                          <a:spcPct val="100000"/>
                        </a:lnSpc>
                        <a:spcBef>
                          <a:spcPts val="0"/>
                        </a:spcBef>
                        <a:spcAft>
                          <a:spcPts val="0"/>
                        </a:spcAft>
                        <a:buClrTx/>
                        <a:buSzTx/>
                        <a:buFont typeface="Arial"/>
                        <a:buChar char="•"/>
                      </a:pPr>
                      <a:r>
                        <a:rPr lang="en-US" sz="1200" b="0" u="none" strike="noStrike" kern="1200" cap="none" spc="0">
                          <a:solidFill>
                            <a:schemeClr val="tx1"/>
                          </a:solidFill>
                          <a:effectLst/>
                          <a:latin typeface="Calibri"/>
                          <a:ea typeface="Calibri"/>
                          <a:cs typeface="Calibri"/>
                        </a:rPr>
                        <a:t>Baselining the automation suite is in Completed, we have approval from Product owners for business and sub business flow.</a:t>
                      </a:r>
                    </a:p>
                    <a:p>
                      <a:pPr marL="0" marR="0" lvl="0" indent="0" algn="l">
                        <a:lnSpc>
                          <a:spcPct val="100000"/>
                        </a:lnSpc>
                        <a:spcBef>
                          <a:spcPts val="0"/>
                        </a:spcBef>
                        <a:spcAft>
                          <a:spcPts val="0"/>
                        </a:spcAft>
                        <a:buClrTx/>
                        <a:buSzTx/>
                        <a:buFontTx/>
                        <a:buNone/>
                      </a:pPr>
                      <a:r>
                        <a:rPr lang="en-US" sz="1200" b="0" u="none" strike="noStrike" kern="1200" cap="none" spc="0">
                          <a:solidFill>
                            <a:schemeClr val="tx1"/>
                          </a:solidFill>
                          <a:effectLst/>
                          <a:latin typeface="Calibri"/>
                          <a:ea typeface="Calibri"/>
                          <a:cs typeface="Calibri"/>
                        </a:rPr>
                        <a:t>     We have Approval from Business for Automation regression tests cases.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Automation Scripting is completed 100%.</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2" name="Table 1">
            <a:extLst>
              <a:ext uri="{FF2B5EF4-FFF2-40B4-BE49-F238E27FC236}">
                <a16:creationId xmlns:a16="http://schemas.microsoft.com/office/drawing/2014/main" id="{24337582-503C-B65C-F3A0-E9600531CBBC}"/>
              </a:ext>
            </a:extLst>
          </p:cNvPr>
          <p:cNvGraphicFramePr>
            <a:graphicFrameLocks noGrp="1"/>
          </p:cNvGraphicFramePr>
          <p:nvPr>
            <p:extLst>
              <p:ext uri="{D42A27DB-BD31-4B8C-83A1-F6EECF244321}">
                <p14:modId xmlns:p14="http://schemas.microsoft.com/office/powerpoint/2010/main" val="4190513794"/>
              </p:ext>
            </p:extLst>
          </p:nvPr>
        </p:nvGraphicFramePr>
        <p:xfrm>
          <a:off x="380999" y="97974"/>
          <a:ext cx="11663856" cy="3088257"/>
        </p:xfrm>
        <a:graphic>
          <a:graphicData uri="http://schemas.openxmlformats.org/drawingml/2006/table">
            <a:tbl>
              <a:tblPr firstRow="1" bandRow="1">
                <a:noFill/>
                <a:tableStyleId>{5940675A-B579-460E-94D1-54222C63F5DA}</a:tableStyleId>
              </a:tblPr>
              <a:tblGrid>
                <a:gridCol w="1499440">
                  <a:extLst>
                    <a:ext uri="{9D8B030D-6E8A-4147-A177-3AD203B41FA5}">
                      <a16:colId xmlns:a16="http://schemas.microsoft.com/office/drawing/2014/main" val="3592680666"/>
                    </a:ext>
                  </a:extLst>
                </a:gridCol>
                <a:gridCol w="951116">
                  <a:extLst>
                    <a:ext uri="{9D8B030D-6E8A-4147-A177-3AD203B41FA5}">
                      <a16:colId xmlns:a16="http://schemas.microsoft.com/office/drawing/2014/main" val="1654399098"/>
                    </a:ext>
                  </a:extLst>
                </a:gridCol>
                <a:gridCol w="1646946">
                  <a:extLst>
                    <a:ext uri="{9D8B030D-6E8A-4147-A177-3AD203B41FA5}">
                      <a16:colId xmlns:a16="http://schemas.microsoft.com/office/drawing/2014/main" val="157821927"/>
                    </a:ext>
                  </a:extLst>
                </a:gridCol>
                <a:gridCol w="1978278">
                  <a:extLst>
                    <a:ext uri="{9D8B030D-6E8A-4147-A177-3AD203B41FA5}">
                      <a16:colId xmlns:a16="http://schemas.microsoft.com/office/drawing/2014/main" val="2428918094"/>
                    </a:ext>
                  </a:extLst>
                </a:gridCol>
                <a:gridCol w="1367329">
                  <a:extLst>
                    <a:ext uri="{9D8B030D-6E8A-4147-A177-3AD203B41FA5}">
                      <a16:colId xmlns:a16="http://schemas.microsoft.com/office/drawing/2014/main" val="2434076975"/>
                    </a:ext>
                  </a:extLst>
                </a:gridCol>
                <a:gridCol w="1188063">
                  <a:extLst>
                    <a:ext uri="{9D8B030D-6E8A-4147-A177-3AD203B41FA5}">
                      <a16:colId xmlns:a16="http://schemas.microsoft.com/office/drawing/2014/main" val="4168789034"/>
                    </a:ext>
                  </a:extLst>
                </a:gridCol>
                <a:gridCol w="1579548">
                  <a:extLst>
                    <a:ext uri="{9D8B030D-6E8A-4147-A177-3AD203B41FA5}">
                      <a16:colId xmlns:a16="http://schemas.microsoft.com/office/drawing/2014/main" val="1518792060"/>
                    </a:ext>
                  </a:extLst>
                </a:gridCol>
                <a:gridCol w="1453136">
                  <a:extLst>
                    <a:ext uri="{9D8B030D-6E8A-4147-A177-3AD203B41FA5}">
                      <a16:colId xmlns:a16="http://schemas.microsoft.com/office/drawing/2014/main" val="1805739722"/>
                    </a:ext>
                  </a:extLst>
                </a:gridCol>
              </a:tblGrid>
              <a:tr h="424012">
                <a:tc>
                  <a:txBody>
                    <a:bodyPr/>
                    <a:lstStyle/>
                    <a:p>
                      <a:pPr algn="l" fontAlgn="ctr">
                        <a:buNone/>
                      </a:pPr>
                      <a:r>
                        <a:rPr lang="en-US" sz="1400" b="1" u="none" strike="noStrike" cap="none" spc="60">
                          <a:solidFill>
                            <a:schemeClr val="bg1"/>
                          </a:solidFill>
                          <a:effectLst/>
                          <a:latin typeface="Calibri"/>
                          <a:ea typeface="Calibri"/>
                          <a:cs typeface="Calibri"/>
                        </a:rPr>
                        <a:t>Scrum Team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a:ea typeface="Calibri"/>
                          <a:cs typeface="Calibri"/>
                        </a:rPr>
                        <a:t>Everest</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Application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Pharmacy Benefits Build</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Testing POC:</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Hriktik Khan</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Release</a:t>
                      </a:r>
                      <a:r>
                        <a:rPr lang="en-US" sz="1400" b="0" u="none" strike="noStrike" cap="none" spc="60">
                          <a:solidFill>
                            <a:schemeClr val="bg1"/>
                          </a:solidFill>
                          <a:effectLst/>
                          <a:latin typeface="Calibri"/>
                          <a:ea typeface="Calibri"/>
                          <a:cs typeface="Calibri"/>
                        </a:rPr>
                        <a:t>:</a:t>
                      </a:r>
                      <a:endParaRPr lang="en-US" sz="1400" b="0"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TBD</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2181864">
                <a:tc gridSpan="8">
                  <a:txBody>
                    <a:bodyPr/>
                    <a:lstStyle/>
                    <a:p>
                      <a:pPr marL="0" indent="0" rtl="0" eaLnBrk="1" latinLnBrk="0" hangingPunct="1">
                        <a:buNone/>
                      </a:pPr>
                      <a:r>
                        <a:rPr lang="en-US" sz="1000" b="1" kern="1200">
                          <a:solidFill>
                            <a:schemeClr val="tx1"/>
                          </a:solidFill>
                          <a:effectLst/>
                          <a:latin typeface="+mn-lt"/>
                          <a:ea typeface="+mn-ea"/>
                          <a:cs typeface="+mn-cs"/>
                        </a:rPr>
                        <a:t>Overall Summary :</a:t>
                      </a:r>
                      <a:endParaRPr lang="en-US" sz="1000" b="0" i="0" kern="1200">
                        <a:solidFill>
                          <a:schemeClr val="tx1"/>
                        </a:solidFill>
                        <a:effectLst/>
                        <a:latin typeface="+mn-lt"/>
                        <a:ea typeface="+mn-ea"/>
                        <a:cs typeface="+mn-cs"/>
                      </a:endParaRPr>
                    </a:p>
                    <a:p>
                      <a:pPr marL="0" lvl="0" indent="0">
                        <a:buNone/>
                      </a:pPr>
                      <a:endParaRPr lang="en-US" sz="1000" b="1" kern="1200">
                        <a:solidFill>
                          <a:schemeClr val="tx1"/>
                        </a:solidFill>
                        <a:effectLst/>
                        <a:latin typeface="+mn-lt"/>
                        <a:ea typeface="+mn-ea"/>
                        <a:cs typeface="+mn-cs"/>
                      </a:endParaRPr>
                    </a:p>
                    <a:p>
                      <a:pPr marL="171450" lvl="0" indent="-171450" algn="l">
                        <a:buFont typeface="Arial"/>
                        <a:buChar char="•"/>
                      </a:pPr>
                      <a:r>
                        <a:rPr lang="en-US" sz="1100" b="1" i="0" u="none" strike="noStrike" kern="1200" noProof="0">
                          <a:solidFill>
                            <a:srgbClr val="000000"/>
                          </a:solidFill>
                          <a:effectLst/>
                          <a:highlight>
                            <a:srgbClr val="FFFFFF"/>
                          </a:highlight>
                          <a:latin typeface="Aptos"/>
                          <a:ea typeface="+mn-ea"/>
                          <a:cs typeface="+mn-cs"/>
                        </a:rPr>
                        <a:t>User Story 9024160: Add CGM to Individual &amp; Group RxDecisions Grid</a:t>
                      </a:r>
                      <a:br>
                        <a:rPr lang="en-US" sz="1100" b="1" i="0" u="none" strike="noStrike" kern="1200" noProof="0">
                          <a:solidFill>
                            <a:srgbClr val="000000"/>
                          </a:solidFill>
                          <a:effectLst/>
                          <a:highlight>
                            <a:srgbClr val="FFFFFF"/>
                          </a:highlight>
                          <a:latin typeface="Aptos"/>
                          <a:ea typeface="+mn-ea"/>
                          <a:cs typeface="+mn-cs"/>
                        </a:rPr>
                      </a:br>
                      <a:r>
                        <a:rPr lang="en-US" sz="1100" b="0" i="0" u="none" strike="noStrike" kern="1200" noProof="0">
                          <a:solidFill>
                            <a:srgbClr val="000000"/>
                          </a:solidFill>
                          <a:effectLst/>
                          <a:highlight>
                            <a:srgbClr val="FFFFFF"/>
                          </a:highlight>
                        </a:rPr>
                        <a:t>(The Continuous Glucose Monitoring (CGM) logic needs to be applied to both the 2027 individual and group RxDecisions grids.)</a:t>
                      </a:r>
                      <a:br>
                        <a:rPr lang="en-US" sz="1100" b="0" i="0" u="none" strike="noStrike" kern="1200" noProof="0">
                          <a:solidFill>
                            <a:srgbClr val="000000"/>
                          </a:solidFill>
                          <a:effectLst/>
                          <a:highlight>
                            <a:srgbClr val="FFFFFF"/>
                          </a:highlight>
                        </a:rPr>
                      </a:br>
                      <a:r>
                        <a:rPr lang="en-US" sz="1100" b="0" i="0" u="none" strike="noStrike" kern="1200" noProof="0">
                          <a:solidFill>
                            <a:srgbClr val="000000"/>
                          </a:solidFill>
                          <a:effectLst/>
                          <a:highlight>
                            <a:srgbClr val="FFFFFF"/>
                          </a:highlight>
                        </a:rPr>
                        <a:t>Test Design Completed, test execution in progress</a:t>
                      </a:r>
                    </a:p>
                    <a:p>
                      <a:pPr marL="171450" lvl="0" indent="-171450" algn="l">
                        <a:lnSpc>
                          <a:spcPct val="100000"/>
                        </a:lnSpc>
                        <a:spcBef>
                          <a:spcPts val="0"/>
                        </a:spcBef>
                        <a:spcAft>
                          <a:spcPts val="0"/>
                        </a:spcAft>
                        <a:buFont typeface="Arial"/>
                        <a:buChar char="•"/>
                      </a:pPr>
                      <a:r>
                        <a:rPr lang="en-US" sz="1100" b="1" i="0" u="none" strike="noStrike" kern="1200" noProof="0">
                          <a:solidFill>
                            <a:srgbClr val="000000"/>
                          </a:solidFill>
                          <a:effectLst/>
                          <a:highlight>
                            <a:srgbClr val="FFFFFF"/>
                          </a:highlight>
                          <a:latin typeface="Aptos"/>
                          <a:ea typeface="+mn-ea"/>
                          <a:cs typeface="+mn-cs"/>
                        </a:rPr>
                        <a:t>User Story 9068556: Add SNP Designation - Individual Rx Decisions Grid</a:t>
                      </a:r>
                      <a:br>
                        <a:rPr lang="en-US" sz="1100" b="1" i="0" u="none" strike="noStrike" kern="1200" noProof="0">
                          <a:solidFill>
                            <a:srgbClr val="000000"/>
                          </a:solidFill>
                          <a:effectLst/>
                          <a:highlight>
                            <a:srgbClr val="FFFFFF"/>
                          </a:highlight>
                          <a:latin typeface="Aptos"/>
                          <a:ea typeface="+mn-ea"/>
                          <a:cs typeface="+mn-cs"/>
                        </a:rPr>
                      </a:br>
                      <a:r>
                        <a:rPr lang="en-US" sz="1100" b="1" i="0" u="none" strike="noStrike" kern="1200" noProof="0">
                          <a:solidFill>
                            <a:srgbClr val="000000"/>
                          </a:solidFill>
                          <a:effectLst/>
                          <a:highlight>
                            <a:srgbClr val="FFFFFF"/>
                          </a:highlight>
                          <a:latin typeface="Aptos"/>
                          <a:ea typeface="+mn-ea"/>
                          <a:cs typeface="+mn-cs"/>
                        </a:rPr>
                        <a:t>(</a:t>
                      </a:r>
                      <a:r>
                        <a:rPr lang="en-US" sz="1100" b="0" i="0" u="none" strike="noStrike" kern="1200" noProof="0">
                          <a:solidFill>
                            <a:srgbClr val="000000"/>
                          </a:solidFill>
                          <a:effectLst/>
                          <a:highlight>
                            <a:srgbClr val="FFFFFF"/>
                          </a:highlight>
                        </a:rPr>
                        <a:t>Individual RxDecisions grid has plans that have a SNP Designation. The 'SNP Designation' field was added in HPAS for 2026 plans. The Individual RxDecisions grid view will need this field added between the Product Type field and the SNP Type field as pictured below)</a:t>
                      </a:r>
                      <a:br>
                        <a:rPr lang="en-US" sz="1100" b="0" i="0" u="none" strike="noStrike" kern="1200" noProof="0">
                          <a:solidFill>
                            <a:srgbClr val="000000"/>
                          </a:solidFill>
                          <a:effectLst/>
                          <a:highlight>
                            <a:srgbClr val="FFFFFF"/>
                          </a:highlight>
                        </a:rPr>
                      </a:br>
                      <a:r>
                        <a:rPr lang="en-US" sz="1100" b="0" i="0" u="none" strike="noStrike" kern="1200" noProof="0">
                          <a:solidFill>
                            <a:srgbClr val="000000"/>
                          </a:solidFill>
                          <a:effectLst/>
                          <a:highlight>
                            <a:srgbClr val="FFFFFF"/>
                          </a:highlight>
                          <a:latin typeface="Aptos"/>
                        </a:rPr>
                        <a:t>Test Design Completed, test execution in progress</a:t>
                      </a:r>
                      <a:endParaRPr lang="en-US" sz="1100"/>
                    </a:p>
                    <a:p>
                      <a:pPr marL="171450" lvl="0" indent="-171450" algn="l">
                        <a:lnSpc>
                          <a:spcPct val="100000"/>
                        </a:lnSpc>
                        <a:spcBef>
                          <a:spcPts val="0"/>
                        </a:spcBef>
                        <a:spcAft>
                          <a:spcPts val="0"/>
                        </a:spcAft>
                        <a:buFont typeface="Arial"/>
                        <a:buChar char="•"/>
                      </a:pPr>
                      <a:r>
                        <a:rPr lang="en-US" sz="1100" b="1" i="0" u="sng" strike="noStrike" kern="1200" noProof="0">
                          <a:solidFill>
                            <a:srgbClr val="000000"/>
                          </a:solidFill>
                          <a:effectLst/>
                          <a:highlight>
                            <a:srgbClr val="FFFFFF"/>
                          </a:highlight>
                          <a:latin typeface="+mn-lt"/>
                          <a:ea typeface="+mn-ea"/>
                          <a:cs typeface="+mn-cs"/>
                          <a:hlinkClick r:id="rId2">
                            <a:extLst>
                              <a:ext uri="{A12FA001-AC4F-418D-AE19-62706E023703}">
                                <ahyp:hlinkClr xmlns:ahyp="http://schemas.microsoft.com/office/drawing/2018/hyperlinkcolor" val="tx"/>
                              </a:ext>
                            </a:extLst>
                          </a:hlinkClick>
                        </a:rPr>
                        <a:t>User Story 8926196</a:t>
                      </a:r>
                      <a:r>
                        <a:rPr lang="en-US" sz="1100" b="1" i="0" u="none" strike="noStrike" kern="1200" noProof="0">
                          <a:solidFill>
                            <a:srgbClr val="000000"/>
                          </a:solidFill>
                          <a:effectLst/>
                          <a:highlight>
                            <a:srgbClr val="FFFFFF"/>
                          </a:highlight>
                          <a:latin typeface="+mn-lt"/>
                          <a:ea typeface="+mn-ea"/>
                          <a:cs typeface="+mn-cs"/>
                        </a:rPr>
                        <a:t>:</a:t>
                      </a:r>
                      <a:r>
                        <a:rPr lang="en-US" sz="1100" b="1" i="0" u="none" strike="noStrike" kern="1200" noProof="0">
                          <a:solidFill>
                            <a:srgbClr val="000000"/>
                          </a:solidFill>
                          <a:effectLst/>
                          <a:highlight>
                            <a:srgbClr val="FFFFFF"/>
                          </a:highlight>
                        </a:rPr>
                        <a:t> PBB - RxDecision Grids - update cost shares to reflect actual HPAS data amount as Text fields</a:t>
                      </a:r>
                      <a:r>
                        <a:rPr lang="en-US" sz="1100" b="0" i="0" u="none" strike="noStrike" kern="1200" noProof="0">
                          <a:solidFill>
                            <a:srgbClr val="000000"/>
                          </a:solidFill>
                          <a:effectLst/>
                          <a:highlight>
                            <a:srgbClr val="FFFFFF"/>
                          </a:highlight>
                        </a:rPr>
                        <a:t>.</a:t>
                      </a:r>
                      <a:br>
                        <a:rPr lang="en-US" sz="1100" b="0" i="0" u="none" strike="noStrike" kern="1200" noProof="0">
                          <a:solidFill>
                            <a:srgbClr val="000000"/>
                          </a:solidFill>
                          <a:effectLst/>
                          <a:highlight>
                            <a:srgbClr val="FFFFFF"/>
                          </a:highlight>
                        </a:rPr>
                      </a:br>
                      <a:r>
                        <a:rPr lang="en-US" sz="1100" b="0" i="0" u="none" strike="noStrike" kern="1200" noProof="0">
                          <a:solidFill>
                            <a:srgbClr val="000000"/>
                          </a:solidFill>
                          <a:effectLst/>
                          <a:highlight>
                            <a:srgbClr val="FFFFFF"/>
                          </a:highlight>
                        </a:rPr>
                        <a:t>On both the UI and exported excel document the fields that have a cost share amount with a coinsurance percentage are displaying wrong. See attached example of a downloaded decisions grid data. Ensure all fields that have a coinsurance amount are displayed as a percentage and not the actual decimal value. Example: it's currently being displayed as 0.25% however it needs to be displayed as 25%.</a:t>
                      </a:r>
                      <a:endParaRPr lang="en-US" sz="800" b="0" i="0" u="none" strike="noStrike" kern="1200" noProof="0">
                        <a:solidFill>
                          <a:srgbClr val="000000"/>
                        </a:solidFill>
                        <a:effectLst/>
                        <a:highlight>
                          <a:srgbClr val="FFFFFF"/>
                        </a:highlight>
                        <a:latin typeface="Aptos"/>
                      </a:endParaRPr>
                    </a:p>
                  </a:txBody>
                  <a:tcPr marL="108022" marR="12002" marT="124687" marB="0">
                    <a:lnL w="12700" cmpd="sng">
                      <a:noFill/>
                    </a:lnL>
                    <a:lnR w="12700" cmpd="sng">
                      <a:noFill/>
                    </a:lnR>
                    <a:lnT w="19050" cap="flat" cmpd="sng" algn="ctr">
                      <a:noFill/>
                      <a:prstDash val="solid"/>
                    </a:lnT>
                    <a:lnB w="19050" cap="flat" cmpd="sng" algn="ctr">
                      <a:noFill/>
                      <a:prstDash val="soli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263323">
                <a:tc gridSpan="8">
                  <a:txBody>
                    <a:bodyPr/>
                    <a:lstStyle/>
                    <a:p>
                      <a:pPr marL="0" lvl="0" indent="0" algn="l">
                        <a:lnSpc>
                          <a:spcPct val="100000"/>
                        </a:lnSpc>
                        <a:spcBef>
                          <a:spcPts val="0"/>
                        </a:spcBef>
                        <a:spcAft>
                          <a:spcPts val="0"/>
                        </a:spcAft>
                        <a:buFont typeface="Arial"/>
                        <a:buNone/>
                      </a:pPr>
                      <a:endParaRPr lang="en-US" sz="800" b="0" i="0" u="none" strike="noStrike" kern="1200" noProof="0">
                        <a:solidFill>
                          <a:srgbClr val="000000"/>
                        </a:solidFill>
                        <a:effectLst/>
                        <a:highlight>
                          <a:srgbClr val="FFFFFF"/>
                        </a:highlight>
                        <a:latin typeface="Aptos"/>
                      </a:endParaRPr>
                    </a:p>
                  </a:txBody>
                  <a:tcPr marL="108022" marR="12001" marT="124687" marB="0">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202944"/>
                  </a:ext>
                </a:extLst>
              </a:tr>
            </a:tbl>
          </a:graphicData>
        </a:graphic>
      </p:graphicFrame>
      <p:graphicFrame>
        <p:nvGraphicFramePr>
          <p:cNvPr id="8" name="Table 7">
            <a:extLst>
              <a:ext uri="{FF2B5EF4-FFF2-40B4-BE49-F238E27FC236}">
                <a16:creationId xmlns:a16="http://schemas.microsoft.com/office/drawing/2014/main" id="{F52FAA56-5609-87AD-B3E1-2329ECBFA050}"/>
              </a:ext>
            </a:extLst>
          </p:cNvPr>
          <p:cNvGraphicFramePr>
            <a:graphicFrameLocks noGrp="1"/>
          </p:cNvGraphicFramePr>
          <p:nvPr>
            <p:extLst>
              <p:ext uri="{D42A27DB-BD31-4B8C-83A1-F6EECF244321}">
                <p14:modId xmlns:p14="http://schemas.microsoft.com/office/powerpoint/2010/main" val="3615275322"/>
              </p:ext>
            </p:extLst>
          </p:nvPr>
        </p:nvGraphicFramePr>
        <p:xfrm>
          <a:off x="377371" y="2967173"/>
          <a:ext cx="11510982" cy="1590819"/>
        </p:xfrm>
        <a:graphic>
          <a:graphicData uri="http://schemas.openxmlformats.org/drawingml/2006/table">
            <a:tbl>
              <a:tblPr bandRow="1">
                <a:tableStyleId>{5C22544A-7EE6-4342-B048-85BDC9FD1C3A}</a:tableStyleId>
              </a:tblPr>
              <a:tblGrid>
                <a:gridCol w="1231669">
                  <a:extLst>
                    <a:ext uri="{9D8B030D-6E8A-4147-A177-3AD203B41FA5}">
                      <a16:colId xmlns:a16="http://schemas.microsoft.com/office/drawing/2014/main" val="957329485"/>
                    </a:ext>
                  </a:extLst>
                </a:gridCol>
                <a:gridCol w="1371600">
                  <a:extLst>
                    <a:ext uri="{9D8B030D-6E8A-4147-A177-3AD203B41FA5}">
                      <a16:colId xmlns:a16="http://schemas.microsoft.com/office/drawing/2014/main" val="3328252004"/>
                    </a:ext>
                  </a:extLst>
                </a:gridCol>
                <a:gridCol w="1019907">
                  <a:extLst>
                    <a:ext uri="{9D8B030D-6E8A-4147-A177-3AD203B41FA5}">
                      <a16:colId xmlns:a16="http://schemas.microsoft.com/office/drawing/2014/main" val="3881694452"/>
                    </a:ext>
                  </a:extLst>
                </a:gridCol>
                <a:gridCol w="1535723">
                  <a:extLst>
                    <a:ext uri="{9D8B030D-6E8A-4147-A177-3AD203B41FA5}">
                      <a16:colId xmlns:a16="http://schemas.microsoft.com/office/drawing/2014/main" val="3161609625"/>
                    </a:ext>
                  </a:extLst>
                </a:gridCol>
                <a:gridCol w="961290">
                  <a:extLst>
                    <a:ext uri="{9D8B030D-6E8A-4147-A177-3AD203B41FA5}">
                      <a16:colId xmlns:a16="http://schemas.microsoft.com/office/drawing/2014/main" val="3598411205"/>
                    </a:ext>
                  </a:extLst>
                </a:gridCol>
                <a:gridCol w="1195753">
                  <a:extLst>
                    <a:ext uri="{9D8B030D-6E8A-4147-A177-3AD203B41FA5}">
                      <a16:colId xmlns:a16="http://schemas.microsoft.com/office/drawing/2014/main" val="1616042860"/>
                    </a:ext>
                  </a:extLst>
                </a:gridCol>
                <a:gridCol w="1457348">
                  <a:extLst>
                    <a:ext uri="{9D8B030D-6E8A-4147-A177-3AD203B41FA5}">
                      <a16:colId xmlns:a16="http://schemas.microsoft.com/office/drawing/2014/main" val="2791648029"/>
                    </a:ext>
                  </a:extLst>
                </a:gridCol>
                <a:gridCol w="738550">
                  <a:extLst>
                    <a:ext uri="{9D8B030D-6E8A-4147-A177-3AD203B41FA5}">
                      <a16:colId xmlns:a16="http://schemas.microsoft.com/office/drawing/2014/main" val="4017079425"/>
                    </a:ext>
                  </a:extLst>
                </a:gridCol>
                <a:gridCol w="1999142">
                  <a:extLst>
                    <a:ext uri="{9D8B030D-6E8A-4147-A177-3AD203B41FA5}">
                      <a16:colId xmlns:a16="http://schemas.microsoft.com/office/drawing/2014/main" val="3139136017"/>
                    </a:ext>
                  </a:extLst>
                </a:gridCol>
              </a:tblGrid>
              <a:tr h="609599">
                <a:tc>
                  <a:txBody>
                    <a:bodyPr/>
                    <a:lstStyle/>
                    <a:p>
                      <a:pPr algn="ctr" rtl="0" fontAlgn="base">
                        <a:lnSpc>
                          <a:spcPts val="675"/>
                        </a:lnSpc>
                        <a:buNone/>
                      </a:pPr>
                      <a:r>
                        <a:rPr lang="en-US" sz="1050" b="1">
                          <a:effectLst/>
                          <a:latin typeface="Calibri"/>
                        </a:rPr>
                        <a:t># User stories</a:t>
                      </a:r>
                      <a:endParaRPr lang="en-US" sz="1050">
                        <a:effectLst/>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75"/>
                        </a:lnSpc>
                        <a:buNone/>
                      </a:pPr>
                      <a:r>
                        <a:rPr lang="en-US" sz="1050" b="1">
                          <a:effectLst/>
                          <a:latin typeface="Calibri"/>
                        </a:rPr>
                        <a:t>Test design Status</a:t>
                      </a:r>
                      <a:endParaRPr lang="en-US" sz="1050">
                        <a:effectLst/>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050" b="1">
                          <a:effectLst/>
                          <a:latin typeface="Calibri"/>
                        </a:rPr>
                        <a:t>Test Design %</a:t>
                      </a:r>
                      <a:endParaRPr lang="en-US" sz="1050">
                        <a:effectLst/>
                        <a:latin typeface="Calibri"/>
                      </a:endParaRPr>
                    </a:p>
                  </a:txBody>
                  <a:tcPr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a:lnSpc>
                          <a:spcPts val="675"/>
                        </a:lnSpc>
                        <a:buNone/>
                      </a:pPr>
                      <a:r>
                        <a:rPr lang="en-US" sz="1050" b="1" kern="1200" noProof="0">
                          <a:solidFill>
                            <a:schemeClr val="dk1"/>
                          </a:solidFill>
                          <a:effectLst/>
                          <a:latin typeface="Calibri"/>
                          <a:ea typeface="+mn-ea"/>
                          <a:cs typeface="+mn-cs"/>
                        </a:rPr>
                        <a:t>Test Design though AI</a:t>
                      </a:r>
                      <a:endParaRPr lang="en-US" sz="1050"/>
                    </a:p>
                    <a:p>
                      <a:pPr lvl="0" algn="ctr">
                        <a:lnSpc>
                          <a:spcPts val="675"/>
                        </a:lnSpc>
                        <a:buNone/>
                      </a:pPr>
                      <a:endParaRPr lang="en-US" sz="1050" b="1" kern="1200" noProof="0">
                        <a:solidFill>
                          <a:schemeClr val="dk1"/>
                        </a:solidFill>
                        <a:effectLst/>
                        <a:latin typeface="Calibri"/>
                        <a:ea typeface="+mn-ea"/>
                        <a:cs typeface="+mn-cs"/>
                      </a:endParaRPr>
                    </a:p>
                    <a:p>
                      <a:pPr lvl="0" algn="ctr">
                        <a:lnSpc>
                          <a:spcPts val="675"/>
                        </a:lnSpc>
                        <a:buNone/>
                      </a:pPr>
                      <a:r>
                        <a:rPr lang="en-US" sz="1050" b="1" kern="1200" noProof="0">
                          <a:solidFill>
                            <a:schemeClr val="dk1"/>
                          </a:solidFill>
                          <a:effectLst/>
                          <a:latin typeface="Calibri"/>
                          <a:ea typeface="+mn-ea"/>
                          <a:cs typeface="+mn-cs"/>
                        </a:rPr>
                        <a:t> too</a:t>
                      </a:r>
                      <a:r>
                        <a:rPr lang="en-US" sz="800" b="1" i="0" u="none" strike="noStrike" noProof="0">
                          <a:solidFill>
                            <a:srgbClr val="000000"/>
                          </a:solidFill>
                          <a:effectLst/>
                          <a:latin typeface="Aptos Narrow"/>
                        </a:rPr>
                        <a:t>ls (Sulfur / Strider)</a:t>
                      </a:r>
                      <a:endParaRPr lang="en-US" sz="800"/>
                    </a:p>
                  </a:txBody>
                  <a:tcPr anchor="ctr">
                    <a:lnL w="9524"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050" b="1">
                          <a:effectLst/>
                          <a:latin typeface="Calibri"/>
                        </a:rPr>
                        <a:t>Test Execution</a:t>
                      </a:r>
                      <a:endParaRPr lang="en-US" sz="1050"/>
                    </a:p>
                    <a:p>
                      <a:pPr lvl="0" algn="ctr" rtl="0">
                        <a:lnSpc>
                          <a:spcPts val="675"/>
                        </a:lnSpc>
                        <a:buNone/>
                      </a:pPr>
                      <a:endParaRPr lang="en-US" sz="1050" b="1">
                        <a:effectLst/>
                        <a:latin typeface="Calibri"/>
                      </a:endParaRPr>
                    </a:p>
                    <a:p>
                      <a:pPr lvl="0" algn="ctr" rtl="0">
                        <a:lnSpc>
                          <a:spcPts val="675"/>
                        </a:lnSpc>
                        <a:buNone/>
                      </a:pPr>
                      <a:r>
                        <a:rPr lang="en-US" sz="1050" b="1">
                          <a:effectLst/>
                          <a:latin typeface="Calibri"/>
                        </a:rPr>
                        <a:t> Status</a:t>
                      </a:r>
                      <a:endParaRPr lang="en-US" sz="1050">
                        <a:effectLst/>
                        <a:latin typeface="Calibri"/>
                      </a:endParaRPr>
                    </a:p>
                  </a:txBody>
                  <a:tcPr anchor="ctr">
                    <a:lnL w="9524"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050" b="1">
                          <a:effectLst/>
                          <a:latin typeface="Calibri"/>
                        </a:rPr>
                        <a:t>Test Execution %</a:t>
                      </a:r>
                      <a:endParaRPr lang="en-US" sz="1050">
                        <a:effectLst/>
                        <a:latin typeface="Calibri"/>
                      </a:endParaRPr>
                    </a:p>
                  </a:txBody>
                  <a:tcPr anchor="ctr">
                    <a:lnL w="9524">
                      <a:solidFill>
                        <a:srgbClr val="000000"/>
                      </a:solidFill>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050" b="1">
                          <a:effectLst/>
                          <a:latin typeface="Calibri"/>
                        </a:rPr>
                        <a:t>Testing Completion date</a:t>
                      </a:r>
                      <a:endParaRPr lang="en-US" sz="1050">
                        <a:effectLst/>
                        <a:latin typeface="Calibri"/>
                      </a:endParaRPr>
                    </a:p>
                  </a:txBody>
                  <a:tcPr anchor="ctr">
                    <a:lnL w="9524">
                      <a:solidFill>
                        <a:srgbClr val="000000"/>
                      </a:solidFill>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050" b="1">
                          <a:effectLst/>
                          <a:latin typeface="Calibri"/>
                        </a:rPr>
                        <a:t>Release date</a:t>
                      </a:r>
                      <a:endParaRPr lang="en-US" sz="1050">
                        <a:effectLst/>
                        <a:latin typeface="Calibri"/>
                      </a:endParaRPr>
                    </a:p>
                  </a:txBody>
                  <a:tcPr anchor="ctr">
                    <a:lnL w="9524">
                      <a:solidFill>
                        <a:srgbClr val="000000"/>
                      </a:solidFill>
                    </a:lnL>
                    <a:lnR w="9524">
                      <a:solidFill>
                        <a:srgbClr val="000000"/>
                      </a:solidFill>
                    </a:lnR>
                    <a:lnT w="9524">
                      <a:solidFill>
                        <a:srgbClr val="000000"/>
                      </a:solidFill>
                    </a:lnT>
                    <a:lnB w="9524">
                      <a:solidFill>
                        <a:srgbClr val="000000"/>
                      </a:solidFill>
                    </a:lnB>
                    <a:solidFill>
                      <a:srgbClr val="FBE3D6"/>
                    </a:solidFill>
                  </a:tcPr>
                </a:tc>
                <a:tc>
                  <a:txBody>
                    <a:bodyPr/>
                    <a:lstStyle/>
                    <a:p>
                      <a:pPr lvl="0" algn="ctr">
                        <a:lnSpc>
                          <a:spcPts val="675"/>
                        </a:lnSpc>
                        <a:buNone/>
                      </a:pPr>
                      <a:r>
                        <a:rPr lang="en-US" sz="1050" b="1">
                          <a:effectLst/>
                          <a:latin typeface="Calibri"/>
                        </a:rPr>
                        <a:t>Defects</a:t>
                      </a:r>
                    </a:p>
                  </a:txBody>
                  <a:tcPr anchor="ctr">
                    <a:lnL w="9524">
                      <a:solidFill>
                        <a:srgbClr val="000000"/>
                      </a:solidFill>
                    </a:lnL>
                    <a:lnR w="9524">
                      <a:solidFill>
                        <a:srgbClr val="000000"/>
                      </a:solidFill>
                    </a:lnR>
                    <a:lnT w="9524">
                      <a:solidFill>
                        <a:srgbClr val="000000"/>
                      </a:solidFill>
                    </a:lnT>
                    <a:lnB w="9524">
                      <a:solidFill>
                        <a:srgbClr val="000000"/>
                      </a:solidFill>
                    </a:lnB>
                    <a:solidFill>
                      <a:srgbClr val="FBE3D6"/>
                    </a:solidFill>
                  </a:tcPr>
                </a:tc>
                <a:extLst>
                  <a:ext uri="{0D108BD9-81ED-4DB2-BD59-A6C34878D82A}">
                    <a16:rowId xmlns:a16="http://schemas.microsoft.com/office/drawing/2014/main" val="1459972755"/>
                  </a:ext>
                </a:extLst>
              </a:tr>
              <a:tr h="363415">
                <a:tc>
                  <a:txBody>
                    <a:bodyPr/>
                    <a:lstStyle/>
                    <a:p>
                      <a:pPr lvl="0" algn="ctr">
                        <a:lnSpc>
                          <a:spcPts val="675"/>
                        </a:lnSpc>
                        <a:buNone/>
                      </a:pPr>
                      <a:r>
                        <a:rPr lang="en-US" sz="1200">
                          <a:effectLst/>
                          <a:latin typeface="Calibri"/>
                          <a:ea typeface="Calibri"/>
                          <a:cs typeface="Calibri"/>
                        </a:rPr>
                        <a:t>1</a:t>
                      </a:r>
                      <a:endParaRPr lang="en-US"/>
                    </a:p>
                  </a:txBody>
                  <a:tcPr marL="5353" marR="5353" marT="535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75"/>
                        </a:lnSpc>
                        <a:buNone/>
                      </a:pPr>
                      <a:r>
                        <a:rPr lang="en-US" sz="1200">
                          <a:effectLst/>
                          <a:latin typeface="Calibri"/>
                          <a:ea typeface="Calibri"/>
                          <a:cs typeface="Calibri"/>
                        </a:rPr>
                        <a:t>Completed</a:t>
                      </a:r>
                      <a:endParaRPr lang="en-US" sz="1200" b="0" i="0" u="none" strike="noStrike" noProof="0">
                        <a:solidFill>
                          <a:srgbClr val="000000"/>
                        </a:solidFill>
                        <a:effectLst/>
                        <a:latin typeface="Calibri"/>
                        <a:ea typeface="Calibri"/>
                        <a:cs typeface="Calibri"/>
                      </a:endParaRPr>
                    </a:p>
                  </a:txBody>
                  <a:tcPr marL="5353" marR="5353" marT="535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100%</a:t>
                      </a:r>
                      <a:endParaRPr lang="en-US"/>
                    </a:p>
                  </a:txBody>
                  <a:tcPr marL="5353" marR="5353" marT="5353" anchor="ctr">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30%</a:t>
                      </a:r>
                      <a:endParaRPr lang="en-US"/>
                    </a:p>
                  </a:txBody>
                  <a:tcPr marL="5353" marR="5353" marT="5353" anchor="ctr">
                    <a:lnL w="9524" cap="flat" cmpd="sng" algn="ctr">
                      <a:solidFill>
                        <a:srgbClr val="000000"/>
                      </a:solidFill>
                      <a:prstDash val="solid"/>
                      <a:round/>
                      <a:headEnd type="none" w="med" len="med"/>
                      <a:tailEnd type="none" w="med" len="med"/>
                    </a:lnL>
                    <a:lnR w="9524">
                      <a:solidFill>
                        <a:srgbClr val="000000"/>
                      </a:solidFill>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In-Progress</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90%</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07/24</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TBD</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DF – 5833( Resolved)</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extLst>
                  <a:ext uri="{0D108BD9-81ED-4DB2-BD59-A6C34878D82A}">
                    <a16:rowId xmlns:a16="http://schemas.microsoft.com/office/drawing/2014/main" val="965984568"/>
                  </a:ext>
                </a:extLst>
              </a:tr>
              <a:tr h="272561">
                <a:tc>
                  <a:txBody>
                    <a:bodyPr/>
                    <a:lstStyle/>
                    <a:p>
                      <a:pPr lvl="0" algn="ctr">
                        <a:lnSpc>
                          <a:spcPts val="675"/>
                        </a:lnSpc>
                        <a:buNone/>
                      </a:pPr>
                      <a:r>
                        <a:rPr lang="en-US" sz="1200">
                          <a:effectLst/>
                          <a:latin typeface="Calibri"/>
                          <a:ea typeface="Calibri"/>
                          <a:cs typeface="Calibri"/>
                        </a:rPr>
                        <a:t>1</a:t>
                      </a:r>
                      <a:endParaRPr lang="en-US"/>
                    </a:p>
                  </a:txBody>
                  <a:tcPr marL="5353" marR="5353" marT="5353" anchor="ctr">
                    <a:lnL w="9524">
                      <a:solidFill>
                        <a:srgbClr val="000000"/>
                      </a:solidFill>
                    </a:lnL>
                    <a:lnR w="9524"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Calibri"/>
                          <a:ea typeface="Calibri"/>
                          <a:cs typeface="Calibri"/>
                        </a:rPr>
                        <a:t>Completed</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100%</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35%</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Completed</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100%</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07/24</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Calibri"/>
                          <a:ea typeface="Calibri"/>
                          <a:cs typeface="Calibri"/>
                        </a:rPr>
                        <a:t>TBD</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Calibri"/>
                          <a:ea typeface="Calibri"/>
                          <a:cs typeface="Calibri"/>
                        </a:rPr>
                        <a:t>NA</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extLst>
                  <a:ext uri="{0D108BD9-81ED-4DB2-BD59-A6C34878D82A}">
                    <a16:rowId xmlns:a16="http://schemas.microsoft.com/office/drawing/2014/main" val="1078637108"/>
                  </a:ext>
                </a:extLst>
              </a:tr>
              <a:tr h="345244">
                <a:tc>
                  <a:txBody>
                    <a:bodyPr/>
                    <a:lstStyle/>
                    <a:p>
                      <a:pPr marL="0" marR="0" lvl="0" indent="0" algn="ctr" defTabSz="914400" rtl="0" eaLnBrk="1" fontAlgn="auto" latinLnBrk="0" hangingPunct="1">
                        <a:lnSpc>
                          <a:spcPts val="675"/>
                        </a:lnSpc>
                        <a:spcBef>
                          <a:spcPts val="0"/>
                        </a:spcBef>
                        <a:spcAft>
                          <a:spcPts val="0"/>
                        </a:spcAft>
                        <a:buClrTx/>
                        <a:buSzTx/>
                        <a:buFontTx/>
                        <a:buNone/>
                        <a:tabLst/>
                        <a:defRPr/>
                      </a:pPr>
                      <a:endParaRPr lang="en-US" sz="1200">
                        <a:effectLst/>
                        <a:latin typeface="Calibri"/>
                        <a:ea typeface="Calibri"/>
                        <a:cs typeface="Calibri"/>
                      </a:endParaRPr>
                    </a:p>
                    <a:p>
                      <a:pPr marL="0" marR="0" lvl="0" indent="0" algn="ctr" rtl="0">
                        <a:lnSpc>
                          <a:spcPts val="675"/>
                        </a:lnSpc>
                        <a:spcBef>
                          <a:spcPts val="0"/>
                        </a:spcBef>
                        <a:spcAft>
                          <a:spcPts val="0"/>
                        </a:spcAft>
                        <a:buClrTx/>
                        <a:buSzTx/>
                        <a:buFontTx/>
                        <a:buNone/>
                      </a:pPr>
                      <a:r>
                        <a:rPr lang="en-US" sz="1200">
                          <a:effectLst/>
                          <a:latin typeface="Calibri"/>
                          <a:ea typeface="Calibri"/>
                          <a:cs typeface="Calibri"/>
                        </a:rPr>
                        <a:t>1</a:t>
                      </a:r>
                      <a:endParaRPr lang="en-US"/>
                    </a:p>
                    <a:p>
                      <a:pPr lvl="0" algn="ctr">
                        <a:lnSpc>
                          <a:spcPts val="675"/>
                        </a:lnSpc>
                        <a:buNone/>
                      </a:pPr>
                      <a:endParaRPr lang="en-US" sz="1200">
                        <a:effectLst/>
                        <a:latin typeface="Calibri"/>
                        <a:ea typeface="Calibri"/>
                        <a:cs typeface="Calibri"/>
                      </a:endParaRP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Calibri"/>
                          <a:ea typeface="Calibri"/>
                          <a:cs typeface="Calibri"/>
                        </a:rPr>
                        <a:t>Completed</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a:effectLst/>
                          <a:latin typeface="Calibri"/>
                          <a:ea typeface="Calibri"/>
                          <a:cs typeface="Calibri"/>
                        </a:rPr>
                        <a:t>100%</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a:effectLst/>
                          <a:latin typeface="Calibri"/>
                          <a:ea typeface="Calibri"/>
                          <a:cs typeface="Calibri"/>
                        </a:rPr>
                        <a:t>25%</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In-Progress</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a:effectLst/>
                          <a:latin typeface="Calibri"/>
                          <a:ea typeface="Calibri"/>
                          <a:cs typeface="Calibri"/>
                        </a:rPr>
                        <a:t>90%</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07/24</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Calibri"/>
                          <a:ea typeface="Calibri"/>
                          <a:cs typeface="Calibri"/>
                        </a:rPr>
                        <a:t>TBD</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Calibri"/>
                          <a:ea typeface="Calibri"/>
                          <a:cs typeface="Calibri"/>
                        </a:rPr>
                        <a:t>DF-5842(Resolved)</a:t>
                      </a:r>
                      <a:endParaRPr lang="en-US"/>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extLst>
                  <a:ext uri="{0D108BD9-81ED-4DB2-BD59-A6C34878D82A}">
                    <a16:rowId xmlns:a16="http://schemas.microsoft.com/office/drawing/2014/main" val="3137275881"/>
                  </a:ext>
                </a:extLst>
              </a:tr>
            </a:tbl>
          </a:graphicData>
        </a:graphic>
      </p:graphicFrame>
    </p:spTree>
    <p:extLst>
      <p:ext uri="{BB962C8B-B14F-4D97-AF65-F5344CB8AC3E}">
        <p14:creationId xmlns:p14="http://schemas.microsoft.com/office/powerpoint/2010/main" val="1025880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859F0-B1B9-B6C0-EA20-AC104248A9B0}"/>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EF4ECE2-65DD-A0CD-6D79-3B11CA77E804}"/>
              </a:ext>
            </a:extLst>
          </p:cNvPr>
          <p:cNvGraphicFramePr>
            <a:graphicFrameLocks noGrp="1"/>
          </p:cNvGraphicFramePr>
          <p:nvPr>
            <p:extLst>
              <p:ext uri="{D42A27DB-BD31-4B8C-83A1-F6EECF244321}">
                <p14:modId xmlns:p14="http://schemas.microsoft.com/office/powerpoint/2010/main" val="106967513"/>
              </p:ext>
            </p:extLst>
          </p:nvPr>
        </p:nvGraphicFramePr>
        <p:xfrm>
          <a:off x="345056" y="71887"/>
          <a:ext cx="11615848" cy="4128908"/>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970133">
                  <a:extLst>
                    <a:ext uri="{9D8B030D-6E8A-4147-A177-3AD203B41FA5}">
                      <a16:colId xmlns:a16="http://schemas.microsoft.com/office/drawing/2014/main" val="2428918094"/>
                    </a:ext>
                  </a:extLst>
                </a:gridCol>
                <a:gridCol w="1361701">
                  <a:extLst>
                    <a:ext uri="{9D8B030D-6E8A-4147-A177-3AD203B41FA5}">
                      <a16:colId xmlns:a16="http://schemas.microsoft.com/office/drawing/2014/main" val="2434076975"/>
                    </a:ext>
                  </a:extLst>
                </a:gridCol>
                <a:gridCol w="1183174">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374254">
                <a:tc>
                  <a:txBody>
                    <a:bodyPr/>
                    <a:lstStyle/>
                    <a:p>
                      <a:pPr algn="l" fontAlgn="ctr">
                        <a:buNone/>
                      </a:pPr>
                      <a:r>
                        <a:rPr lang="en-US" sz="1400" b="1" u="none" strike="noStrike" cap="none" spc="60">
                          <a:solidFill>
                            <a:schemeClr val="bg1"/>
                          </a:solidFill>
                          <a:effectLst/>
                          <a:latin typeface="Calibri"/>
                          <a:ea typeface="Calibri"/>
                          <a:cs typeface="Calibri"/>
                        </a:rPr>
                        <a:t>Scrum Team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a:ea typeface="Calibri"/>
                          <a:cs typeface="Calibri"/>
                        </a:rPr>
                        <a:t>K2</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Application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Rx Eligibility </a:t>
                      </a:r>
                      <a:r>
                        <a:rPr lang="en-IN" sz="1400" b="0" i="0" u="none" strike="noStrike" kern="1200" cap="none" spc="60" err="1">
                          <a:solidFill>
                            <a:schemeClr val="bg1"/>
                          </a:solidFill>
                          <a:effectLst/>
                          <a:latin typeface="Calibri"/>
                          <a:ea typeface="Calibri"/>
                          <a:cs typeface="Calibri"/>
                        </a:rPr>
                        <a:t>Center</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Testing POC:</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Gaurav Anand</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Release</a:t>
                      </a:r>
                      <a:r>
                        <a:rPr lang="en-US" sz="1400" b="0" u="none" strike="noStrike" cap="none" spc="60">
                          <a:solidFill>
                            <a:schemeClr val="bg1"/>
                          </a:solidFill>
                          <a:effectLst/>
                          <a:latin typeface="Calibri"/>
                          <a:ea typeface="Calibri"/>
                          <a:cs typeface="Calibri"/>
                        </a:rPr>
                        <a:t>:</a:t>
                      </a:r>
                      <a:endParaRPr lang="en-US" sz="1400" b="0"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26.07</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1367255">
                <a:tc gridSpan="8">
                  <a:txBody>
                    <a:bodyPr/>
                    <a:lstStyle/>
                    <a:p>
                      <a:r>
                        <a:rPr lang="en-US" sz="1400" b="1">
                          <a:solidFill>
                            <a:schemeClr val="tx1"/>
                          </a:solidFill>
                          <a:latin typeface="Calibri"/>
                          <a:ea typeface="Calibri"/>
                          <a:cs typeface="Calibri"/>
                        </a:rPr>
                        <a:t>Overall Summary :</a:t>
                      </a:r>
                      <a:endParaRPr lang="en-US" sz="1400" b="1">
                        <a:solidFill>
                          <a:srgbClr val="000000"/>
                        </a:solidFill>
                        <a:latin typeface="Calibri"/>
                        <a:ea typeface="Calibri"/>
                        <a:cs typeface="Calibri"/>
                      </a:endParaRPr>
                    </a:p>
                    <a:p>
                      <a:pPr marL="228600" marR="0" lvl="0" indent="-228600" algn="l">
                        <a:lnSpc>
                          <a:spcPct val="100000"/>
                        </a:lnSpc>
                        <a:spcBef>
                          <a:spcPts val="0"/>
                        </a:spcBef>
                        <a:spcAft>
                          <a:spcPts val="0"/>
                        </a:spcAft>
                        <a:buClr>
                          <a:srgbClr val="000000"/>
                        </a:buClr>
                        <a:buSzTx/>
                        <a:buAutoNum type="arabicPeriod"/>
                      </a:pPr>
                      <a:r>
                        <a:rPr lang="en-US" sz="1100" b="0" i="0" u="sng" strike="noStrike" noProof="0">
                          <a:solidFill>
                            <a:srgbClr val="005A9E"/>
                          </a:solidFill>
                          <a:highlight>
                            <a:srgbClr val="FFFFFF"/>
                          </a:highlight>
                        </a:rPr>
                        <a:t>User Story</a:t>
                      </a:r>
                      <a:r>
                        <a:rPr lang="en-US" sz="1100" b="0" i="0" u="sng" strike="noStrike" noProof="0">
                          <a:solidFill>
                            <a:srgbClr val="0070C0"/>
                          </a:solidFill>
                          <a:highlight>
                            <a:srgbClr val="FFFFFF"/>
                          </a:highlight>
                        </a:rPr>
                        <a:t> </a:t>
                      </a:r>
                      <a:r>
                        <a:rPr lang="en-US" sz="1100" b="0" i="0" u="sng" strike="noStrike" noProof="0">
                          <a:solidFill>
                            <a:srgbClr val="0070C0"/>
                          </a:solidFill>
                          <a:highlight>
                            <a:srgbClr val="FFFFFF"/>
                          </a:highlight>
                          <a:hlinkClick r:id="rId2">
                            <a:extLst>
                              <a:ext uri="{A12FA001-AC4F-418D-AE19-62706E023703}">
                                <ahyp:hlinkClr xmlns:ahyp="http://schemas.microsoft.com/office/drawing/2018/hyperlinkcolor" val="tx"/>
                              </a:ext>
                            </a:extLst>
                          </a:hlinkClick>
                        </a:rPr>
                        <a:t>8576156</a:t>
                      </a:r>
                      <a:r>
                        <a:rPr lang="en-US" sz="1100" b="0" i="0" u="none" strike="noStrike" noProof="0">
                          <a:solidFill>
                            <a:srgbClr val="000000"/>
                          </a:solidFill>
                          <a:highlight>
                            <a:srgbClr val="FFFFFF"/>
                          </a:highlight>
                        </a:rPr>
                        <a:t>: </a:t>
                      </a:r>
                      <a:r>
                        <a:rPr lang="en-US" sz="1100" b="0" i="0" u="none" strike="noStrike" noProof="0">
                          <a:solidFill>
                            <a:srgbClr val="000000"/>
                          </a:solidFill>
                          <a:highlight>
                            <a:srgbClr val="FFFFFF"/>
                          </a:highlight>
                          <a:latin typeface="Aptos"/>
                        </a:rPr>
                        <a:t>Adding Plan ID for Group Effective 1/1/2027 or later</a:t>
                      </a:r>
                      <a:endParaRPr lang="en-US" sz="1200" b="0" i="0" u="none" strike="noStrike" noProof="0">
                        <a:solidFill>
                          <a:srgbClr val="000000"/>
                        </a:solidFill>
                        <a:latin typeface="Aptos"/>
                      </a:endParaRPr>
                    </a:p>
                    <a:p>
                      <a:pPr marL="628650" marR="0" lvl="1" indent="-171450" algn="l">
                        <a:lnSpc>
                          <a:spcPct val="100000"/>
                        </a:lnSpc>
                        <a:spcBef>
                          <a:spcPts val="0"/>
                        </a:spcBef>
                        <a:spcAft>
                          <a:spcPts val="0"/>
                        </a:spcAft>
                        <a:buClr>
                          <a:srgbClr val="000000"/>
                        </a:buClr>
                        <a:buSzTx/>
                        <a:buFont typeface="Arial,Sans-Serif"/>
                        <a:buChar char="•"/>
                      </a:pPr>
                      <a:r>
                        <a:rPr lang="en-US" sz="1100" b="0" i="0" u="none" strike="noStrike" noProof="0">
                          <a:solidFill>
                            <a:srgbClr val="000000"/>
                          </a:solidFill>
                          <a:highlight>
                            <a:srgbClr val="FFFFFF"/>
                          </a:highlight>
                          <a:latin typeface="Aptos"/>
                        </a:rPr>
                        <a:t>The new logic should be applied for adding Plan ID, Plan ID Eff Date and Plan ID term date to groups on customer 320 and 544 when the effective date is 1/1/2027 or late</a:t>
                      </a:r>
                      <a:endParaRPr lang="en-US" sz="1100" b="0" i="0" u="none" strike="noStrike" noProof="0">
                        <a:solidFill>
                          <a:srgbClr val="000000"/>
                        </a:solidFill>
                      </a:endParaRPr>
                    </a:p>
                    <a:p>
                      <a:pPr marL="628650" marR="0" lvl="1" indent="-171450" algn="l">
                        <a:lnSpc>
                          <a:spcPct val="100000"/>
                        </a:lnSpc>
                        <a:spcBef>
                          <a:spcPts val="0"/>
                        </a:spcBef>
                        <a:spcAft>
                          <a:spcPts val="0"/>
                        </a:spcAft>
                        <a:buClr>
                          <a:srgbClr val="000000"/>
                        </a:buClr>
                        <a:buSzTx/>
                        <a:buFont typeface="Arial,Sans-Serif"/>
                        <a:buChar char="•"/>
                      </a:pPr>
                      <a:r>
                        <a:rPr lang="en-US" sz="1200" b="0" i="0" u="none" strike="noStrike" noProof="0">
                          <a:solidFill>
                            <a:srgbClr val="000000"/>
                          </a:solidFill>
                          <a:highlight>
                            <a:srgbClr val="FFFFFF"/>
                          </a:highlight>
                          <a:latin typeface="Calibri"/>
                          <a:ea typeface="Calibri"/>
                          <a:cs typeface="Calibri"/>
                        </a:rPr>
                        <a:t>Test Design –Completed 100%</a:t>
                      </a:r>
                      <a:endParaRPr lang="en-US" sz="1200" b="0" i="0" u="none" strike="noStrike" noProof="0">
                        <a:solidFill>
                          <a:srgbClr val="000000"/>
                        </a:solidFill>
                        <a:latin typeface="Calibri"/>
                        <a:ea typeface="Calibri"/>
                        <a:cs typeface="Calibri"/>
                      </a:endParaRPr>
                    </a:p>
                    <a:p>
                      <a:pPr marL="628650" marR="0" lvl="1" indent="-171450" algn="l">
                        <a:lnSpc>
                          <a:spcPct val="100000"/>
                        </a:lnSpc>
                        <a:spcBef>
                          <a:spcPts val="0"/>
                        </a:spcBef>
                        <a:spcAft>
                          <a:spcPts val="0"/>
                        </a:spcAft>
                        <a:buClr>
                          <a:srgbClr val="000000"/>
                        </a:buClr>
                        <a:buSzTx/>
                        <a:buFont typeface="Arial,Sans-Serif"/>
                        <a:buChar char="•"/>
                      </a:pPr>
                      <a:r>
                        <a:rPr lang="en-US" sz="1200" b="0" i="0" u="none" strike="noStrike" noProof="0">
                          <a:solidFill>
                            <a:srgbClr val="000000"/>
                          </a:solidFill>
                          <a:highlight>
                            <a:srgbClr val="FFFFFF"/>
                          </a:highlight>
                          <a:latin typeface="Calibri"/>
                          <a:ea typeface="Calibri"/>
                          <a:cs typeface="Calibri"/>
                        </a:rPr>
                        <a:t>Test Execution – In-progress 25%</a:t>
                      </a:r>
                    </a:p>
                    <a:p>
                      <a:pPr marL="228600" marR="0" lvl="0" indent="-228600" algn="l">
                        <a:lnSpc>
                          <a:spcPct val="100000"/>
                        </a:lnSpc>
                        <a:spcBef>
                          <a:spcPts val="0"/>
                        </a:spcBef>
                        <a:spcAft>
                          <a:spcPts val="0"/>
                        </a:spcAft>
                        <a:buClr>
                          <a:srgbClr val="000000"/>
                        </a:buClr>
                        <a:buSzTx/>
                        <a:buAutoNum type="arabicPeriod"/>
                      </a:pPr>
                      <a:r>
                        <a:rPr lang="en-US" sz="1100" b="0" i="0" u="sng" strike="noStrike" noProof="0">
                          <a:solidFill>
                            <a:srgbClr val="005A9E"/>
                          </a:solidFill>
                          <a:highlight>
                            <a:srgbClr val="FFFFFF"/>
                          </a:highlight>
                          <a:latin typeface="Aptos"/>
                          <a:ea typeface="Calibri"/>
                          <a:cs typeface="Calibri"/>
                        </a:rPr>
                        <a:t>User Story</a:t>
                      </a:r>
                      <a:r>
                        <a:rPr lang="en-US" sz="1100" b="0" i="0" u="sng" strike="noStrike" noProof="0">
                          <a:solidFill>
                            <a:srgbClr val="0070C0"/>
                          </a:solidFill>
                          <a:highlight>
                            <a:srgbClr val="FFFFFF"/>
                          </a:highlight>
                          <a:latin typeface="Aptos"/>
                          <a:ea typeface="Calibri"/>
                          <a:cs typeface="Calibri"/>
                        </a:rPr>
                        <a:t> </a:t>
                      </a:r>
                      <a:r>
                        <a:rPr lang="en-US" sz="1100" b="0" i="0" u="sng" strike="noStrike" noProof="0">
                          <a:solidFill>
                            <a:srgbClr val="0070C0"/>
                          </a:solidFill>
                          <a:highlight>
                            <a:srgbClr val="FFFFFF"/>
                          </a:highlight>
                          <a:latin typeface="Aptos"/>
                          <a:ea typeface="Calibri"/>
                          <a:cs typeface="Calibri"/>
                          <a:hlinkClick r:id="rId3">
                            <a:extLst>
                              <a:ext uri="{A12FA001-AC4F-418D-AE19-62706E023703}">
                                <ahyp:hlinkClr xmlns:ahyp="http://schemas.microsoft.com/office/drawing/2018/hyperlinkcolor" val="tx"/>
                              </a:ext>
                            </a:extLst>
                          </a:hlinkClick>
                        </a:rPr>
                        <a:t>9258913</a:t>
                      </a:r>
                      <a:r>
                        <a:rPr lang="en-US" sz="1100" b="0" i="0" u="none" strike="noStrike" noProof="0">
                          <a:solidFill>
                            <a:srgbClr val="000000"/>
                          </a:solidFill>
                          <a:highlight>
                            <a:srgbClr val="FFFFFF"/>
                          </a:highlight>
                          <a:latin typeface="Aptos"/>
                          <a:ea typeface="Calibri"/>
                          <a:cs typeface="Calibri"/>
                        </a:rPr>
                        <a:t>: </a:t>
                      </a:r>
                      <a:r>
                        <a:rPr lang="en-US" sz="1100" b="0" i="0" u="none" strike="noStrike" noProof="0">
                          <a:solidFill>
                            <a:srgbClr val="000000"/>
                          </a:solidFill>
                          <a:highlight>
                            <a:srgbClr val="FFFFFF"/>
                          </a:highlight>
                        </a:rPr>
                        <a:t>Negative scenarios</a:t>
                      </a:r>
                    </a:p>
                    <a:p>
                      <a:pPr marL="628650" marR="0" lvl="1" indent="-171450" algn="l">
                        <a:lnSpc>
                          <a:spcPct val="100000"/>
                        </a:lnSpc>
                        <a:spcBef>
                          <a:spcPts val="0"/>
                        </a:spcBef>
                        <a:spcAft>
                          <a:spcPts val="0"/>
                        </a:spcAft>
                        <a:buClr>
                          <a:srgbClr val="000000"/>
                        </a:buClr>
                        <a:buSzTx/>
                        <a:buFont typeface="Arial,Sans-Serif"/>
                        <a:buChar char="•"/>
                      </a:pPr>
                      <a:r>
                        <a:rPr lang="en-US" sz="1100" b="0" i="0" u="none" strike="noStrike" noProof="0">
                          <a:solidFill>
                            <a:srgbClr val="000000"/>
                          </a:solidFill>
                          <a:highlight>
                            <a:srgbClr val="FFFFFF"/>
                          </a:highlight>
                          <a:latin typeface="Aptos"/>
                          <a:ea typeface="Calibri"/>
                          <a:cs typeface="Calibri"/>
                        </a:rPr>
                        <a:t>Build and execute the negative test scenarios around the 319 Medicaid flow</a:t>
                      </a:r>
                    </a:p>
                    <a:p>
                      <a:pPr marL="628650" marR="0" lvl="1" indent="-171450" algn="l">
                        <a:lnSpc>
                          <a:spcPct val="100000"/>
                        </a:lnSpc>
                        <a:spcBef>
                          <a:spcPts val="0"/>
                        </a:spcBef>
                        <a:spcAft>
                          <a:spcPts val="0"/>
                        </a:spcAft>
                        <a:buClr>
                          <a:srgbClr val="000000"/>
                        </a:buClr>
                        <a:buSzTx/>
                        <a:buFont typeface="Arial,Sans-Serif"/>
                        <a:buChar char="•"/>
                      </a:pPr>
                      <a:r>
                        <a:rPr lang="en-US" sz="1200" b="0" i="0" u="none" strike="noStrike" noProof="0">
                          <a:solidFill>
                            <a:srgbClr val="000000"/>
                          </a:solidFill>
                          <a:highlight>
                            <a:srgbClr val="FFFFFF"/>
                          </a:highlight>
                          <a:latin typeface="Calibri"/>
                          <a:ea typeface="Calibri"/>
                          <a:cs typeface="Calibri"/>
                        </a:rPr>
                        <a:t>Test Design –Completed 100%</a:t>
                      </a:r>
                    </a:p>
                    <a:p>
                      <a:pPr marL="628650" marR="0" lvl="1" indent="-171450" algn="l">
                        <a:lnSpc>
                          <a:spcPct val="100000"/>
                        </a:lnSpc>
                        <a:spcBef>
                          <a:spcPts val="0"/>
                        </a:spcBef>
                        <a:spcAft>
                          <a:spcPts val="0"/>
                        </a:spcAft>
                        <a:buClr>
                          <a:srgbClr val="000000"/>
                        </a:buClr>
                        <a:buSzTx/>
                        <a:buFont typeface="Arial,Sans-Serif"/>
                        <a:buChar char="•"/>
                      </a:pPr>
                      <a:r>
                        <a:rPr lang="en-US" sz="1200" b="0" i="0" u="none" strike="noStrike" noProof="0">
                          <a:solidFill>
                            <a:srgbClr val="000000"/>
                          </a:solidFill>
                          <a:highlight>
                            <a:srgbClr val="FFFFFF"/>
                          </a:highlight>
                          <a:latin typeface="Calibri"/>
                          <a:ea typeface="Calibri"/>
                          <a:cs typeface="Calibri"/>
                        </a:rPr>
                        <a:t>Test Execution – Completed 100%</a:t>
                      </a:r>
                    </a:p>
                    <a:p>
                      <a:pPr marL="228600" marR="0" lvl="0" indent="-228600" algn="l">
                        <a:lnSpc>
                          <a:spcPct val="100000"/>
                        </a:lnSpc>
                        <a:spcBef>
                          <a:spcPts val="0"/>
                        </a:spcBef>
                        <a:spcAft>
                          <a:spcPts val="0"/>
                        </a:spcAft>
                        <a:buClr>
                          <a:srgbClr val="000000"/>
                        </a:buClr>
                        <a:buSzTx/>
                        <a:buAutoNum type="arabicPeriod"/>
                      </a:pPr>
                      <a:r>
                        <a:rPr lang="en-US" sz="1100" b="0" i="0" u="sng" strike="noStrike" noProof="0">
                          <a:solidFill>
                            <a:srgbClr val="005A9E"/>
                          </a:solidFill>
                          <a:highlight>
                            <a:srgbClr val="FFFFFF"/>
                          </a:highlight>
                          <a:latin typeface="Aptos"/>
                          <a:ea typeface="Calibri"/>
                          <a:cs typeface="Calibri"/>
                        </a:rPr>
                        <a:t>User Story</a:t>
                      </a:r>
                      <a:r>
                        <a:rPr lang="en-US" sz="1100" b="0" i="0" u="sng" strike="noStrike" noProof="0">
                          <a:solidFill>
                            <a:srgbClr val="0070C0"/>
                          </a:solidFill>
                          <a:highlight>
                            <a:srgbClr val="FFFFFF"/>
                          </a:highlight>
                          <a:latin typeface="Aptos"/>
                          <a:ea typeface="Calibri"/>
                          <a:cs typeface="Calibri"/>
                        </a:rPr>
                        <a:t> </a:t>
                      </a:r>
                      <a:r>
                        <a:rPr lang="en-US" sz="1100" b="0" i="0" u="none" strike="noStrike" noProof="0">
                          <a:solidFill>
                            <a:srgbClr val="0070C0"/>
                          </a:solidFill>
                          <a:highlight>
                            <a:srgbClr val="FFFFFF"/>
                          </a:highlight>
                          <a:latin typeface="Aptos"/>
                          <a:ea typeface="Calibri"/>
                          <a:cs typeface="Calibri"/>
                          <a:hlinkClick r:id="rId4">
                            <a:extLst>
                              <a:ext uri="{A12FA001-AC4F-418D-AE19-62706E023703}">
                                <ahyp:hlinkClr xmlns:ahyp="http://schemas.microsoft.com/office/drawing/2018/hyperlinkcolor" val="tx"/>
                              </a:ext>
                            </a:extLst>
                          </a:hlinkClick>
                        </a:rPr>
                        <a:t>9277396</a:t>
                      </a:r>
                      <a:r>
                        <a:rPr lang="en-US" sz="1100" b="0" i="0" u="none" strike="noStrike" noProof="0">
                          <a:solidFill>
                            <a:srgbClr val="000000"/>
                          </a:solidFill>
                          <a:highlight>
                            <a:srgbClr val="FFFFFF"/>
                          </a:highlight>
                          <a:latin typeface="Aptos"/>
                          <a:ea typeface="Calibri"/>
                          <a:cs typeface="Calibri"/>
                        </a:rPr>
                        <a:t>: </a:t>
                      </a:r>
                      <a:r>
                        <a:rPr lang="en-US" sz="1100" b="0" i="0" u="none" strike="noStrike" noProof="0">
                          <a:solidFill>
                            <a:srgbClr val="000000"/>
                          </a:solidFill>
                          <a:highlight>
                            <a:srgbClr val="FFFFFF"/>
                          </a:highlight>
                        </a:rPr>
                        <a:t>Polling mechanism on Medicaid file</a:t>
                      </a:r>
                    </a:p>
                    <a:p>
                      <a:pPr marL="628650" marR="0" lvl="1" indent="-171450" algn="l">
                        <a:lnSpc>
                          <a:spcPct val="100000"/>
                        </a:lnSpc>
                        <a:spcBef>
                          <a:spcPts val="0"/>
                        </a:spcBef>
                        <a:spcAft>
                          <a:spcPts val="0"/>
                        </a:spcAft>
                        <a:buClr>
                          <a:srgbClr val="000000"/>
                        </a:buClr>
                        <a:buSzTx/>
                        <a:buFont typeface="Arial,Sans-Serif"/>
                        <a:buChar char="•"/>
                      </a:pPr>
                      <a:r>
                        <a:rPr lang="en-US" sz="1100" b="0" i="0" u="none" strike="noStrike" noProof="0">
                          <a:solidFill>
                            <a:srgbClr val="000000"/>
                          </a:solidFill>
                          <a:highlight>
                            <a:srgbClr val="FFFFFF"/>
                          </a:highlight>
                        </a:rPr>
                        <a:t>A polling mechanism for the job to check required file availability every 15 minutes </a:t>
                      </a:r>
                    </a:p>
                    <a:p>
                      <a:pPr marL="628650" marR="0" lvl="1" indent="-171450" algn="l">
                        <a:lnSpc>
                          <a:spcPct val="100000"/>
                        </a:lnSpc>
                        <a:spcBef>
                          <a:spcPts val="0"/>
                        </a:spcBef>
                        <a:spcAft>
                          <a:spcPts val="0"/>
                        </a:spcAft>
                        <a:buClr>
                          <a:srgbClr val="000000"/>
                        </a:buClr>
                        <a:buSzTx/>
                        <a:buFont typeface="Arial,Sans-Serif"/>
                        <a:buChar char="•"/>
                      </a:pPr>
                      <a:r>
                        <a:rPr lang="en-US" sz="1200" b="0" i="0" u="none" strike="noStrike" noProof="0">
                          <a:solidFill>
                            <a:srgbClr val="000000"/>
                          </a:solidFill>
                          <a:highlight>
                            <a:srgbClr val="FFFFFF"/>
                          </a:highlight>
                          <a:latin typeface="Calibri"/>
                          <a:ea typeface="Calibri"/>
                          <a:cs typeface="Calibri"/>
                        </a:rPr>
                        <a:t>Test Design –Completed 100%</a:t>
                      </a:r>
                    </a:p>
                    <a:p>
                      <a:pPr marL="628650" marR="0" lvl="1" indent="-171450" algn="l">
                        <a:lnSpc>
                          <a:spcPct val="100000"/>
                        </a:lnSpc>
                        <a:spcBef>
                          <a:spcPts val="0"/>
                        </a:spcBef>
                        <a:spcAft>
                          <a:spcPts val="0"/>
                        </a:spcAft>
                        <a:buClr>
                          <a:srgbClr val="000000"/>
                        </a:buClr>
                        <a:buSzTx/>
                        <a:buFont typeface="Arial,Sans-Serif"/>
                        <a:buChar char="•"/>
                      </a:pPr>
                      <a:r>
                        <a:rPr lang="en-US" sz="1200" b="0" i="0" u="none" strike="noStrike" noProof="0">
                          <a:solidFill>
                            <a:srgbClr val="000000"/>
                          </a:solidFill>
                          <a:highlight>
                            <a:srgbClr val="FFFFFF"/>
                          </a:highlight>
                          <a:latin typeface="Calibri"/>
                          <a:ea typeface="Calibri"/>
                          <a:cs typeface="Calibri"/>
                        </a:rPr>
                        <a:t>Test Execution – In-Progress</a:t>
                      </a:r>
                      <a:endParaRPr lang="en-US"/>
                    </a:p>
                    <a:p>
                      <a:pPr marL="628650" marR="0" lvl="1" indent="-171450" algn="l">
                        <a:lnSpc>
                          <a:spcPct val="100000"/>
                        </a:lnSpc>
                        <a:spcBef>
                          <a:spcPts val="0"/>
                        </a:spcBef>
                        <a:spcAft>
                          <a:spcPts val="0"/>
                        </a:spcAft>
                        <a:buClr>
                          <a:srgbClr val="000000"/>
                        </a:buClr>
                        <a:buSzTx/>
                        <a:buFont typeface="Arial,Sans-Serif"/>
                        <a:buChar char="•"/>
                      </a:pPr>
                      <a:endParaRPr lang="en-US" sz="1200" b="0" i="0" u="none" strike="noStrike" noProof="0">
                        <a:solidFill>
                          <a:srgbClr val="000000"/>
                        </a:solidFill>
                        <a:highlight>
                          <a:srgbClr val="FFFFFF"/>
                        </a:highligh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19050" cap="flat" cmpd="sng" algn="ctr">
                      <a:noFill/>
                      <a:prstDash val="soli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317818">
                <a:tc gridSpan="8">
                  <a:txBody>
                    <a:bodyPr/>
                    <a:lstStyle/>
                    <a:p>
                      <a:pPr marL="0" lvl="0" indent="0" algn="l">
                        <a:lnSpc>
                          <a:spcPct val="100000"/>
                        </a:lnSpc>
                        <a:spcBef>
                          <a:spcPts val="0"/>
                        </a:spcBef>
                        <a:spcAft>
                          <a:spcPts val="0"/>
                        </a:spcAft>
                        <a:buNone/>
                      </a:pPr>
                      <a:endParaRPr lang="en-US" sz="1200" b="0" i="0" u="none" strike="noStrike" kern="1200" noProof="0">
                        <a:solidFill>
                          <a:srgbClr val="000000"/>
                        </a:solidFill>
                        <a:effectLst/>
                        <a:highlight>
                          <a:srgbClr val="FFFFFF"/>
                        </a:highlight>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98529137"/>
                  </a:ext>
                </a:extLst>
              </a:tr>
              <a:tr h="317818">
                <a:tc gridSpan="8">
                  <a:txBody>
                    <a:bodyPr/>
                    <a:lstStyle/>
                    <a:p>
                      <a:pPr marL="0" lvl="0" indent="0" algn="l">
                        <a:lnSpc>
                          <a:spcPct val="100000"/>
                        </a:lnSpc>
                        <a:spcBef>
                          <a:spcPts val="0"/>
                        </a:spcBef>
                        <a:spcAft>
                          <a:spcPts val="0"/>
                        </a:spcAft>
                        <a:buNone/>
                      </a:pPr>
                      <a:endParaRPr lang="en-US" sz="1200" b="0" i="0" u="none" strike="noStrike" kern="1200" noProof="0">
                        <a:solidFill>
                          <a:srgbClr val="000000"/>
                        </a:solidFill>
                        <a:effectLst/>
                        <a:highlight>
                          <a:srgbClr val="FFFFFF"/>
                        </a:highlight>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25438247"/>
                  </a:ext>
                </a:extLst>
              </a:tr>
              <a:tr h="317818">
                <a:tc gridSpan="8">
                  <a:txBody>
                    <a:bodyPr/>
                    <a:lstStyle/>
                    <a:p>
                      <a:pPr marL="0" lvl="0" indent="0" algn="l">
                        <a:lnSpc>
                          <a:spcPct val="100000"/>
                        </a:lnSpc>
                        <a:spcBef>
                          <a:spcPts val="0"/>
                        </a:spcBef>
                        <a:spcAft>
                          <a:spcPts val="0"/>
                        </a:spcAft>
                        <a:buNone/>
                      </a:pPr>
                      <a:endParaRPr lang="en-US" sz="1200" b="0" i="0" u="none" strike="noStrike" kern="1200" noProof="0">
                        <a:solidFill>
                          <a:srgbClr val="000000"/>
                        </a:solidFill>
                        <a:effectLst/>
                        <a:highlight>
                          <a:srgbClr val="FFFFFF"/>
                        </a:highlight>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6060248"/>
                  </a:ext>
                </a:extLst>
              </a:tr>
            </a:tbl>
          </a:graphicData>
        </a:graphic>
      </p:graphicFrame>
      <p:graphicFrame>
        <p:nvGraphicFramePr>
          <p:cNvPr id="3" name="Table 2">
            <a:extLst>
              <a:ext uri="{FF2B5EF4-FFF2-40B4-BE49-F238E27FC236}">
                <a16:creationId xmlns:a16="http://schemas.microsoft.com/office/drawing/2014/main" id="{3A4B14A7-39E5-A948-4969-43B7F1584C4E}"/>
              </a:ext>
            </a:extLst>
          </p:cNvPr>
          <p:cNvGraphicFramePr>
            <a:graphicFrameLocks noGrp="1"/>
          </p:cNvGraphicFramePr>
          <p:nvPr>
            <p:extLst>
              <p:ext uri="{D42A27DB-BD31-4B8C-83A1-F6EECF244321}">
                <p14:modId xmlns:p14="http://schemas.microsoft.com/office/powerpoint/2010/main" val="1795791626"/>
              </p:ext>
            </p:extLst>
          </p:nvPr>
        </p:nvGraphicFramePr>
        <p:xfrm>
          <a:off x="336064" y="4879403"/>
          <a:ext cx="11615678" cy="1778848"/>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936185">
                <a:tc>
                  <a:txBody>
                    <a:bodyPr/>
                    <a:lstStyle/>
                    <a:p>
                      <a:pPr algn="l" fontAlgn="t">
                        <a:buNone/>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Challenges (risks / issues): </a:t>
                      </a: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a:buChar char="•"/>
                      </a:pPr>
                      <a:r>
                        <a:rPr lang="en-US" sz="1200" b="0" i="0" u="none" strike="noStrike" kern="1200" noProof="0">
                          <a:solidFill>
                            <a:schemeClr val="tx1"/>
                          </a:solidFill>
                          <a:effectLst/>
                          <a:latin typeface="Calibri"/>
                          <a:ea typeface="Calibri"/>
                          <a:cs typeface="Calibri"/>
                        </a:rPr>
                        <a:t>NA</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Action Needed / Action Taken (for the identified risks/issues): </a:t>
                      </a: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algn="l">
                        <a:lnSpc>
                          <a:spcPct val="100000"/>
                        </a:lnSpc>
                        <a:spcBef>
                          <a:spcPts val="0"/>
                        </a:spcBef>
                        <a:spcAft>
                          <a:spcPts val="0"/>
                        </a:spcAft>
                        <a:buFont typeface="Arial" panose="020B0604020202020204" pitchFamily="34" charset="0"/>
                        <a:buChar char="•"/>
                      </a:pPr>
                      <a:r>
                        <a:rPr lang="en-US" sz="1200" b="0" i="0" u="none" strike="noStrike" noProof="0">
                          <a:solidFill>
                            <a:schemeClr val="tx1"/>
                          </a:solidFill>
                          <a:latin typeface="Calibri"/>
                          <a:ea typeface="Calibri"/>
                          <a:cs typeface="Calibri"/>
                        </a:rPr>
                        <a:t>NA</a:t>
                      </a:r>
                    </a:p>
                    <a:p>
                      <a:pPr marL="285750" lvl="0" indent="-285750">
                        <a:buFont typeface="Arial" panose="020B0604020202020204" pitchFamily="34" charset="0"/>
                        <a:buChar char="•"/>
                      </a:pPr>
                      <a:endParaRPr lang="en-US" sz="1200" b="0" kern="12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endParaRPr lang="en-US" sz="1200" b="0" kern="12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739761">
                <a:tc gridSpan="2">
                  <a:txBody>
                    <a:bodyPr/>
                    <a:lstStyle/>
                    <a:p>
                      <a:pPr algn="l" fontAlgn="t">
                        <a:buNone/>
                      </a:pPr>
                      <a:r>
                        <a:rPr lang="en-US" sz="1200" b="1" u="none" strike="noStrike" kern="1200" cap="none" spc="0">
                          <a:solidFill>
                            <a:schemeClr val="tx1"/>
                          </a:solidFill>
                          <a:effectLst/>
                          <a:latin typeface="Calibri"/>
                          <a:ea typeface="Calibri"/>
                          <a:cs typeface="Calibri"/>
                        </a:rPr>
                        <a:t>Automation Regression Updates : </a:t>
                      </a:r>
                      <a:br>
                        <a:rPr lang="en-US" sz="1200" b="1" u="none" strike="noStrike" kern="1200" cap="none" spc="0">
                          <a:solidFill>
                            <a:srgbClr val="000000"/>
                          </a:solidFill>
                          <a:effectLst/>
                          <a:latin typeface="Calibri"/>
                          <a:ea typeface="Calibri"/>
                          <a:cs typeface="Calibri"/>
                        </a:rPr>
                      </a:br>
                      <a:br>
                        <a:rPr lang="en-US" sz="1200" b="1" u="none" strike="noStrike" kern="1200" cap="none" spc="0">
                          <a:solidFill>
                            <a:srgbClr val="000000"/>
                          </a:solidFill>
                          <a:effectLst/>
                          <a:latin typeface="Calibri"/>
                          <a:ea typeface="Calibri"/>
                          <a:cs typeface="Calibri"/>
                        </a:rPr>
                      </a:br>
                      <a:r>
                        <a:rPr lang="en-US" sz="1200" b="1" u="none" strike="noStrike" kern="1200" cap="none" spc="0">
                          <a:solidFill>
                            <a:schemeClr val="tx1"/>
                          </a:solidFill>
                          <a:effectLst/>
                          <a:latin typeface="Calibri"/>
                          <a:ea typeface="Calibri"/>
                          <a:cs typeface="Calibri"/>
                        </a:rPr>
                        <a:t>Regression baselined got approved from PO (Kristie). Automation Scripting Completed.</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24285DD9-76E4-B634-4E67-7562DD65839D}"/>
              </a:ext>
            </a:extLst>
          </p:cNvPr>
          <p:cNvGraphicFramePr>
            <a:graphicFrameLocks noGrp="1"/>
          </p:cNvGraphicFramePr>
          <p:nvPr>
            <p:extLst>
              <p:ext uri="{D42A27DB-BD31-4B8C-83A1-F6EECF244321}">
                <p14:modId xmlns:p14="http://schemas.microsoft.com/office/powerpoint/2010/main" val="2730648637"/>
              </p:ext>
            </p:extLst>
          </p:nvPr>
        </p:nvGraphicFramePr>
        <p:xfrm>
          <a:off x="342667" y="3056524"/>
          <a:ext cx="11615841" cy="1675945"/>
        </p:xfrm>
        <a:graphic>
          <a:graphicData uri="http://schemas.openxmlformats.org/drawingml/2006/table">
            <a:tbl>
              <a:tblPr/>
              <a:tblGrid>
                <a:gridCol w="1487849">
                  <a:extLst>
                    <a:ext uri="{9D8B030D-6E8A-4147-A177-3AD203B41FA5}">
                      <a16:colId xmlns:a16="http://schemas.microsoft.com/office/drawing/2014/main" val="383858331"/>
                    </a:ext>
                  </a:extLst>
                </a:gridCol>
                <a:gridCol w="1211533">
                  <a:extLst>
                    <a:ext uri="{9D8B030D-6E8A-4147-A177-3AD203B41FA5}">
                      <a16:colId xmlns:a16="http://schemas.microsoft.com/office/drawing/2014/main" val="1560180378"/>
                    </a:ext>
                  </a:extLst>
                </a:gridCol>
                <a:gridCol w="1530357">
                  <a:extLst>
                    <a:ext uri="{9D8B030D-6E8A-4147-A177-3AD203B41FA5}">
                      <a16:colId xmlns:a16="http://schemas.microsoft.com/office/drawing/2014/main" val="2270929281"/>
                    </a:ext>
                  </a:extLst>
                </a:gridCol>
                <a:gridCol w="1530357">
                  <a:extLst>
                    <a:ext uri="{9D8B030D-6E8A-4147-A177-3AD203B41FA5}">
                      <a16:colId xmlns:a16="http://schemas.microsoft.com/office/drawing/2014/main" val="1965002495"/>
                    </a:ext>
                  </a:extLst>
                </a:gridCol>
                <a:gridCol w="1551614">
                  <a:extLst>
                    <a:ext uri="{9D8B030D-6E8A-4147-A177-3AD203B41FA5}">
                      <a16:colId xmlns:a16="http://schemas.microsoft.com/office/drawing/2014/main" val="3295045209"/>
                    </a:ext>
                  </a:extLst>
                </a:gridCol>
                <a:gridCol w="1147767">
                  <a:extLst>
                    <a:ext uri="{9D8B030D-6E8A-4147-A177-3AD203B41FA5}">
                      <a16:colId xmlns:a16="http://schemas.microsoft.com/office/drawing/2014/main" val="1923205917"/>
                    </a:ext>
                  </a:extLst>
                </a:gridCol>
                <a:gridCol w="1769477">
                  <a:extLst>
                    <a:ext uri="{9D8B030D-6E8A-4147-A177-3AD203B41FA5}">
                      <a16:colId xmlns:a16="http://schemas.microsoft.com/office/drawing/2014/main" val="3147362022"/>
                    </a:ext>
                  </a:extLst>
                </a:gridCol>
                <a:gridCol w="1386887">
                  <a:extLst>
                    <a:ext uri="{9D8B030D-6E8A-4147-A177-3AD203B41FA5}">
                      <a16:colId xmlns:a16="http://schemas.microsoft.com/office/drawing/2014/main" val="4292749998"/>
                    </a:ext>
                  </a:extLst>
                </a:gridCol>
              </a:tblGrid>
              <a:tr h="426492">
                <a:tc>
                  <a:txBody>
                    <a:bodyPr/>
                    <a:lstStyle/>
                    <a:p>
                      <a:pPr lvl="0" algn="ctr">
                        <a:buNone/>
                      </a:pPr>
                      <a:r>
                        <a:rPr lang="en-US" sz="1100" b="1" i="0" u="none" strike="noStrike">
                          <a:solidFill>
                            <a:srgbClr val="000000"/>
                          </a:solidFill>
                          <a:effectLst/>
                          <a:latin typeface="Calibri"/>
                          <a:ea typeface="Calibri"/>
                          <a:cs typeface="Calibri"/>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100" b="1" i="0" u="none" strike="noStrike">
                          <a:solidFill>
                            <a:srgbClr val="000000"/>
                          </a:solidFill>
                          <a:effectLst/>
                          <a:latin typeface="Calibri"/>
                          <a:ea typeface="Calibri"/>
                          <a:cs typeface="Calibri"/>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100" b="1" i="0" u="none" strike="noStrike">
                          <a:solidFill>
                            <a:srgbClr val="000000"/>
                          </a:solidFill>
                          <a:effectLst/>
                          <a:latin typeface="Calibri"/>
                          <a:ea typeface="Calibri"/>
                          <a:cs typeface="Calibri"/>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noProof="0">
                          <a:solidFill>
                            <a:srgbClr val="000000"/>
                          </a:solidFill>
                          <a:effectLst/>
                          <a:latin typeface="Aptos Narrow"/>
                          <a:ea typeface="Calibri"/>
                          <a:cs typeface="Calibri"/>
                        </a:rPr>
                        <a:t>Test Design though AI tools (Sulfur / Strider)</a:t>
                      </a:r>
                      <a:endParaRPr lang="en-US"/>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lvl="0" algn="ctr">
                        <a:buNone/>
                      </a:pPr>
                      <a:r>
                        <a:rPr lang="en-US" sz="1100" b="1" i="0" u="none" strike="noStrike">
                          <a:solidFill>
                            <a:srgbClr val="000000"/>
                          </a:solidFill>
                          <a:effectLst/>
                          <a:latin typeface="Calibri"/>
                          <a:ea typeface="Calibri"/>
                          <a:cs typeface="Calibri"/>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100" b="1" i="0" u="none" strike="noStrike">
                          <a:solidFill>
                            <a:srgbClr val="000000"/>
                          </a:solidFill>
                          <a:effectLst/>
                          <a:latin typeface="Calibri"/>
                          <a:ea typeface="Calibri"/>
                          <a:cs typeface="Calibri"/>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100" b="1" i="0" u="none" strike="noStrike">
                          <a:solidFill>
                            <a:srgbClr val="000000"/>
                          </a:solidFill>
                          <a:effectLst/>
                          <a:latin typeface="Calibri"/>
                          <a:ea typeface="Calibri"/>
                          <a:cs typeface="Calibri"/>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100" b="1" i="0" u="none" strike="noStrike">
                          <a:solidFill>
                            <a:srgbClr val="000000"/>
                          </a:solidFill>
                          <a:effectLst/>
                          <a:latin typeface="Calibri"/>
                          <a:ea typeface="Calibri"/>
                          <a:cs typeface="Calibri"/>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434227">
                <a:tc>
                  <a:txBody>
                    <a:bodyPr/>
                    <a:lstStyle/>
                    <a:p>
                      <a:pPr lvl="0" algn="ctr">
                        <a:buNone/>
                      </a:pPr>
                      <a:r>
                        <a:rPr lang="en-US" sz="1100" b="1" i="0" u="none" strike="noStrike">
                          <a:solidFill>
                            <a:srgbClr val="000000"/>
                          </a:solidFill>
                          <a:effectLst/>
                          <a:latin typeface="Calibri"/>
                          <a:ea typeface="Calibri"/>
                          <a:cs typeface="Calibri"/>
                        </a:rPr>
                        <a:t>1</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tc>
                  <a:txBody>
                    <a:bodyPr/>
                    <a:lstStyle/>
                    <a:p>
                      <a:pPr lvl="0" algn="ctr">
                        <a:buNone/>
                      </a:pPr>
                      <a:r>
                        <a:rPr lang="en-US" sz="1100" b="0" i="0" u="none" strike="noStrike" noProof="0">
                          <a:solidFill>
                            <a:srgbClr val="000000"/>
                          </a:solidFill>
                          <a:effectLst/>
                          <a:latin typeface="Calibri"/>
                          <a:ea typeface="Calibri"/>
                          <a:cs typeface="Calibri"/>
                        </a:rPr>
                        <a:t>Completed</a:t>
                      </a:r>
                      <a:endParaRPr lang="en-US" sz="1100" b="0" i="0" u="none" strike="noStrike">
                        <a:solidFill>
                          <a:srgbClr val="000000"/>
                        </a:solidFill>
                        <a:effectLst/>
                        <a:latin typeface="Calibri"/>
                        <a:ea typeface="Calibri"/>
                        <a:cs typeface="Calibri"/>
                      </a:endParaRP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tc>
                  <a:txBody>
                    <a:bodyPr/>
                    <a:lstStyle/>
                    <a:p>
                      <a:pPr lvl="0" algn="ctr">
                        <a:buNone/>
                      </a:pPr>
                      <a:r>
                        <a:rPr lang="en-US" sz="1000" b="0" i="0" u="none" strike="noStrike" noProof="0">
                          <a:solidFill>
                            <a:srgbClr val="000000"/>
                          </a:solidFill>
                          <a:effectLst/>
                          <a:latin typeface="Aptos Narrow"/>
                          <a:ea typeface="Calibri"/>
                          <a:cs typeface="Calibri"/>
                        </a:rPr>
                        <a:t>30%</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Calibri"/>
                          <a:ea typeface="Calibri"/>
                          <a:cs typeface="Calibri"/>
                        </a:rPr>
                        <a:t>In-progress</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Calibri"/>
                          <a:ea typeface="Calibri"/>
                          <a:cs typeface="Calibri"/>
                        </a:rPr>
                        <a:t>25%</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tc>
                  <a:txBody>
                    <a:bodyPr/>
                    <a:lstStyle/>
                    <a:p>
                      <a:pPr lvl="0" algn="ctr">
                        <a:buNone/>
                      </a:pPr>
                      <a:r>
                        <a:rPr lang="en-US" sz="1100" b="1" i="0" u="none" strike="noStrike">
                          <a:solidFill>
                            <a:srgbClr val="000000"/>
                          </a:solidFill>
                          <a:effectLst/>
                          <a:latin typeface="Calibri"/>
                          <a:ea typeface="Calibri"/>
                          <a:cs typeface="Calibri"/>
                        </a:rPr>
                        <a:t>TBD</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tc>
                  <a:txBody>
                    <a:bodyPr/>
                    <a:lstStyle/>
                    <a:p>
                      <a:pPr lvl="0" algn="ctr">
                        <a:buNone/>
                      </a:pPr>
                      <a:r>
                        <a:rPr lang="en-US" sz="1100" b="1" i="0" u="none" strike="noStrike">
                          <a:solidFill>
                            <a:srgbClr val="000000"/>
                          </a:solidFill>
                          <a:effectLst/>
                          <a:latin typeface="Calibri"/>
                          <a:ea typeface="Calibri"/>
                          <a:cs typeface="Calibri"/>
                        </a:rPr>
                        <a:t>TBD</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bg1"/>
                    </a:solidFill>
                  </a:tcPr>
                </a:tc>
                <a:extLst>
                  <a:ext uri="{0D108BD9-81ED-4DB2-BD59-A6C34878D82A}">
                    <a16:rowId xmlns:a16="http://schemas.microsoft.com/office/drawing/2014/main" val="609898156"/>
                  </a:ext>
                </a:extLst>
              </a:tr>
              <a:tr h="434227">
                <a:tc>
                  <a:txBody>
                    <a:bodyPr/>
                    <a:lstStyle/>
                    <a:p>
                      <a:pPr lvl="0" algn="ctr">
                        <a:buNone/>
                      </a:pPr>
                      <a:r>
                        <a:rPr lang="en-US" sz="1100" b="0" i="0" u="none" strike="noStrike">
                          <a:solidFill>
                            <a:srgbClr val="000000"/>
                          </a:solidFill>
                          <a:effectLst/>
                          <a:latin typeface="Calibri"/>
                          <a:ea typeface="Calibri"/>
                          <a:cs typeface="Calibri"/>
                        </a:rPr>
                        <a:t>1</a:t>
                      </a:r>
                      <a:endParaRPr lang="en-US"/>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Completed</a:t>
                      </a:r>
                      <a:endParaRPr lang="en-US"/>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100%</a:t>
                      </a:r>
                      <a:endParaRPr lang="en-US"/>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25%</a:t>
                      </a:r>
                      <a:endParaRPr lang="en-US"/>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noProof="0">
                          <a:solidFill>
                            <a:srgbClr val="000000"/>
                          </a:solidFill>
                          <a:effectLst/>
                          <a:latin typeface="Calibri"/>
                          <a:ea typeface="Calibri"/>
                          <a:cs typeface="Calibri"/>
                        </a:rPr>
                        <a:t>Completed</a:t>
                      </a:r>
                      <a:endParaRPr lang="en-US"/>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kern="1200" noProof="0">
                          <a:solidFill>
                            <a:srgbClr val="000000"/>
                          </a:solidFill>
                          <a:effectLst/>
                        </a:rPr>
                        <a:t>7/20</a:t>
                      </a:r>
                      <a:endParaRPr 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noProof="0">
                          <a:solidFill>
                            <a:srgbClr val="000000"/>
                          </a:solidFill>
                          <a:effectLst/>
                          <a:latin typeface="Calibri"/>
                          <a:ea typeface="Calibri"/>
                          <a:cs typeface="Calibri"/>
                        </a:rPr>
                        <a:t>7/22</a:t>
                      </a:r>
                      <a:endParaRPr 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505416"/>
                  </a:ext>
                </a:extLst>
              </a:tr>
              <a:tr h="380999">
                <a:tc>
                  <a:txBody>
                    <a:bodyPr/>
                    <a:lstStyle/>
                    <a:p>
                      <a:pPr lvl="0" algn="ctr">
                        <a:buNone/>
                      </a:pPr>
                      <a:r>
                        <a:rPr lang="en-US" sz="1100" b="0" i="0" u="none" strike="noStrike">
                          <a:solidFill>
                            <a:srgbClr val="000000"/>
                          </a:solidFill>
                          <a:effectLst/>
                          <a:latin typeface="Calibri"/>
                          <a:ea typeface="Calibri"/>
                          <a:cs typeface="Calibri"/>
                        </a:rPr>
                        <a:t>1</a:t>
                      </a:r>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Completed</a:t>
                      </a:r>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40%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noProof="0">
                          <a:solidFill>
                            <a:srgbClr val="000000"/>
                          </a:solidFill>
                          <a:effectLst/>
                          <a:latin typeface="Calibri"/>
                          <a:ea typeface="Calibri"/>
                          <a:cs typeface="Calibri"/>
                        </a:rPr>
                        <a:t>Completed</a:t>
                      </a:r>
                      <a:endParaRPr lang="en-US"/>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9524" marR="9524" marT="9524" marB="0" anchor="ctr">
                    <a:lnL w="6350">
                      <a:solidFill>
                        <a:srgbClr val="000000"/>
                      </a:solidFill>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lvl="0" algn="ctr">
                        <a:buNone/>
                      </a:pPr>
                      <a:r>
                        <a:rPr lang="en-US" sz="1100" b="0" i="0" u="none" strike="noStrike" kern="1200" noProof="0">
                          <a:solidFill>
                            <a:srgbClr val="000000"/>
                          </a:solidFill>
                          <a:effectLst/>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noProof="0">
                          <a:solidFill>
                            <a:srgbClr val="000000"/>
                          </a:solidFill>
                          <a:effectLst/>
                          <a:latin typeface="Calibri"/>
                          <a:ea typeface="Calibri"/>
                          <a:cs typeface="Calibri"/>
                        </a:rPr>
                        <a:t>7/22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8899703"/>
                  </a:ext>
                </a:extLst>
              </a:tr>
            </a:tbl>
          </a:graphicData>
        </a:graphic>
      </p:graphicFrame>
    </p:spTree>
    <p:extLst>
      <p:ext uri="{BB962C8B-B14F-4D97-AF65-F5344CB8AC3E}">
        <p14:creationId xmlns:p14="http://schemas.microsoft.com/office/powerpoint/2010/main" val="382847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4B8E2-76D2-7311-5255-501E55B7A68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2E351DE-3C2B-1FB9-0FB8-D76878A63D2E}"/>
              </a:ext>
            </a:extLst>
          </p:cNvPr>
          <p:cNvGraphicFramePr>
            <a:graphicFrameLocks noGrp="1"/>
          </p:cNvGraphicFramePr>
          <p:nvPr>
            <p:extLst>
              <p:ext uri="{D42A27DB-BD31-4B8C-83A1-F6EECF244321}">
                <p14:modId xmlns:p14="http://schemas.microsoft.com/office/powerpoint/2010/main" val="4086027373"/>
              </p:ext>
            </p:extLst>
          </p:nvPr>
        </p:nvGraphicFramePr>
        <p:xfrm>
          <a:off x="300610" y="92478"/>
          <a:ext cx="11615848" cy="3236414"/>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970133">
                  <a:extLst>
                    <a:ext uri="{9D8B030D-6E8A-4147-A177-3AD203B41FA5}">
                      <a16:colId xmlns:a16="http://schemas.microsoft.com/office/drawing/2014/main" val="2428918094"/>
                    </a:ext>
                  </a:extLst>
                </a:gridCol>
                <a:gridCol w="1361701">
                  <a:extLst>
                    <a:ext uri="{9D8B030D-6E8A-4147-A177-3AD203B41FA5}">
                      <a16:colId xmlns:a16="http://schemas.microsoft.com/office/drawing/2014/main" val="2434076975"/>
                    </a:ext>
                  </a:extLst>
                </a:gridCol>
                <a:gridCol w="1563769">
                  <a:extLst>
                    <a:ext uri="{9D8B030D-6E8A-4147-A177-3AD203B41FA5}">
                      <a16:colId xmlns:a16="http://schemas.microsoft.com/office/drawing/2014/main" val="4168789034"/>
                    </a:ext>
                  </a:extLst>
                </a:gridCol>
                <a:gridCol w="1192449">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408064">
                <a:tc>
                  <a:txBody>
                    <a:bodyPr/>
                    <a:lstStyle/>
                    <a:p>
                      <a:pPr algn="l" fontAlgn="ctr">
                        <a:buNone/>
                      </a:pPr>
                      <a:r>
                        <a:rPr lang="en-US" sz="1400" b="1" u="none" strike="noStrike" cap="none" spc="60">
                          <a:solidFill>
                            <a:schemeClr val="bg1"/>
                          </a:solidFill>
                          <a:effectLst/>
                          <a:latin typeface="Calibri"/>
                          <a:ea typeface="Calibri"/>
                          <a:cs typeface="Calibri"/>
                        </a:rPr>
                        <a:t>Scrum Team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a:ea typeface="Calibri"/>
                          <a:cs typeface="Calibri"/>
                        </a:rPr>
                        <a:t>Fuji</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Application  Name:</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Payor Agnostic Systems</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Testing POC:</a:t>
                      </a:r>
                      <a:endParaRPr lang="en-US" sz="1400" b="1"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a:solidFill>
                            <a:schemeClr val="bg1"/>
                          </a:solidFill>
                          <a:effectLst/>
                          <a:latin typeface="Calibri"/>
                          <a:ea typeface="Calibri"/>
                          <a:cs typeface="Calibri"/>
                        </a:rPr>
                        <a:t>Stephen Michael Raj Sebastin</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a:ea typeface="Calibri"/>
                          <a:cs typeface="Calibri"/>
                        </a:rPr>
                        <a:t>Release</a:t>
                      </a:r>
                      <a:r>
                        <a:rPr lang="en-US" sz="1400" b="0" u="none" strike="noStrike" cap="none" spc="60">
                          <a:solidFill>
                            <a:schemeClr val="bg1"/>
                          </a:solidFill>
                          <a:effectLst/>
                          <a:latin typeface="Calibri"/>
                          <a:ea typeface="Calibri"/>
                          <a:cs typeface="Calibri"/>
                        </a:rPr>
                        <a:t>:</a:t>
                      </a:r>
                      <a:endParaRPr lang="en-US" sz="1400" b="0" i="0" u="none" strike="noStrike" cap="none" spc="60">
                        <a:solidFill>
                          <a:schemeClr val="bg1"/>
                        </a:solidFill>
                        <a:effectLst/>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N26.08</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1987019">
                <a:tc gridSpan="8">
                  <a:txBody>
                    <a:bodyPr/>
                    <a:lstStyle/>
                    <a:p>
                      <a:pPr marL="285750" indent="-285750">
                        <a:buClr>
                          <a:srgbClr val="000000"/>
                        </a:buClr>
                        <a:buFont typeface="Arial,Sans-Serif"/>
                        <a:buChar char="•"/>
                      </a:pPr>
                      <a:endParaRPr lang="en-US" sz="1200" b="1" u="none">
                        <a:solidFill>
                          <a:schemeClr val="tx1"/>
                        </a:solidFill>
                        <a:latin typeface="Calibri"/>
                        <a:ea typeface="Calibri"/>
                        <a:cs typeface="Calibri"/>
                      </a:endParaRPr>
                    </a:p>
                    <a:p>
                      <a:pPr marL="285750" indent="-285750">
                        <a:buClr>
                          <a:srgbClr val="000000"/>
                        </a:buClr>
                        <a:buFont typeface="Arial,Sans-Serif"/>
                        <a:buChar char="•"/>
                      </a:pPr>
                      <a:r>
                        <a:rPr lang="en-US" sz="1200" b="1" u="none">
                          <a:solidFill>
                            <a:schemeClr val="tx1"/>
                          </a:solidFill>
                          <a:latin typeface="Calibri"/>
                          <a:ea typeface="Calibri"/>
                          <a:cs typeface="Calibri"/>
                        </a:rPr>
                        <a:t>Overall Summary :</a:t>
                      </a:r>
                      <a:endParaRPr lang="en-US" sz="1200" b="1" i="0" u="none" strike="noStrike" kern="1200">
                        <a:solidFill>
                          <a:srgbClr val="000000"/>
                        </a:solidFill>
                        <a:latin typeface="Calibri"/>
                        <a:ea typeface="Calibri"/>
                        <a:cs typeface="Calibri"/>
                      </a:endParaRPr>
                    </a:p>
                    <a:p>
                      <a:pPr marL="0" indent="0">
                        <a:buClr>
                          <a:srgbClr val="000000"/>
                        </a:buClr>
                        <a:buFont typeface="Arial,Sans-Serif"/>
                        <a:buNone/>
                      </a:pPr>
                      <a:endParaRPr lang="en-US" sz="1200" b="0" i="0" u="none" strike="noStrike" kern="1200" noProof="0">
                        <a:solidFill>
                          <a:schemeClr val="tx1"/>
                        </a:solidFill>
                        <a:latin typeface="Calibri"/>
                        <a:ea typeface="Calibri"/>
                        <a:cs typeface="Calibri"/>
                      </a:endParaRP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noProof="0">
                          <a:solidFill>
                            <a:schemeClr val="tx1"/>
                          </a:solidFill>
                          <a:latin typeface="Calibri"/>
                          <a:ea typeface="Calibri"/>
                          <a:cs typeface="Calibri"/>
                        </a:rPr>
                        <a:t>Test Design in progress for below stories:  (Planned deployment to QA by 7/23)</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u="none" strike="noStrike" kern="1200">
                          <a:solidFill>
                            <a:srgbClr val="000000"/>
                          </a:solidFill>
                          <a:latin typeface="Calibri"/>
                          <a:ea typeface="+mn-ea"/>
                          <a:cs typeface="+mn-cs"/>
                        </a:rPr>
                        <a:t>US- 9281428: Design - Medicaid Cost Share - Build a logic that notices a group eligibility change and retrigger the copay data to SS&amp;C (Enhancement on the logic)</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u="none" strike="noStrike" kern="1200">
                          <a:solidFill>
                            <a:srgbClr val="000000"/>
                          </a:solidFill>
                          <a:latin typeface="Calibri"/>
                          <a:ea typeface="+mn-ea"/>
                          <a:cs typeface="+mn-cs"/>
                        </a:rPr>
                        <a:t>US-9254308-Eligibility Group Sync Process - Pharmacy Eligibility Data - Drop Records</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b="0" i="0" u="none" strike="noStrike" kern="1200">
                        <a:solidFill>
                          <a:srgbClr val="000000"/>
                        </a:solidFill>
                        <a:latin typeface="Calibri"/>
                        <a:ea typeface="+mn-ea"/>
                        <a:cs typeface="+mn-cs"/>
                      </a:endParaRP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b="0" i="0" u="none" strike="noStrike" kern="1200">
                        <a:solidFill>
                          <a:srgbClr val="000000"/>
                        </a:solidFill>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a:solidFill>
                          <a:srgbClr val="000000"/>
                        </a:solidFill>
                        <a:latin typeface="Calibri"/>
                        <a:ea typeface="+mn-ea"/>
                        <a:cs typeface="+mn-cs"/>
                      </a:endParaRPr>
                    </a:p>
                    <a:p>
                      <a:pPr marL="1143000" marR="0" lvl="2"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endParaRPr lang="en-US" sz="1200" b="0" i="0" u="none" strike="noStrike" kern="1200">
                        <a:solidFill>
                          <a:srgbClr val="000000"/>
                        </a:solidFill>
                        <a:latin typeface="Calibri"/>
                        <a:ea typeface="+mn-ea"/>
                        <a:cs typeface="+mn-cs"/>
                      </a:endParaRPr>
                    </a:p>
                    <a:p>
                      <a:pPr marL="1143000" marR="0" lvl="2"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endParaRPr lang="en-US" sz="1200" b="0" i="0" u="none" strike="noStrike" noProof="0">
                        <a:solidFill>
                          <a:schemeClr val="tx1"/>
                        </a:solidFill>
                        <a:latin typeface="Calibri"/>
                      </a:endParaRPr>
                    </a:p>
                    <a:p>
                      <a:pPr marL="457200" lvl="1" indent="0">
                        <a:buClr>
                          <a:srgbClr val="000000"/>
                        </a:buClr>
                        <a:buFont typeface="Arial,Sans-Serif"/>
                        <a:buNone/>
                      </a:pPr>
                      <a:endParaRPr lang="en-US" sz="1200" b="0" i="0" u="none" strike="noStrike" noProof="0">
                        <a:solidFill>
                          <a:schemeClr val="tx1"/>
                        </a:solidFill>
                        <a:latin typeface="Calibri"/>
                      </a:endParaRPr>
                    </a:p>
                    <a:p>
                      <a:pPr marL="457200" lvl="1" indent="0">
                        <a:buFont typeface="Arial" panose="020B0604020202020204" pitchFamily="34" charset="0"/>
                        <a:buNone/>
                      </a:pPr>
                      <a:endParaRPr lang="en-US" sz="1200" b="0" i="0" u="none" strike="noStrike" kern="1200">
                        <a:solidFill>
                          <a:srgbClr val="000000"/>
                        </a:solidFill>
                        <a:latin typeface="Calibri"/>
                        <a:ea typeface="+mn-ea"/>
                        <a:cs typeface="+mn-cs"/>
                      </a:endParaRPr>
                    </a:p>
                    <a:p>
                      <a:pPr marL="457200" lvl="1" indent="0">
                        <a:buClr>
                          <a:srgbClr val="000000"/>
                        </a:buClr>
                        <a:buFont typeface="+mj-lt"/>
                        <a:buNone/>
                      </a:pPr>
                      <a:endParaRPr lang="en-US" sz="1200" b="0" i="0" u="none" strike="noStrike" kern="1200">
                        <a:solidFill>
                          <a:srgbClr val="000000"/>
                        </a:solidFill>
                        <a:highlight>
                          <a:srgbClr val="FFFFFF"/>
                        </a:highlight>
                        <a:latin typeface="Calibri"/>
                        <a:ea typeface="+mn-ea"/>
                        <a:cs typeface="+mn-cs"/>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9D0C48BC-2350-E39A-A5A1-93BDB3B0E1BD}"/>
              </a:ext>
            </a:extLst>
          </p:cNvPr>
          <p:cNvGraphicFramePr>
            <a:graphicFrameLocks noGrp="1"/>
          </p:cNvGraphicFramePr>
          <p:nvPr/>
        </p:nvGraphicFramePr>
        <p:xfrm>
          <a:off x="446182" y="3979943"/>
          <a:ext cx="11615678" cy="1732018"/>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721383">
                <a:tc>
                  <a:txBody>
                    <a:bodyPr/>
                    <a:lstStyle/>
                    <a:p>
                      <a:pPr lvl="0" algn="l">
                        <a:buNone/>
                      </a:pPr>
                      <a:r>
                        <a:rPr lang="en-US" sz="1400" b="1" u="none" strike="noStrike" kern="1200" cap="none" spc="0">
                          <a:solidFill>
                            <a:schemeClr val="tx1"/>
                          </a:solidFill>
                          <a:effectLst/>
                          <a:latin typeface="Calibri"/>
                          <a:ea typeface="Calibri"/>
                          <a:cs typeface="Calibri"/>
                        </a:rPr>
                        <a:t>Challenges (risks / issues): </a:t>
                      </a:r>
                      <a:endParaRPr lang="en-US" sz="1400" b="0" u="none" strike="noStrike" kern="1200" cap="none" spc="0">
                        <a:solidFill>
                          <a:schemeClr val="tx1"/>
                        </a:solidFill>
                        <a:effectLst/>
                        <a:latin typeface="Calibri"/>
                        <a:ea typeface="Calibri"/>
                        <a:cs typeface="Calibri"/>
                      </a:endParaRPr>
                    </a:p>
                    <a:p>
                      <a:pPr marL="285750" marR="0" lvl="0" indent="-285750" algn="l" rtl="0">
                        <a:lnSpc>
                          <a:spcPct val="100000"/>
                        </a:lnSpc>
                        <a:spcBef>
                          <a:spcPts val="0"/>
                        </a:spcBef>
                        <a:spcAft>
                          <a:spcPts val="0"/>
                        </a:spcAft>
                        <a:buClrTx/>
                        <a:buSzTx/>
                        <a:buFont typeface="Arial" panose="020B0604020202020204" pitchFamily="34" charset="0"/>
                        <a:buChar char="•"/>
                      </a:pPr>
                      <a:r>
                        <a:rPr lang="en-US" sz="1200" b="0" i="0" u="none" strike="noStrike" kern="1200" noProof="0">
                          <a:solidFill>
                            <a:schemeClr val="tx1"/>
                          </a:solidFill>
                          <a:effectLst/>
                          <a:latin typeface="Calibri"/>
                          <a:ea typeface="Calibri"/>
                          <a:cs typeface="Calibri"/>
                        </a:rPr>
                        <a:t>NA</a:t>
                      </a:r>
                      <a:endParaRPr lang="en-US"/>
                    </a:p>
                    <a:p>
                      <a:pPr marL="285750" lvl="0" indent="-285750">
                        <a:buFont typeface="Arial" panose="020B0604020202020204" pitchFamily="34" charset="0"/>
                        <a:buChar char="•"/>
                      </a:pPr>
                      <a:endParaRPr lang="en-US" sz="1200" b="0" kern="120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400" b="1" u="none" strike="noStrike" kern="1200" cap="none" spc="0">
                          <a:solidFill>
                            <a:schemeClr val="tx1"/>
                          </a:solidFill>
                          <a:effectLst/>
                          <a:latin typeface="Calibri"/>
                          <a:ea typeface="Calibri"/>
                          <a:cs typeface="Calibri"/>
                        </a:rPr>
                        <a:t>Action Needed / Action Taken (for the identified risks/issues): </a:t>
                      </a:r>
                      <a:endParaRPr lang="en-US" sz="1400" b="0" u="none" strike="noStrike" kern="1200" cap="none" spc="0">
                        <a:solidFill>
                          <a:schemeClr val="tx1"/>
                        </a:solidFill>
                        <a:effectLst/>
                        <a:latin typeface="Calibri"/>
                        <a:ea typeface="Calibri"/>
                        <a:cs typeface="Calibri"/>
                      </a:endParaRPr>
                    </a:p>
                    <a:p>
                      <a:pPr marL="0" lvl="0" indent="0" algn="l">
                        <a:lnSpc>
                          <a:spcPct val="100000"/>
                        </a:lnSpc>
                        <a:spcBef>
                          <a:spcPts val="0"/>
                        </a:spcBef>
                        <a:spcAft>
                          <a:spcPts val="0"/>
                        </a:spcAft>
                        <a:buFont typeface="Arial" panose="020B0604020202020204" pitchFamily="34" charset="0"/>
                        <a:buChar char="•"/>
                      </a:pPr>
                      <a:r>
                        <a:rPr lang="en-US" sz="1200" b="0" i="0" u="none" strike="noStrike" kern="1200" noProof="0">
                          <a:solidFill>
                            <a:schemeClr val="tx1"/>
                          </a:solidFill>
                          <a:effectLst/>
                          <a:latin typeface="Calibri" panose="020F0502020204030204" pitchFamily="34" charset="0"/>
                          <a:ea typeface="Calibri" panose="020F0502020204030204" pitchFamily="34" charset="0"/>
                          <a:cs typeface="Calibri" panose="020F0502020204030204" pitchFamily="34" charset="0"/>
                        </a:rPr>
                        <a:t>NA</a:t>
                      </a:r>
                      <a:endParaRPr lang="en-US" sz="1200">
                        <a:latin typeface="Calibri" panose="020F0502020204030204" pitchFamily="34" charset="0"/>
                        <a:ea typeface="Calibri" panose="020F0502020204030204" pitchFamily="34" charset="0"/>
                        <a:cs typeface="Calibri" panose="020F0502020204030204" pitchFamily="34" charset="0"/>
                      </a:endParaRPr>
                    </a:p>
                    <a:p>
                      <a:pPr marL="0" lvl="0" indent="0" algn="l">
                        <a:lnSpc>
                          <a:spcPct val="100000"/>
                        </a:lnSpc>
                        <a:spcBef>
                          <a:spcPts val="0"/>
                        </a:spcBef>
                        <a:spcAft>
                          <a:spcPts val="0"/>
                        </a:spcAft>
                        <a:buNone/>
                      </a:pPr>
                      <a:endParaRPr lang="en-US" sz="1200" b="0" i="0" u="none" strike="noStrike" kern="1200" noProof="0">
                        <a:solidFill>
                          <a:schemeClr val="tx1"/>
                        </a:solidFill>
                        <a:effectLst/>
                        <a:latin typeface="Aptos"/>
                      </a:endParaRPr>
                    </a:p>
                    <a:p>
                      <a:pPr marL="0" lvl="0" indent="0" algn="l">
                        <a:lnSpc>
                          <a:spcPct val="100000"/>
                        </a:lnSpc>
                        <a:spcBef>
                          <a:spcPts val="0"/>
                        </a:spcBef>
                        <a:spcAft>
                          <a:spcPts val="0"/>
                        </a:spcAft>
                        <a:buFont typeface="Arial" panose="020B0604020202020204" pitchFamily="34" charset="0"/>
                        <a:buChar char="•"/>
                      </a:pPr>
                      <a:endParaRPr lang="en-US" sz="1200" b="0" i="0" u="none" strike="noStrike" kern="1200" noProof="0">
                        <a:solidFill>
                          <a:schemeClr val="tx1"/>
                        </a:solidFill>
                        <a:effectLst/>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845331">
                <a:tc gridSpan="2">
                  <a:txBody>
                    <a:bodyPr/>
                    <a:lstStyle/>
                    <a:p>
                      <a:pPr marL="0" lvl="0" indent="0" algn="l">
                        <a:buNone/>
                      </a:pPr>
                      <a:r>
                        <a:rPr lang="en-US" sz="1400" b="1" u="none" strike="noStrike" kern="1200" cap="none" spc="0">
                          <a:solidFill>
                            <a:schemeClr val="tx1"/>
                          </a:solidFill>
                          <a:effectLst/>
                          <a:latin typeface="Calibri"/>
                          <a:ea typeface="Calibri"/>
                          <a:cs typeface="Calibri"/>
                        </a:rPr>
                        <a:t>Automation Regression Updates : </a:t>
                      </a:r>
                      <a:br>
                        <a:rPr lang="en-US" sz="1400" b="1" u="none" strike="noStrike" kern="1200" cap="none" spc="0">
                          <a:solidFill>
                            <a:srgbClr val="000000"/>
                          </a:solidFill>
                          <a:effectLst/>
                          <a:latin typeface="Calibri"/>
                          <a:ea typeface="Calibri"/>
                          <a:cs typeface="Calibri"/>
                        </a:rPr>
                      </a:br>
                      <a:br>
                        <a:rPr lang="en-US" sz="1400" b="1" u="none" strike="noStrike" kern="1200" cap="none" spc="0">
                          <a:solidFill>
                            <a:srgbClr val="000000"/>
                          </a:solidFill>
                          <a:effectLst/>
                          <a:latin typeface="Calibri"/>
                          <a:ea typeface="Calibri"/>
                          <a:cs typeface="Calibri"/>
                        </a:rPr>
                      </a:br>
                      <a:r>
                        <a:rPr lang="en-US" sz="1400" b="1" u="none" strike="noStrike" kern="1200" cap="none" spc="0">
                          <a:solidFill>
                            <a:schemeClr val="tx1"/>
                          </a:solidFill>
                          <a:effectLst/>
                          <a:latin typeface="Calibri"/>
                          <a:ea typeface="Calibri"/>
                          <a:cs typeface="Calibri"/>
                        </a:rPr>
                        <a:t>Shared Monthly regression to automation team with PO approval</a:t>
                      </a:r>
                      <a:endParaRPr lang="en-US"/>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C7AE1D55-2C98-07BE-6FB4-CADDEB7E9E7B}"/>
              </a:ext>
            </a:extLst>
          </p:cNvPr>
          <p:cNvGraphicFramePr>
            <a:graphicFrameLocks noGrp="1"/>
          </p:cNvGraphicFramePr>
          <p:nvPr>
            <p:extLst>
              <p:ext uri="{D42A27DB-BD31-4B8C-83A1-F6EECF244321}">
                <p14:modId xmlns:p14="http://schemas.microsoft.com/office/powerpoint/2010/main" val="317363216"/>
              </p:ext>
            </p:extLst>
          </p:nvPr>
        </p:nvGraphicFramePr>
        <p:xfrm>
          <a:off x="325682" y="2006154"/>
          <a:ext cx="11590776" cy="817850"/>
        </p:xfrm>
        <a:graphic>
          <a:graphicData uri="http://schemas.openxmlformats.org/drawingml/2006/table">
            <a:tbl>
              <a:tblPr/>
              <a:tblGrid>
                <a:gridCol w="1484638">
                  <a:extLst>
                    <a:ext uri="{9D8B030D-6E8A-4147-A177-3AD203B41FA5}">
                      <a16:colId xmlns:a16="http://schemas.microsoft.com/office/drawing/2014/main" val="383858331"/>
                    </a:ext>
                  </a:extLst>
                </a:gridCol>
                <a:gridCol w="1208919">
                  <a:extLst>
                    <a:ext uri="{9D8B030D-6E8A-4147-A177-3AD203B41FA5}">
                      <a16:colId xmlns:a16="http://schemas.microsoft.com/office/drawing/2014/main" val="1560180378"/>
                    </a:ext>
                  </a:extLst>
                </a:gridCol>
                <a:gridCol w="1527055">
                  <a:extLst>
                    <a:ext uri="{9D8B030D-6E8A-4147-A177-3AD203B41FA5}">
                      <a16:colId xmlns:a16="http://schemas.microsoft.com/office/drawing/2014/main" val="2270929281"/>
                    </a:ext>
                  </a:extLst>
                </a:gridCol>
                <a:gridCol w="1527055">
                  <a:extLst>
                    <a:ext uri="{9D8B030D-6E8A-4147-A177-3AD203B41FA5}">
                      <a16:colId xmlns:a16="http://schemas.microsoft.com/office/drawing/2014/main" val="3605678300"/>
                    </a:ext>
                  </a:extLst>
                </a:gridCol>
                <a:gridCol w="1548265">
                  <a:extLst>
                    <a:ext uri="{9D8B030D-6E8A-4147-A177-3AD203B41FA5}">
                      <a16:colId xmlns:a16="http://schemas.microsoft.com/office/drawing/2014/main" val="3295045209"/>
                    </a:ext>
                  </a:extLst>
                </a:gridCol>
                <a:gridCol w="1145290">
                  <a:extLst>
                    <a:ext uri="{9D8B030D-6E8A-4147-A177-3AD203B41FA5}">
                      <a16:colId xmlns:a16="http://schemas.microsoft.com/office/drawing/2014/main" val="1923205917"/>
                    </a:ext>
                  </a:extLst>
                </a:gridCol>
                <a:gridCol w="1765659">
                  <a:extLst>
                    <a:ext uri="{9D8B030D-6E8A-4147-A177-3AD203B41FA5}">
                      <a16:colId xmlns:a16="http://schemas.microsoft.com/office/drawing/2014/main" val="3147362022"/>
                    </a:ext>
                  </a:extLst>
                </a:gridCol>
                <a:gridCol w="1383895">
                  <a:extLst>
                    <a:ext uri="{9D8B030D-6E8A-4147-A177-3AD203B41FA5}">
                      <a16:colId xmlns:a16="http://schemas.microsoft.com/office/drawing/2014/main" val="4292749998"/>
                    </a:ext>
                  </a:extLst>
                </a:gridCol>
              </a:tblGrid>
              <a:tr h="408925">
                <a:tc>
                  <a:txBody>
                    <a:bodyPr/>
                    <a:lstStyle/>
                    <a:p>
                      <a:pPr algn="ctr" fontAlgn="ctr">
                        <a:buNone/>
                      </a:pPr>
                      <a:r>
                        <a:rPr lang="en-US" sz="1000" b="1" i="0" u="none" strike="noStrike">
                          <a:solidFill>
                            <a:srgbClr val="000000"/>
                          </a:solidFill>
                          <a:effectLst/>
                          <a:latin typeface="Aptos Narrow"/>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a:solidFill>
                            <a:srgbClr val="000000"/>
                          </a:solidFill>
                          <a:effectLst/>
                          <a:latin typeface="Aptos Narrow"/>
                        </a:rPr>
                        <a:t>Test Design through AI tools</a:t>
                      </a:r>
                      <a:br>
                        <a:rPr lang="en-US" sz="1000" b="1" i="0" u="none" strike="noStrike">
                          <a:solidFill>
                            <a:srgbClr val="000000"/>
                          </a:solidFill>
                          <a:effectLst/>
                          <a:latin typeface="Aptos Narrow"/>
                        </a:rPr>
                      </a:br>
                      <a:r>
                        <a:rPr lang="en-US" sz="1000" b="1" i="0" u="none" strike="noStrike">
                          <a:solidFill>
                            <a:srgbClr val="000000"/>
                          </a:solidFill>
                          <a:effectLst/>
                          <a:latin typeface="Aptos Narrow"/>
                        </a:rPr>
                        <a:t>Sulfur/Strider</a:t>
                      </a:r>
                    </a:p>
                  </a:txBody>
                  <a:tcPr marL="0" marR="0" marT="0"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408925">
                <a:tc>
                  <a:txBody>
                    <a:bodyPr/>
                    <a:lstStyle/>
                    <a:p>
                      <a:pPr algn="ctr" fontAlgn="t">
                        <a:buNone/>
                      </a:pPr>
                      <a:r>
                        <a:rPr lang="en-US" sz="1000" b="0" i="0" u="none" strike="noStrike">
                          <a:solidFill>
                            <a:srgbClr val="000000"/>
                          </a:solidFill>
                          <a:effectLst/>
                          <a:latin typeface="Aptos Narrow"/>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panose="020B0004020202020204" pitchFamily="34" charset="0"/>
                        </a:rPr>
                        <a:t>In progress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Aptos Narrow"/>
                        </a:rPr>
                        <a:t>10%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a:solidFill>
                        <a:srgbClr val="000000"/>
                      </a:solidFill>
                    </a:lnT>
                    <a:lnB w="6350">
                      <a:solidFill>
                        <a:srgbClr val="000000"/>
                      </a:solidFill>
                    </a:lnB>
                    <a:noFill/>
                  </a:tcPr>
                </a:tc>
                <a:tc>
                  <a:txBody>
                    <a:bodyPr/>
                    <a:lstStyle/>
                    <a:p>
                      <a:pPr algn="ctr" fontAlgn="t">
                        <a:buNone/>
                      </a:pPr>
                      <a:r>
                        <a:rPr lang="en-US" sz="1000" b="0" i="0" u="none" strike="noStrike">
                          <a:solidFill>
                            <a:srgbClr val="000000"/>
                          </a:solidFill>
                          <a:effectLst/>
                          <a:latin typeface="Aptos Narrow"/>
                        </a:rPr>
                        <a:t>Yet to Start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panose="020B0004020202020204" pitchFamily="34" charset="0"/>
                        </a:rPr>
                        <a:t>7/31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5857535"/>
                  </a:ext>
                </a:extLst>
              </a:tr>
            </a:tbl>
          </a:graphicData>
        </a:graphic>
      </p:graphicFrame>
    </p:spTree>
    <p:extLst>
      <p:ext uri="{BB962C8B-B14F-4D97-AF65-F5344CB8AC3E}">
        <p14:creationId xmlns:p14="http://schemas.microsoft.com/office/powerpoint/2010/main" val="3556073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127FEA-31AE-E3D7-0333-9E4F4535A9B2}"/>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7058DD07-DE5C-0BF0-F075-28AD3A633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6082C99F-7753-BE5D-A2D8-22F20D85F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E11250F9-B2DA-60A1-F751-E08C4BB85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8419DE6F-B20B-8DC2-C9DB-E9E47254D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reeform: Shape 35">
            <a:extLst>
              <a:ext uri="{FF2B5EF4-FFF2-40B4-BE49-F238E27FC236}">
                <a16:creationId xmlns:a16="http://schemas.microsoft.com/office/drawing/2014/main" id="{AB4164D0-67EA-EF71-5524-17F8EACC9D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Isosceles Triangle 36">
            <a:extLst>
              <a:ext uri="{FF2B5EF4-FFF2-40B4-BE49-F238E27FC236}">
                <a16:creationId xmlns:a16="http://schemas.microsoft.com/office/drawing/2014/main" id="{426DDDE6-053F-BB8E-DAAC-8ACDE6E84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Isosceles Triangle 37">
            <a:extLst>
              <a:ext uri="{FF2B5EF4-FFF2-40B4-BE49-F238E27FC236}">
                <a16:creationId xmlns:a16="http://schemas.microsoft.com/office/drawing/2014/main" id="{70E27E69-25DD-A703-09BD-EB0E51D34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455D18B6-3CE2-AB75-6313-9CB234F39790}"/>
              </a:ext>
            </a:extLst>
          </p:cNvPr>
          <p:cNvSpPr txBox="1"/>
          <p:nvPr/>
        </p:nvSpPr>
        <p:spPr>
          <a:xfrm>
            <a:off x="757980" y="2177524"/>
            <a:ext cx="10824420"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black"/>
                </a:solidFill>
                <a:effectLst/>
                <a:uLnTx/>
                <a:uFillTx/>
                <a:latin typeface="Aptos" panose="02110004020202020204"/>
                <a:ea typeface="+mn-ea"/>
                <a:cs typeface="+mn-cs"/>
              </a:rPr>
              <a:t>Clinical Workstream – Weekly Status Summary</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9371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7EC43-60CB-F499-247D-F8429E8EB7E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8554244-4511-0556-3C8D-F8E5816D0257}"/>
              </a:ext>
            </a:extLst>
          </p:cNvPr>
          <p:cNvGraphicFramePr>
            <a:graphicFrameLocks noGrp="1"/>
          </p:cNvGraphicFramePr>
          <p:nvPr>
            <p:extLst>
              <p:ext uri="{D42A27DB-BD31-4B8C-83A1-F6EECF244321}">
                <p14:modId xmlns:p14="http://schemas.microsoft.com/office/powerpoint/2010/main" val="212189765"/>
              </p:ext>
            </p:extLst>
          </p:nvPr>
        </p:nvGraphicFramePr>
        <p:xfrm>
          <a:off x="345056" y="71886"/>
          <a:ext cx="11615848" cy="2068291"/>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970133">
                  <a:extLst>
                    <a:ext uri="{9D8B030D-6E8A-4147-A177-3AD203B41FA5}">
                      <a16:colId xmlns:a16="http://schemas.microsoft.com/office/drawing/2014/main" val="2428918094"/>
                    </a:ext>
                  </a:extLst>
                </a:gridCol>
                <a:gridCol w="1361701">
                  <a:extLst>
                    <a:ext uri="{9D8B030D-6E8A-4147-A177-3AD203B41FA5}">
                      <a16:colId xmlns:a16="http://schemas.microsoft.com/office/drawing/2014/main" val="2434076975"/>
                    </a:ext>
                  </a:extLst>
                </a:gridCol>
                <a:gridCol w="1183174">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785364">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kern="1200" cap="none" spc="60">
                          <a:solidFill>
                            <a:schemeClr val="bg1"/>
                          </a:solidFill>
                          <a:effectLst/>
                          <a:latin typeface="Calibri"/>
                          <a:ea typeface="Calibri"/>
                          <a:cs typeface="Calibri"/>
                        </a:rPr>
                        <a:t>PAHub Mockingjay</a:t>
                      </a:r>
                      <a:r>
                        <a:rPr lang="en-US" sz="1400"/>
                        <a:t> </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Pahub</a:t>
                      </a:r>
                      <a:endParaRPr lang="en-US" sz="1400" b="0" i="0" u="none" strike="noStrike" kern="1200" cap="none" spc="60" err="1">
                        <a:solidFill>
                          <a:schemeClr val="bg1"/>
                        </a:solidFill>
                        <a:effectLst/>
                        <a:latin typeface="Calibri"/>
                        <a:ea typeface="Calibri"/>
                        <a:cs typeface="Calibri"/>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Melissa/ Chinmayee/</a:t>
                      </a:r>
                      <a:endPar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Raghu</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r>
                        <a:rPr lang="en-US" sz="1400" b="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N26.07</a:t>
                      </a:r>
                      <a:endPar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959419">
                <a:tc gridSpan="8">
                  <a:txBody>
                    <a:bodyPr/>
                    <a:lstStyle/>
                    <a:p>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 :</a:t>
                      </a:r>
                    </a:p>
                    <a:p>
                      <a:pPr marL="285750" indent="-285750">
                        <a:buFont typeface="Arial" panose="020B0604020202020204" pitchFamily="34" charset="0"/>
                        <a:buChar char="•"/>
                      </a:pPr>
                      <a:r>
                        <a:rPr lang="en-US" sz="1000" b="0" u="none" strike="noStrike" kern="1200" cap="none" spc="0">
                          <a:solidFill>
                            <a:schemeClr val="tx1"/>
                          </a:solidFill>
                          <a:effectLst/>
                          <a:latin typeface="Calibri"/>
                          <a:ea typeface="Calibri"/>
                          <a:cs typeface="Calibri"/>
                        </a:rPr>
                        <a:t>Test Execution in progress for the below CR’s.</a:t>
                      </a:r>
                    </a:p>
                    <a:p>
                      <a:pPr marL="742950" lvl="1" indent="-285750">
                        <a:buFont typeface="Arial" panose="020B0604020202020204" pitchFamily="34" charset="0"/>
                        <a:buChar char="•"/>
                      </a:pPr>
                      <a:r>
                        <a:rPr lang="en-US" sz="1000" b="0" i="0" u="none" strike="noStrike" kern="1200">
                          <a:solidFill>
                            <a:schemeClr val="tx1"/>
                          </a:solidFill>
                          <a:latin typeface="Aptos"/>
                          <a:ea typeface="+mn-ea"/>
                          <a:cs typeface="+mn-cs"/>
                        </a:rPr>
                        <a:t>CR1041 - AGADIACR6867: DomaniRx DMR API</a:t>
                      </a:r>
                      <a:endParaRPr lang="en-US" sz="1000" b="0" i="0" u="none" strike="noStrike" kern="1200" noProof="0">
                        <a:solidFill>
                          <a:schemeClr val="tx1"/>
                        </a:solidFill>
                        <a:latin typeface="Aptos"/>
                        <a:ea typeface="+mn-ea"/>
                        <a:cs typeface="+mn-cs"/>
                      </a:endParaRPr>
                    </a:p>
                    <a:p>
                      <a:pPr marL="742950" lvl="1" indent="-285750">
                        <a:buFont typeface="Arial" panose="020B0604020202020204" pitchFamily="34" charset="0"/>
                        <a:buChar char="•"/>
                      </a:pPr>
                      <a:r>
                        <a:rPr lang="en-US" sz="1000" b="0" i="0" u="none" strike="noStrike" kern="1200">
                          <a:solidFill>
                            <a:schemeClr val="tx1"/>
                          </a:solidFill>
                          <a:latin typeface="Aptos"/>
                          <a:ea typeface="+mn-ea"/>
                          <a:cs typeface="+mn-cs"/>
                        </a:rPr>
                        <a:t>CR1037 - AGADIACR5929: Variable Placeholder Enhancements.</a:t>
                      </a:r>
                      <a:endParaRPr lang="en-US" sz="1000" b="0" i="0" u="none" strike="noStrike" noProof="0"/>
                    </a:p>
                    <a:p>
                      <a:pPr marL="742950" lvl="1" indent="-285750">
                        <a:buFont typeface="Arial" panose="020B0604020202020204" pitchFamily="34" charset="0"/>
                        <a:buChar char="•"/>
                      </a:pPr>
                      <a:r>
                        <a:rPr lang="en-US" sz="1000" b="0" i="0" u="none" strike="noStrike" kern="1200">
                          <a:solidFill>
                            <a:schemeClr val="tx1"/>
                          </a:solidFill>
                          <a:latin typeface="Aptos"/>
                          <a:ea typeface="+mn-ea"/>
                          <a:cs typeface="+mn-cs"/>
                        </a:rPr>
                        <a:t>GLOBALCR5442 PAHub Redesign — Landing Main Page (Humana)</a:t>
                      </a:r>
                    </a:p>
                    <a:p>
                      <a:pPr marL="742950" lvl="1" indent="-285750">
                        <a:buFont typeface="Arial" panose="020B0604020202020204" pitchFamily="34" charset="0"/>
                        <a:buChar char="•"/>
                      </a:pPr>
                      <a:endParaRPr lang="en-US" sz="1000" b="0" i="0" u="none" strike="noStrike" noProof="0"/>
                    </a:p>
                    <a:p>
                      <a:pPr marL="457200" lvl="1" indent="0">
                        <a:buNone/>
                      </a:pPr>
                      <a:endParaRPr lang="en-US" sz="1200">
                        <a:latin typeface="Calibri"/>
                        <a:ea typeface="Calibri"/>
                        <a:cs typeface="Calibri"/>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B9BEC42D-B4B8-05DE-3EB0-BCFFD9C61013}"/>
              </a:ext>
            </a:extLst>
          </p:cNvPr>
          <p:cNvGraphicFramePr>
            <a:graphicFrameLocks noGrp="1"/>
          </p:cNvGraphicFramePr>
          <p:nvPr>
            <p:extLst>
              <p:ext uri="{D42A27DB-BD31-4B8C-83A1-F6EECF244321}">
                <p14:modId xmlns:p14="http://schemas.microsoft.com/office/powerpoint/2010/main" val="2483826641"/>
              </p:ext>
            </p:extLst>
          </p:nvPr>
        </p:nvGraphicFramePr>
        <p:xfrm>
          <a:off x="287547" y="3218688"/>
          <a:ext cx="11615678" cy="2933783"/>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1809621">
                <a:tc>
                  <a:txBody>
                    <a:bodyPr/>
                    <a:lstStyle/>
                    <a:p>
                      <a:pPr algn="l" fontAlgn="t">
                        <a:buNone/>
                      </a:pPr>
                      <a:r>
                        <a:rPr lang="en-US" sz="1000" b="1" u="none" strike="noStrike" kern="1200" cap="none" spc="0">
                          <a:solidFill>
                            <a:schemeClr val="tx1"/>
                          </a:solidFill>
                          <a:effectLst/>
                          <a:latin typeface="Calibri"/>
                          <a:ea typeface="Calibri"/>
                          <a:cs typeface="Calibri"/>
                        </a:rPr>
                        <a:t>Challenges (risks / issues): </a:t>
                      </a:r>
                      <a:r>
                        <a:rPr lang="en-US" sz="1000" b="0" u="none" strike="noStrike" kern="1200" cap="none" spc="0">
                          <a:solidFill>
                            <a:schemeClr val="tx1"/>
                          </a:solidFill>
                          <a:effectLst/>
                          <a:latin typeface="Calibri"/>
                          <a:ea typeface="Calibri"/>
                          <a:cs typeface="Calibri"/>
                        </a:rPr>
                        <a:t> </a:t>
                      </a:r>
                      <a:br>
                        <a:rPr lang="en-US" sz="1000" b="0" i="0" u="none" strike="noStrike" kern="1200" cap="none" spc="0">
                          <a:solidFill>
                            <a:srgbClr val="000000"/>
                          </a:solidFill>
                          <a:effectLst/>
                          <a:latin typeface="Calibri"/>
                          <a:ea typeface="Calibri"/>
                          <a:cs typeface="Calibri"/>
                        </a:rPr>
                      </a:br>
                      <a:endParaRPr lang="en-US" sz="1000" b="0" u="none" strike="noStrike" kern="1200" cap="none" spc="0">
                        <a:solidFill>
                          <a:schemeClr val="tx1"/>
                        </a:solidFill>
                        <a:effectLst/>
                        <a:latin typeface="Calibri"/>
                        <a:ea typeface="Calibri"/>
                        <a:cs typeface="Calibri"/>
                      </a:endParaRPr>
                    </a:p>
                    <a:p>
                      <a:pPr marL="171450" lvl="0" indent="-171450" algn="l">
                        <a:lnSpc>
                          <a:spcPct val="100000"/>
                        </a:lnSpc>
                        <a:spcBef>
                          <a:spcPts val="0"/>
                        </a:spcBef>
                        <a:spcAft>
                          <a:spcPts val="0"/>
                        </a:spcAft>
                        <a:buClrTx/>
                        <a:buSzTx/>
                        <a:buFont typeface="Arial"/>
                        <a:buChar char="•"/>
                      </a:pPr>
                      <a:r>
                        <a:rPr lang="en-US" sz="1100"/>
                        <a:t>Sign off cannot be delayed beyond </a:t>
                      </a:r>
                      <a:r>
                        <a:rPr lang="en-US" sz="1100" b="1"/>
                        <a:t>7/23 due to SS&amp;C refresh on 7/24 </a:t>
                      </a:r>
                      <a:r>
                        <a:rPr lang="en-US" sz="1100"/>
                        <a:t>which will remove all of our current UAT member data. We will need prompt responses from Agadia on defect resolution</a:t>
                      </a:r>
                      <a:r>
                        <a:rPr lang="en-US" sz="1100" b="0" i="0" u="none" strike="noStrike" kern="1200" cap="none" spc="0">
                          <a:solidFill>
                            <a:srgbClr val="000000"/>
                          </a:solidFill>
                          <a:effectLst/>
                          <a:latin typeface="Aptos"/>
                          <a:ea typeface="Calibri"/>
                          <a:cs typeface="Calibri"/>
                        </a:rPr>
                        <a:t>.</a:t>
                      </a:r>
                    </a:p>
                    <a:p>
                      <a:pPr marL="171450" lvl="0" indent="-171450" algn="l">
                        <a:lnSpc>
                          <a:spcPct val="100000"/>
                        </a:lnSpc>
                        <a:spcBef>
                          <a:spcPts val="0"/>
                        </a:spcBef>
                        <a:spcAft>
                          <a:spcPts val="0"/>
                        </a:spcAft>
                        <a:buClrTx/>
                        <a:buSzTx/>
                        <a:buFont typeface="Arial"/>
                        <a:buChar char="•"/>
                      </a:pPr>
                      <a:r>
                        <a:rPr lang="en-US" sz="1100"/>
                        <a:t>Functional CR testing is completed except 2 TC which is blocked due to  </a:t>
                      </a:r>
                      <a:r>
                        <a:rPr lang="en-US" sz="1200" b="0" i="0" u="none" strike="noStrike" noProof="0">
                          <a:solidFill>
                            <a:schemeClr val="tx1"/>
                          </a:solidFill>
                          <a:latin typeface="Aptos"/>
                        </a:rPr>
                        <a:t>#185400 .</a:t>
                      </a:r>
                      <a:endParaRPr lang="en-US" sz="1100"/>
                    </a:p>
                    <a:p>
                      <a:pPr marL="171450" lvl="0" indent="-171450" algn="l">
                        <a:lnSpc>
                          <a:spcPct val="100000"/>
                        </a:lnSpc>
                        <a:spcBef>
                          <a:spcPts val="0"/>
                        </a:spcBef>
                        <a:spcAft>
                          <a:spcPts val="0"/>
                        </a:spcAft>
                        <a:buClrTx/>
                        <a:buSzTx/>
                        <a:buFont typeface="Arial"/>
                        <a:buChar char="•"/>
                      </a:pPr>
                      <a:r>
                        <a:rPr lang="en-US" sz="1100"/>
                        <a:t>Out of 11 UAT defects 8 are closed and 3 in open status.</a:t>
                      </a:r>
                      <a:br>
                        <a:rPr lang="en-US" sz="1100" b="0" i="0" u="none" strike="noStrike" kern="1200" cap="none" spc="0">
                          <a:solidFill>
                            <a:srgbClr val="000000"/>
                          </a:solidFill>
                          <a:effectLst/>
                          <a:latin typeface="Aptos"/>
                          <a:ea typeface="Calibri"/>
                          <a:cs typeface="Calibri"/>
                        </a:rPr>
                      </a:br>
                      <a:endParaRPr lang="en-US" sz="1100" b="0" i="0" u="none" strike="noStrike" kern="1200" cap="none" spc="0">
                        <a:solidFill>
                          <a:srgbClr val="000000"/>
                        </a:solidFill>
                        <a:effectLst/>
                        <a:latin typeface="Aptos"/>
                        <a:ea typeface="Calibri"/>
                        <a:cs typeface="Calibri"/>
                      </a:endParaRPr>
                    </a:p>
                    <a:p>
                      <a:pPr marL="0" marR="0" lvl="0" indent="0" algn="l">
                        <a:lnSpc>
                          <a:spcPct val="100000"/>
                        </a:lnSpc>
                        <a:spcBef>
                          <a:spcPts val="0"/>
                        </a:spcBef>
                        <a:spcAft>
                          <a:spcPts val="0"/>
                        </a:spcAft>
                        <a:buClrTx/>
                        <a:buSzTx/>
                        <a:buFont typeface="Arial"/>
                        <a:buNone/>
                      </a:pPr>
                      <a:endParaRPr lang="en-US" sz="1000" b="0" i="0" u="none" strike="noStrike" kern="1200" cap="none" spc="0" noProof="0">
                        <a:solidFill>
                          <a:srgbClr val="000000"/>
                        </a:solidFill>
                        <a:effectLst/>
                        <a:latin typeface="Aptos"/>
                        <a:ea typeface="Calibri"/>
                        <a:cs typeface="Calibri"/>
                      </a:endParaRPr>
                    </a:p>
                    <a:p>
                      <a:pPr marL="457200" marR="0" lvl="1" indent="0" algn="l">
                        <a:lnSpc>
                          <a:spcPct val="100000"/>
                        </a:lnSpc>
                        <a:spcBef>
                          <a:spcPts val="0"/>
                        </a:spcBef>
                        <a:spcAft>
                          <a:spcPts val="0"/>
                        </a:spcAft>
                        <a:buClrTx/>
                        <a:buSzTx/>
                        <a:buFont typeface="Arial"/>
                        <a:buNone/>
                      </a:pPr>
                      <a:endParaRPr lang="en-US" sz="1000" b="0" i="0" u="none" strike="noStrike" kern="1200" cap="none" spc="0" noProof="0">
                        <a:solidFill>
                          <a:srgbClr val="000000"/>
                        </a:solidFill>
                        <a:effectLst/>
                        <a:latin typeface="Aptos"/>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Action Needed / Action Taken (for the identified risks/issues): </a:t>
                      </a: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lvl="0" algn="l" defTabSz="914400">
                        <a:buNone/>
                      </a:pPr>
                      <a:endParaRPr lang="en-US" sz="1200" b="1" u="none" strike="noStrike" kern="1200" cap="none" spc="0">
                        <a:solidFill>
                          <a:schemeClr val="tx1"/>
                        </a:solidFill>
                        <a:effectLst/>
                        <a:latin typeface="Calibri"/>
                        <a:ea typeface="Calibri"/>
                        <a:cs typeface="Calibri"/>
                      </a:endParaRPr>
                    </a:p>
                    <a:p>
                      <a:pPr marL="171450" lvl="0" indent="-171450" algn="l">
                        <a:buFont typeface="Arial"/>
                        <a:buChar char="•"/>
                      </a:pPr>
                      <a:r>
                        <a:rPr lang="en-US" sz="1100" b="0" i="0" u="none" strike="noStrike" kern="1200" cap="none" spc="0" noProof="0">
                          <a:solidFill>
                            <a:srgbClr val="000000"/>
                          </a:solidFill>
                          <a:effectLst/>
                          <a:latin typeface="Aptos"/>
                          <a:ea typeface="Calibri"/>
                          <a:cs typeface="Calibri"/>
                        </a:rPr>
                        <a:t>Following up with agadia for timely resolution of blocker defect. </a:t>
                      </a:r>
                    </a:p>
                    <a:p>
                      <a:pPr marL="628650" marR="0" lvl="1" indent="-171450" algn="l" rtl="0" eaLnBrk="1" latinLnBrk="0" hangingPunct="1">
                        <a:lnSpc>
                          <a:spcPct val="100000"/>
                        </a:lnSpc>
                        <a:spcBef>
                          <a:spcPts val="0"/>
                        </a:spcBef>
                        <a:spcAft>
                          <a:spcPts val="0"/>
                        </a:spcAft>
                        <a:buClrTx/>
                        <a:buSzTx/>
                        <a:buFont typeface="Arial"/>
                        <a:buChar char="•"/>
                      </a:pPr>
                      <a:endParaRPr lang="en-US" sz="1000" b="0" i="0" u="none" strike="noStrike" kern="1200" cap="none" spc="0" noProof="0">
                        <a:solidFill>
                          <a:srgbClr val="000000"/>
                        </a:solidFill>
                        <a:effectLst/>
                        <a:latin typeface="Aptos"/>
                        <a:ea typeface="Calibri"/>
                        <a:cs typeface="Calibri"/>
                      </a:endParaRPr>
                    </a:p>
                    <a:p>
                      <a:pPr marL="457200" marR="0" lvl="1" indent="0" algn="l">
                        <a:lnSpc>
                          <a:spcPct val="100000"/>
                        </a:lnSpc>
                        <a:spcBef>
                          <a:spcPts val="0"/>
                        </a:spcBef>
                        <a:spcAft>
                          <a:spcPts val="0"/>
                        </a:spcAft>
                        <a:buClrTx/>
                        <a:buSzTx/>
                        <a:buNone/>
                      </a:pPr>
                      <a:endParaRPr lang="en-US" sz="1000" b="0" i="0" u="none" strike="noStrike" kern="1200" cap="none" spc="0" noProof="0">
                        <a:solidFill>
                          <a:srgbClr val="000000"/>
                        </a:solidFill>
                        <a:effectLst/>
                        <a:latin typeface="Aptos"/>
                        <a:ea typeface="Calibri"/>
                        <a:cs typeface="Calibri"/>
                      </a:endParaRPr>
                    </a:p>
                    <a:p>
                      <a:pPr marL="457200" marR="0" lvl="1" indent="0" algn="l">
                        <a:lnSpc>
                          <a:spcPct val="100000"/>
                        </a:lnSpc>
                        <a:spcBef>
                          <a:spcPts val="0"/>
                        </a:spcBef>
                        <a:spcAft>
                          <a:spcPts val="0"/>
                        </a:spcAft>
                        <a:buClrTx/>
                        <a:buSzTx/>
                        <a:buFont typeface="Arial"/>
                        <a:buNone/>
                      </a:pPr>
                      <a:endParaRPr lang="en-US" sz="1200" b="0" u="none" strike="noStrike" kern="1200" cap="none" spc="0">
                        <a:solidFill>
                          <a:srgbClr val="000000"/>
                        </a:solidFill>
                        <a:effectLst/>
                        <a:latin typeface="Calibri"/>
                        <a:ea typeface="Calibri"/>
                        <a:cs typeface="Calibri"/>
                      </a:endParaRPr>
                    </a:p>
                    <a:p>
                      <a:pPr marL="742950" marR="0" lvl="1" indent="-285750" algn="l" rtl="0" eaLnBrk="1" fontAlgn="t" latinLnBrk="0" hangingPunct="1">
                        <a:lnSpc>
                          <a:spcPct val="100000"/>
                        </a:lnSpc>
                        <a:spcBef>
                          <a:spcPts val="0"/>
                        </a:spcBef>
                        <a:spcAft>
                          <a:spcPts val="0"/>
                        </a:spcAft>
                        <a:buClrTx/>
                        <a:buSzTx/>
                        <a:buFont typeface="Arial" panose="020B0604020202020204" pitchFamily="34" charset="0"/>
                        <a:buChar char="•"/>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gn="l" fontAlgn="t">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124162">
                <a:tc gridSpan="2">
                  <a:txBody>
                    <a:bodyPr/>
                    <a:lstStyle/>
                    <a:p>
                      <a:pPr marL="0" indent="0" algn="l" defTabSz="914400" rtl="0" eaLnBrk="1" fontAlgn="t" latinLnBrk="0" hangingPunct="1">
                        <a:buNone/>
                      </a:pPr>
                      <a:r>
                        <a:rPr lang="en-US" sz="1400" b="1" u="none" strike="noStrike" kern="1200" cap="none" spc="0">
                          <a:solidFill>
                            <a:schemeClr val="tx1"/>
                          </a:solidFill>
                          <a:effectLst/>
                          <a:latin typeface="Calibri"/>
                          <a:ea typeface="Calibri"/>
                          <a:cs typeface="Calibri"/>
                        </a:rPr>
                        <a:t>Automation Regression Updates : </a:t>
                      </a:r>
                    </a:p>
                    <a:p>
                      <a:pPr marL="171450" lvl="0" indent="-171450" algn="l">
                        <a:buFont typeface="Arial"/>
                        <a:buChar char="•"/>
                      </a:pPr>
                      <a:r>
                        <a:rPr lang="en-US" sz="1200" b="0" i="0" u="none" strike="noStrike" kern="1200" noProof="0">
                          <a:solidFill>
                            <a:schemeClr val="tx1"/>
                          </a:solidFill>
                        </a:rPr>
                        <a:t>18 test cases are blocked due to  defect #185400 .</a:t>
                      </a:r>
                      <a:endParaRPr lang="en-US" sz="1000" b="0" i="0" u="none" strike="noStrike" kern="1200">
                        <a:solidFill>
                          <a:schemeClr val="tx1"/>
                        </a:solidFill>
                        <a:latin typeface="Aptos"/>
                        <a:ea typeface="+mn-ea"/>
                        <a:cs typeface="+mn-cs"/>
                      </a:endParaRPr>
                    </a:p>
                    <a:p>
                      <a:pPr marL="171450" lvl="0" indent="-171450" algn="l">
                        <a:buFont typeface="Arial"/>
                        <a:buChar char="•"/>
                      </a:pPr>
                      <a:r>
                        <a:rPr lang="en-US" sz="1200" b="0" i="0" u="none" strike="noStrike" kern="1200" noProof="0">
                          <a:solidFill>
                            <a:schemeClr val="tx1"/>
                          </a:solidFill>
                          <a:latin typeface="Aptos"/>
                        </a:rPr>
                        <a:t>12 test cases are blocked due to  Incident# 185489</a:t>
                      </a:r>
                      <a:endParaRPr lang="en-US" sz="1200" b="0" i="0" u="none" strike="noStrike" kern="1200" noProof="0">
                        <a:solidFill>
                          <a:schemeClr val="tx1"/>
                        </a:solidFill>
                      </a:endParaRPr>
                    </a:p>
                    <a:p>
                      <a:pPr marL="171450" lvl="0" indent="-171450" algn="l">
                        <a:buFont typeface="Arial"/>
                        <a:buChar char="•"/>
                      </a:pPr>
                      <a:endParaRPr lang="en-US" sz="1000" b="0" i="0" u="none" strike="noStrike" kern="1200" noProof="0">
                        <a:solidFill>
                          <a:schemeClr val="tx1"/>
                        </a:solidFill>
                        <a:latin typeface="Aptos"/>
                        <a:ea typeface="+mn-ea"/>
                        <a:cs typeface="+mn-cs"/>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F0F3B5B0-ECB3-F7FD-3B6C-46505313476D}"/>
              </a:ext>
            </a:extLst>
          </p:cNvPr>
          <p:cNvGraphicFramePr>
            <a:graphicFrameLocks noGrp="1"/>
          </p:cNvGraphicFramePr>
          <p:nvPr>
            <p:extLst>
              <p:ext uri="{D42A27DB-BD31-4B8C-83A1-F6EECF244321}">
                <p14:modId xmlns:p14="http://schemas.microsoft.com/office/powerpoint/2010/main" val="2966259968"/>
              </p:ext>
            </p:extLst>
          </p:nvPr>
        </p:nvGraphicFramePr>
        <p:xfrm>
          <a:off x="345056" y="2014315"/>
          <a:ext cx="11615848" cy="933043"/>
        </p:xfrm>
        <a:graphic>
          <a:graphicData uri="http://schemas.openxmlformats.org/drawingml/2006/table">
            <a:tbl>
              <a:tblPr/>
              <a:tblGrid>
                <a:gridCol w="989967">
                  <a:extLst>
                    <a:ext uri="{9D8B030D-6E8A-4147-A177-3AD203B41FA5}">
                      <a16:colId xmlns:a16="http://schemas.microsoft.com/office/drawing/2014/main" val="383858331"/>
                    </a:ext>
                  </a:extLst>
                </a:gridCol>
                <a:gridCol w="1380744">
                  <a:extLst>
                    <a:ext uri="{9D8B030D-6E8A-4147-A177-3AD203B41FA5}">
                      <a16:colId xmlns:a16="http://schemas.microsoft.com/office/drawing/2014/main" val="1560180378"/>
                    </a:ext>
                  </a:extLst>
                </a:gridCol>
                <a:gridCol w="1250423">
                  <a:extLst>
                    <a:ext uri="{9D8B030D-6E8A-4147-A177-3AD203B41FA5}">
                      <a16:colId xmlns:a16="http://schemas.microsoft.com/office/drawing/2014/main" val="2270929281"/>
                    </a:ext>
                  </a:extLst>
                </a:gridCol>
                <a:gridCol w="1250423">
                  <a:extLst>
                    <a:ext uri="{9D8B030D-6E8A-4147-A177-3AD203B41FA5}">
                      <a16:colId xmlns:a16="http://schemas.microsoft.com/office/drawing/2014/main" val="1407093234"/>
                    </a:ext>
                  </a:extLst>
                </a:gridCol>
                <a:gridCol w="1787054">
                  <a:extLst>
                    <a:ext uri="{9D8B030D-6E8A-4147-A177-3AD203B41FA5}">
                      <a16:colId xmlns:a16="http://schemas.microsoft.com/office/drawing/2014/main" val="3295045209"/>
                    </a:ext>
                  </a:extLst>
                </a:gridCol>
                <a:gridCol w="1321928">
                  <a:extLst>
                    <a:ext uri="{9D8B030D-6E8A-4147-A177-3AD203B41FA5}">
                      <a16:colId xmlns:a16="http://schemas.microsoft.com/office/drawing/2014/main" val="1923205917"/>
                    </a:ext>
                  </a:extLst>
                </a:gridCol>
                <a:gridCol w="2037976">
                  <a:extLst>
                    <a:ext uri="{9D8B030D-6E8A-4147-A177-3AD203B41FA5}">
                      <a16:colId xmlns:a16="http://schemas.microsoft.com/office/drawing/2014/main" val="3147362022"/>
                    </a:ext>
                  </a:extLst>
                </a:gridCol>
                <a:gridCol w="1597333">
                  <a:extLst>
                    <a:ext uri="{9D8B030D-6E8A-4147-A177-3AD203B41FA5}">
                      <a16:colId xmlns:a16="http://schemas.microsoft.com/office/drawing/2014/main" val="4292749998"/>
                    </a:ext>
                  </a:extLst>
                </a:gridCol>
              </a:tblGrid>
              <a:tr h="566928">
                <a:tc>
                  <a:txBody>
                    <a:bodyPr/>
                    <a:lstStyle/>
                    <a:p>
                      <a:pPr algn="ctr" fontAlgn="ctr">
                        <a:buNone/>
                      </a:pPr>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lnSpc>
                          <a:spcPts val="675"/>
                        </a:lnSpc>
                        <a:buNone/>
                      </a:pPr>
                      <a:endParaRPr lang="en-US" sz="1000" b="1" kern="1200" noProof="0">
                        <a:solidFill>
                          <a:schemeClr val="dk1"/>
                        </a:solidFill>
                        <a:effectLst/>
                        <a:latin typeface="Calibri"/>
                        <a:ea typeface="+mn-ea"/>
                        <a:cs typeface="+mn-cs"/>
                      </a:endParaRPr>
                    </a:p>
                    <a:p>
                      <a:pPr lvl="0" algn="ctr">
                        <a:lnSpc>
                          <a:spcPts val="675"/>
                        </a:lnSpc>
                        <a:buNone/>
                      </a:pPr>
                      <a:r>
                        <a:rPr lang="en-US" sz="1000" b="1" kern="1200" noProof="0">
                          <a:solidFill>
                            <a:schemeClr val="dk1"/>
                          </a:solidFill>
                          <a:effectLst/>
                          <a:latin typeface="Calibri"/>
                          <a:ea typeface="+mn-ea"/>
                          <a:cs typeface="+mn-cs"/>
                        </a:rPr>
                        <a:t>Test Design though AI</a:t>
                      </a:r>
                    </a:p>
                    <a:p>
                      <a:pPr lvl="0" algn="ctr">
                        <a:lnSpc>
                          <a:spcPts val="675"/>
                        </a:lnSpc>
                        <a:buNone/>
                      </a:pPr>
                      <a:endParaRPr lang="en-US" sz="1000" b="1" kern="1200" noProof="0">
                        <a:solidFill>
                          <a:schemeClr val="dk1"/>
                        </a:solidFill>
                        <a:effectLst/>
                        <a:latin typeface="Calibri"/>
                        <a:ea typeface="+mn-ea"/>
                        <a:cs typeface="+mn-cs"/>
                      </a:endParaRPr>
                    </a:p>
                    <a:p>
                      <a:pPr lvl="0" algn="ctr">
                        <a:lnSpc>
                          <a:spcPts val="675"/>
                        </a:lnSpc>
                        <a:buNone/>
                      </a:pPr>
                      <a:r>
                        <a:rPr lang="en-US" sz="1000" b="1" kern="1200" noProof="0">
                          <a:solidFill>
                            <a:schemeClr val="dk1"/>
                          </a:solidFill>
                          <a:effectLst/>
                          <a:latin typeface="Calibri"/>
                          <a:ea typeface="+mn-ea"/>
                          <a:cs typeface="+mn-cs"/>
                        </a:rPr>
                        <a:t> too</a:t>
                      </a:r>
                      <a:r>
                        <a:rPr lang="en-US" sz="800" b="1" i="0" u="none" strike="noStrike" noProof="0">
                          <a:solidFill>
                            <a:srgbClr val="000000"/>
                          </a:solidFill>
                          <a:effectLst/>
                          <a:latin typeface="Aptos Narrow"/>
                        </a:rPr>
                        <a:t>ls (Sulfur / Strider)</a:t>
                      </a:r>
                      <a:endParaRPr lang="en-US" sz="1000"/>
                    </a:p>
                    <a:p>
                      <a:pPr algn="ctr" fontAlgn="ctr">
                        <a:buNone/>
                      </a:pPr>
                      <a:endPar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0" i="0" u="none" strike="noStrike" kern="1200">
                          <a:solidFill>
                            <a:schemeClr val="tx1"/>
                          </a:solidFill>
                          <a:latin typeface="Aptos"/>
                          <a:ea typeface="+mn-ea"/>
                          <a:cs typeface="+mn-cs"/>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0" i="0" u="none" strike="noStrike" kern="1200">
                          <a:solidFill>
                            <a:schemeClr val="tx1"/>
                          </a:solidFill>
                          <a:latin typeface="Aptos"/>
                          <a:ea typeface="+mn-ea"/>
                          <a:cs typeface="+mn-cs"/>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366115">
                <a:tc>
                  <a:txBody>
                    <a:bodyPr/>
                    <a:lstStyle/>
                    <a:p>
                      <a:pPr lvl="0" algn="ctr">
                        <a:buNone/>
                      </a:pPr>
                      <a:r>
                        <a:rPr lang="en-IN" sz="1000" b="0" i="0" u="none" strike="noStrike">
                          <a:solidFill>
                            <a:srgbClr val="000000"/>
                          </a:solidFill>
                          <a:effectLst/>
                          <a:latin typeface="Calibri"/>
                          <a:ea typeface="Calibri"/>
                          <a:cs typeface="Calibri"/>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a:ea typeface="Calibri"/>
                          <a:cs typeface="Calibri"/>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a:ea typeface="Calibri"/>
                          <a:cs typeface="Calibri"/>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a:ea typeface="Calibri"/>
                          <a:cs typeface="Calibri"/>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kern="1200">
                          <a:solidFill>
                            <a:schemeClr val="tx1"/>
                          </a:solidFill>
                          <a:latin typeface="Aptos"/>
                          <a:ea typeface="+mn-ea"/>
                          <a:cs typeface="+mn-cs"/>
                        </a:rPr>
                        <a:t>In Progress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kern="1200">
                          <a:solidFill>
                            <a:schemeClr val="tx1"/>
                          </a:solidFill>
                          <a:latin typeface="Aptos"/>
                          <a:ea typeface="+mn-ea"/>
                          <a:cs typeface="+mn-cs"/>
                        </a:rPr>
                        <a:t>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noProof="0">
                          <a:solidFill>
                            <a:srgbClr val="000000"/>
                          </a:solidFill>
                          <a:effectLst/>
                        </a:rPr>
                        <a:t>07/23/2026</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noProof="0">
                          <a:solidFill>
                            <a:srgbClr val="000000"/>
                          </a:solidFill>
                          <a:effectLst/>
                        </a:rPr>
                        <a:t>07/31/2026</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0630752"/>
                  </a:ext>
                </a:extLst>
              </a:tr>
            </a:tbl>
          </a:graphicData>
        </a:graphic>
      </p:graphicFrame>
    </p:spTree>
    <p:extLst>
      <p:ext uri="{BB962C8B-B14F-4D97-AF65-F5344CB8AC3E}">
        <p14:creationId xmlns:p14="http://schemas.microsoft.com/office/powerpoint/2010/main" val="1398237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27344-865B-9A7B-5AAC-59D2EBAED32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7BCBC31-DAA1-2EC5-E7D2-C6A4A3DAC3A7}"/>
              </a:ext>
            </a:extLst>
          </p:cNvPr>
          <p:cNvGraphicFramePr>
            <a:graphicFrameLocks noGrp="1"/>
          </p:cNvGraphicFramePr>
          <p:nvPr>
            <p:extLst>
              <p:ext uri="{D42A27DB-BD31-4B8C-83A1-F6EECF244321}">
                <p14:modId xmlns:p14="http://schemas.microsoft.com/office/powerpoint/2010/main" val="3433384109"/>
              </p:ext>
            </p:extLst>
          </p:nvPr>
        </p:nvGraphicFramePr>
        <p:xfrm>
          <a:off x="496956" y="113905"/>
          <a:ext cx="11444846" cy="3127916"/>
        </p:xfrm>
        <a:graphic>
          <a:graphicData uri="http://schemas.openxmlformats.org/drawingml/2006/table">
            <a:tbl>
              <a:tblPr firstRow="1" bandRow="1">
                <a:noFill/>
                <a:tableStyleId>{5940675A-B579-460E-94D1-54222C63F5DA}</a:tableStyleId>
              </a:tblPr>
              <a:tblGrid>
                <a:gridCol w="954156">
                  <a:extLst>
                    <a:ext uri="{9D8B030D-6E8A-4147-A177-3AD203B41FA5}">
                      <a16:colId xmlns:a16="http://schemas.microsoft.com/office/drawing/2014/main" val="3592680666"/>
                    </a:ext>
                  </a:extLst>
                </a:gridCol>
                <a:gridCol w="1315318">
                  <a:extLst>
                    <a:ext uri="{9D8B030D-6E8A-4147-A177-3AD203B41FA5}">
                      <a16:colId xmlns:a16="http://schemas.microsoft.com/office/drawing/2014/main" val="1654399098"/>
                    </a:ext>
                  </a:extLst>
                </a:gridCol>
                <a:gridCol w="1348320">
                  <a:extLst>
                    <a:ext uri="{9D8B030D-6E8A-4147-A177-3AD203B41FA5}">
                      <a16:colId xmlns:a16="http://schemas.microsoft.com/office/drawing/2014/main" val="157821927"/>
                    </a:ext>
                  </a:extLst>
                </a:gridCol>
                <a:gridCol w="1495985">
                  <a:extLst>
                    <a:ext uri="{9D8B030D-6E8A-4147-A177-3AD203B41FA5}">
                      <a16:colId xmlns:a16="http://schemas.microsoft.com/office/drawing/2014/main" val="2428918094"/>
                    </a:ext>
                  </a:extLst>
                </a:gridCol>
                <a:gridCol w="1165410">
                  <a:extLst>
                    <a:ext uri="{9D8B030D-6E8A-4147-A177-3AD203B41FA5}">
                      <a16:colId xmlns:a16="http://schemas.microsoft.com/office/drawing/2014/main" val="2434076975"/>
                    </a:ext>
                  </a:extLst>
                </a:gridCol>
                <a:gridCol w="2145457">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808669">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r>
                        <a:rPr lang="en-IN"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Dreamweaver's</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Application(s) Name</a:t>
                      </a:r>
                      <a:endParaRPr lang="en-US" sz="1400" b="1" u="none" strike="noStrike" kern="1200" cap="none" spc="60" noProof="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None/>
                      </a:pPr>
                      <a:r>
                        <a:rPr lang="en-IN" sz="1400" b="0" i="0" u="none" strike="noStrike" kern="1200" cap="none" spc="60">
                          <a:solidFill>
                            <a:schemeClr val="bg1"/>
                          </a:solidFill>
                          <a:effectLst/>
                          <a:latin typeface="Calibri"/>
                          <a:ea typeface="Calibri"/>
                          <a:cs typeface="Calibri"/>
                        </a:rPr>
                        <a:t>Agadia/CPS OneMedList</a:t>
                      </a:r>
                      <a:endParaRPr lang="en-US" sz="1400" err="1">
                        <a:solidFill>
                          <a:schemeClr val="bg1"/>
                        </a:solidFill>
                        <a:latin typeface="Calibri"/>
                        <a:ea typeface="Calibri"/>
                        <a:cs typeface="Calibri"/>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None/>
                      </a:pPr>
                      <a:r>
                        <a:rPr lang="en-US" sz="1400" b="0" i="0" u="none" strike="noStrike" kern="1200" cap="none" spc="60">
                          <a:solidFill>
                            <a:schemeClr val="bg1"/>
                          </a:solidFill>
                          <a:effectLst/>
                          <a:latin typeface="Calibri"/>
                          <a:ea typeface="Calibri"/>
                          <a:cs typeface="Calibri"/>
                        </a:rPr>
                        <a:t>Sanjiwani/Alagu lakshmi</a:t>
                      </a:r>
                      <a:endParaRPr lang="en-US" sz="1400" err="1">
                        <a:solidFill>
                          <a:schemeClr val="bg1"/>
                        </a:solidFill>
                        <a:latin typeface="Calibri"/>
                        <a:ea typeface="Calibri"/>
                        <a:cs typeface="Calibri"/>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None/>
                      </a:pPr>
                      <a:r>
                        <a:rPr lang="en-US" sz="1400" b="0" i="0" u="none" strike="noStrike" kern="1200" cap="none" spc="60">
                          <a:solidFill>
                            <a:schemeClr val="bg1"/>
                          </a:solidFill>
                          <a:effectLst/>
                          <a:latin typeface="Calibri"/>
                          <a:ea typeface="Calibri"/>
                          <a:cs typeface="Calibri"/>
                        </a:rPr>
                        <a:t> N26.07</a:t>
                      </a:r>
                      <a:endParaRPr lang="en-US" sz="14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68573265"/>
                  </a:ext>
                </a:extLst>
              </a:tr>
              <a:tr h="1680765">
                <a:tc gridSpan="8">
                  <a:txBody>
                    <a:bodyPr/>
                    <a:lstStyle/>
                    <a:p>
                      <a:pPr marL="0" indent="0">
                        <a:buNone/>
                      </a:pPr>
                      <a:r>
                        <a:rPr lang="en-US" sz="1200" b="1">
                          <a:solidFill>
                            <a:schemeClr val="tx1"/>
                          </a:solidFill>
                          <a:latin typeface="Calibri"/>
                          <a:ea typeface="Calibri"/>
                          <a:cs typeface="Calibri"/>
                        </a:rPr>
                        <a:t>Overall Summary</a:t>
                      </a:r>
                    </a:p>
                    <a:p>
                      <a:pPr marL="0" lvl="0" indent="0">
                        <a:buNone/>
                      </a:pPr>
                      <a:r>
                        <a:rPr lang="en-US" sz="1200" b="0">
                          <a:solidFill>
                            <a:schemeClr val="tx1"/>
                          </a:solidFill>
                          <a:latin typeface="Calibri"/>
                          <a:ea typeface="Calibri"/>
                          <a:cs typeface="Calibri"/>
                        </a:rPr>
                        <a:t>Requirement analysis in Progress for new user stories (Release not yet confirmed)</a:t>
                      </a:r>
                      <a:endParaRPr lang="en-US" b="0"/>
                    </a:p>
                    <a:p>
                      <a:pPr marL="285750" lvl="0" indent="-285750" algn="l">
                        <a:lnSpc>
                          <a:spcPct val="100000"/>
                        </a:lnSpc>
                        <a:spcBef>
                          <a:spcPts val="0"/>
                        </a:spcBef>
                        <a:spcAft>
                          <a:spcPts val="0"/>
                        </a:spcAft>
                        <a:buClr>
                          <a:srgbClr val="000000"/>
                        </a:buClr>
                        <a:buFont typeface="Arial,Sans-Serif"/>
                        <a:buChar char="•"/>
                      </a:pPr>
                      <a:r>
                        <a:rPr lang="en-US" sz="1200" b="0" i="0" u="none" strike="noStrike" noProof="0">
                          <a:solidFill>
                            <a:schemeClr val="tx1"/>
                          </a:solidFill>
                        </a:rPr>
                        <a:t>CR820_Alternative_Archive_DispositionFile-Snaplogic to DataBricks  migration</a:t>
                      </a:r>
                      <a:endParaRPr lang="en-US" sz="1200" b="0" i="0" u="none" strike="noStrike" noProof="0">
                        <a:solidFill>
                          <a:srgbClr val="000000"/>
                        </a:solidFill>
                        <a:latin typeface="Aptos"/>
                        <a:ea typeface="Calibri"/>
                        <a:cs typeface="Calibri"/>
                      </a:endParaRPr>
                    </a:p>
                    <a:p>
                      <a:pPr lvl="0" algn="l">
                        <a:lnSpc>
                          <a:spcPct val="100000"/>
                        </a:lnSpc>
                        <a:spcBef>
                          <a:spcPts val="0"/>
                        </a:spcBef>
                        <a:spcAft>
                          <a:spcPts val="0"/>
                        </a:spcAft>
                        <a:buNone/>
                      </a:pPr>
                      <a:r>
                        <a:rPr lang="en-US" sz="1200" b="0" i="0" u="none" strike="noStrike" noProof="0">
                          <a:solidFill>
                            <a:schemeClr val="tx1"/>
                          </a:solidFill>
                          <a:latin typeface="Aptos"/>
                        </a:rPr>
                        <a:t>Test Execution In Progress stories are moved to July release considering following applications </a:t>
                      </a:r>
                      <a:endParaRPr lang="en-US" sz="1200" b="0" i="0" u="none" strike="noStrike" noProof="0">
                        <a:solidFill>
                          <a:srgbClr val="000000"/>
                        </a:solidFill>
                        <a:latin typeface="Arial"/>
                        <a:cs typeface="Arial"/>
                      </a:endParaRPr>
                    </a:p>
                    <a:p>
                      <a:pPr marL="285750" lvl="0" indent="-285750" algn="l">
                        <a:lnSpc>
                          <a:spcPct val="100000"/>
                        </a:lnSpc>
                        <a:spcBef>
                          <a:spcPts val="0"/>
                        </a:spcBef>
                        <a:spcAft>
                          <a:spcPts val="0"/>
                        </a:spcAft>
                        <a:buClr>
                          <a:srgbClr val="000000"/>
                        </a:buClr>
                        <a:buFont typeface="Arial"/>
                        <a:buChar char="•"/>
                      </a:pPr>
                      <a:r>
                        <a:rPr lang="en-US" sz="1200" b="0" i="0" u="none" strike="noStrike" noProof="0">
                          <a:solidFill>
                            <a:schemeClr val="tx1"/>
                          </a:solidFill>
                          <a:latin typeface="Aptos"/>
                        </a:rPr>
                        <a:t>OneMedList :  US#9221124 - OML Cloud 3.0 Migration for all OML API’s </a:t>
                      </a:r>
                    </a:p>
                    <a:p>
                      <a:pPr marL="0" lvl="0" indent="0" algn="l">
                        <a:lnSpc>
                          <a:spcPct val="100000"/>
                        </a:lnSpc>
                        <a:spcBef>
                          <a:spcPts val="0"/>
                        </a:spcBef>
                        <a:spcAft>
                          <a:spcPts val="0"/>
                        </a:spcAft>
                        <a:buFont typeface="Arial"/>
                        <a:buNone/>
                      </a:pPr>
                      <a:r>
                        <a:rPr lang="en-US" sz="1200" b="0" i="0" u="none" strike="noStrike" noProof="0">
                          <a:solidFill>
                            <a:schemeClr val="tx1"/>
                          </a:solidFill>
                          <a:latin typeface="Aptos"/>
                        </a:rPr>
                        <a:t>                                                                     OML snaplogic pipelines for cloud Migration</a:t>
                      </a:r>
                    </a:p>
                    <a:p>
                      <a:pPr marL="0" lvl="0" indent="0" algn="l">
                        <a:lnSpc>
                          <a:spcPct val="100000"/>
                        </a:lnSpc>
                        <a:spcBef>
                          <a:spcPts val="0"/>
                        </a:spcBef>
                        <a:spcAft>
                          <a:spcPts val="0"/>
                        </a:spcAft>
                        <a:buFont typeface="Arial"/>
                        <a:buNone/>
                      </a:pPr>
                      <a:r>
                        <a:rPr lang="en-US" sz="1200" b="0" i="0" u="none" strike="noStrike" noProof="0">
                          <a:solidFill>
                            <a:schemeClr val="tx1"/>
                          </a:solidFill>
                          <a:latin typeface="+mn-lt"/>
                        </a:rPr>
                        <a:t>                                                                     CPS batch_insert and batch_validate prod incidents   </a:t>
                      </a:r>
                      <a:endParaRPr lang="en-US" sz="1200" b="0" i="0" u="none" strike="noStrike" noProof="0">
                        <a:solidFill>
                          <a:schemeClr val="tx1"/>
                        </a:solidFill>
                        <a:latin typeface="Aptos"/>
                      </a:endParaRPr>
                    </a:p>
                    <a:p>
                      <a:pPr marL="0" lvl="0" indent="0" algn="l">
                        <a:lnSpc>
                          <a:spcPct val="100000"/>
                        </a:lnSpc>
                        <a:spcBef>
                          <a:spcPts val="0"/>
                        </a:spcBef>
                        <a:spcAft>
                          <a:spcPts val="0"/>
                        </a:spcAft>
                        <a:buNone/>
                      </a:pPr>
                      <a:r>
                        <a:rPr lang="en-US" sz="1200" b="0" i="0" u="none" strike="noStrike" noProof="0">
                          <a:solidFill>
                            <a:schemeClr val="tx1"/>
                          </a:solidFill>
                          <a:latin typeface="Aptos"/>
                        </a:rPr>
                        <a:t>Test Execution is completed for July  release considering following applications </a:t>
                      </a:r>
                      <a:r>
                        <a:rPr lang="en-US" sz="1200" b="0" i="0" u="none" strike="noStrike" noProof="0">
                          <a:solidFill>
                            <a:schemeClr val="tx1"/>
                          </a:solidFill>
                          <a:latin typeface="Arial"/>
                          <a:cs typeface="Arial"/>
                        </a:rPr>
                        <a:t> </a:t>
                      </a:r>
                      <a:endParaRPr lang="en-US" sz="1200" b="0" i="0" u="none" strike="noStrike" noProof="0">
                        <a:solidFill>
                          <a:schemeClr val="tx1"/>
                        </a:solidFill>
                      </a:endParaRPr>
                    </a:p>
                    <a:p>
                      <a:pPr marL="285750" marR="0" lvl="0" indent="-285750" algn="l" rtl="0" eaLnBrk="1" fontAlgn="auto" latinLnBrk="0" hangingPunct="1">
                        <a:lnSpc>
                          <a:spcPct val="100000"/>
                        </a:lnSpc>
                        <a:spcBef>
                          <a:spcPts val="0"/>
                        </a:spcBef>
                        <a:spcAft>
                          <a:spcPts val="0"/>
                        </a:spcAft>
                        <a:buClrTx/>
                        <a:buSzTx/>
                        <a:buFont typeface="Arial"/>
                        <a:buChar char="•"/>
                      </a:pPr>
                      <a:r>
                        <a:rPr lang="en-US" sz="1200">
                          <a:effectLst/>
                          <a:latin typeface="Calibri"/>
                          <a:ea typeface="Calibri"/>
                          <a:cs typeface="Calibri"/>
                        </a:rPr>
                        <a:t>Agadia 1  - Agadiamanager/provider search service  EPSS to EPD API Migration</a:t>
                      </a:r>
                      <a:endParaRPr lang="en-US" sz="1200"/>
                    </a:p>
                    <a:p>
                      <a:pPr marL="285750" marR="0" lvl="0" indent="-285750" algn="l" defTabSz="914400">
                        <a:lnSpc>
                          <a:spcPct val="100000"/>
                        </a:lnSpc>
                        <a:spcBef>
                          <a:spcPts val="0"/>
                        </a:spcBef>
                        <a:spcAft>
                          <a:spcPts val="0"/>
                        </a:spcAft>
                        <a:buClrTx/>
                        <a:buSzTx/>
                        <a:buFont typeface="Arial"/>
                        <a:buChar char="•"/>
                        <a:tabLst/>
                        <a:defRPr/>
                      </a:pPr>
                      <a:r>
                        <a:rPr lang="en-US" sz="1200" b="0" i="0" u="none" strike="noStrike" noProof="0">
                          <a:solidFill>
                            <a:schemeClr val="tx1"/>
                          </a:solidFill>
                          <a:latin typeface="Aptos"/>
                        </a:rPr>
                        <a:t>Agadia  Regression--PriorAuthStatusHistory_G - Secret Remediation</a:t>
                      </a:r>
                      <a:endParaRPr lang="en-US" sz="1200"/>
                    </a:p>
                    <a:p>
                      <a:pPr marL="285750" lvl="0" indent="-285750" algn="l">
                        <a:lnSpc>
                          <a:spcPct val="100000"/>
                        </a:lnSpc>
                        <a:spcBef>
                          <a:spcPts val="0"/>
                        </a:spcBef>
                        <a:spcAft>
                          <a:spcPts val="0"/>
                        </a:spcAft>
                        <a:buFont typeface="Arial"/>
                        <a:buChar char="•"/>
                      </a:pPr>
                      <a:endParaRPr lang="en-US" sz="1200" b="0" i="0" u="none" strike="noStrike" noProof="0">
                        <a:solidFill>
                          <a:schemeClr val="tx1"/>
                        </a:solidFill>
                      </a:endParaRPr>
                    </a:p>
                    <a:p>
                      <a:pPr marL="285750" lvl="0" indent="-285750" algn="l">
                        <a:lnSpc>
                          <a:spcPct val="100000"/>
                        </a:lnSpc>
                        <a:spcBef>
                          <a:spcPts val="0"/>
                        </a:spcBef>
                        <a:spcAft>
                          <a:spcPts val="0"/>
                        </a:spcAft>
                        <a:buFont typeface="Arial"/>
                        <a:buChar char="•"/>
                      </a:pPr>
                      <a:r>
                        <a:rPr lang="en-US" sz="1200" b="1" i="0" u="none" strike="noStrike" kern="1200" cap="none" spc="60">
                          <a:solidFill>
                            <a:schemeClr val="bg1"/>
                          </a:solidFill>
                          <a:effectLst/>
                          <a:latin typeface="Calibri"/>
                          <a:ea typeface="Calibri"/>
                          <a:cs typeface="Calibri"/>
                        </a:rPr>
                        <a:t>Ne</a:t>
                      </a:r>
                      <a:endParaRPr lang="en-US" sz="1200" b="0" u="none" strike="noStrike" kern="1200" cap="none" spc="0">
                        <a:solidFill>
                          <a:schemeClr val="tx1"/>
                        </a:solidFill>
                        <a:effectLst/>
                        <a:latin typeface="Calibri"/>
                        <a:ea typeface="+mn-ea"/>
                        <a:cs typeface="+mn-cs"/>
                      </a:endParaRPr>
                    </a:p>
                  </a:txBody>
                  <a:tcPr marL="108022" marR="12002" marT="124687" marB="0" anchor="ctr">
                    <a:lnL w="12700" cmpd="sng">
                      <a:noFill/>
                    </a:lnL>
                    <a:lnR w="12700" cmpd="sng">
                      <a:noFill/>
                    </a:lnR>
                    <a:lnT w="12700" cap="flat" cmpd="sng" algn="ctr">
                      <a:noFill/>
                      <a:prstDash val="solid"/>
                      <a:round/>
                      <a:headEnd type="none" w="med" len="med"/>
                      <a:tailEnd type="none" w="med" len="me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A7D5B8DF-AB2D-E9AB-6DB5-C68A52263123}"/>
              </a:ext>
            </a:extLst>
          </p:cNvPr>
          <p:cNvGraphicFramePr>
            <a:graphicFrameLocks noGrp="1"/>
          </p:cNvGraphicFramePr>
          <p:nvPr>
            <p:extLst>
              <p:ext uri="{D42A27DB-BD31-4B8C-83A1-F6EECF244321}">
                <p14:modId xmlns:p14="http://schemas.microsoft.com/office/powerpoint/2010/main" val="930307590"/>
              </p:ext>
            </p:extLst>
          </p:nvPr>
        </p:nvGraphicFramePr>
        <p:xfrm>
          <a:off x="418878" y="4925111"/>
          <a:ext cx="11145451" cy="1760110"/>
        </p:xfrm>
        <a:graphic>
          <a:graphicData uri="http://schemas.openxmlformats.org/drawingml/2006/table">
            <a:tbl>
              <a:tblPr firstRow="1" bandRow="1">
                <a:noFill/>
                <a:tableStyleId>{5940675A-B579-460E-94D1-54222C63F5DA}</a:tableStyleId>
              </a:tblPr>
              <a:tblGrid>
                <a:gridCol w="5800298">
                  <a:extLst>
                    <a:ext uri="{9D8B030D-6E8A-4147-A177-3AD203B41FA5}">
                      <a16:colId xmlns:a16="http://schemas.microsoft.com/office/drawing/2014/main" val="3592680666"/>
                    </a:ext>
                  </a:extLst>
                </a:gridCol>
                <a:gridCol w="5345153">
                  <a:extLst>
                    <a:ext uri="{9D8B030D-6E8A-4147-A177-3AD203B41FA5}">
                      <a16:colId xmlns:a16="http://schemas.microsoft.com/office/drawing/2014/main" val="1654399098"/>
                    </a:ext>
                  </a:extLst>
                </a:gridCol>
              </a:tblGrid>
              <a:tr h="517516">
                <a:tc>
                  <a:txBody>
                    <a:bodyPr/>
                    <a:lstStyle/>
                    <a:p>
                      <a:pPr marL="0" marR="0" lvl="0" indent="0" algn="l" rtl="0" eaLnBrk="1" fontAlgn="t" latinLnBrk="0" hangingPunct="1">
                        <a:lnSpc>
                          <a:spcPct val="100000"/>
                        </a:lnSpc>
                        <a:spcBef>
                          <a:spcPts val="0"/>
                        </a:spcBef>
                        <a:spcAft>
                          <a:spcPts val="0"/>
                        </a:spcAft>
                        <a:buClrTx/>
                        <a:buSzTx/>
                        <a:buFontTx/>
                        <a:buNone/>
                      </a:pPr>
                      <a:r>
                        <a:rPr lang="en-US" sz="1200" b="1" u="none" strike="noStrike" kern="1200" cap="none" spc="0">
                          <a:solidFill>
                            <a:schemeClr val="tx1"/>
                          </a:solidFill>
                          <a:effectLst/>
                          <a:latin typeface="Calibri"/>
                          <a:ea typeface="Calibri"/>
                          <a:cs typeface="Calibri"/>
                        </a:rPr>
                        <a:t>Challenges (risks / issues):  </a:t>
                      </a:r>
                    </a:p>
                    <a:p>
                      <a:pPr marL="171450" marR="0" lvl="0" indent="-171450" algn="l">
                        <a:lnSpc>
                          <a:spcPct val="100000"/>
                        </a:lnSpc>
                        <a:spcBef>
                          <a:spcPts val="0"/>
                        </a:spcBef>
                        <a:spcAft>
                          <a:spcPts val="0"/>
                        </a:spcAft>
                        <a:buClrTx/>
                        <a:buSzTx/>
                        <a:buFont typeface="Arial"/>
                        <a:buChar char="•"/>
                      </a:pPr>
                      <a:r>
                        <a:rPr lang="en-US" sz="1200" b="1" u="none" strike="noStrike" kern="1200" cap="none" spc="0">
                          <a:solidFill>
                            <a:schemeClr val="tx1"/>
                          </a:solidFill>
                          <a:effectLst/>
                          <a:latin typeface="Calibri"/>
                          <a:ea typeface="Calibri"/>
                          <a:cs typeface="Calibri"/>
                        </a:rPr>
                        <a:t> </a:t>
                      </a:r>
                      <a:r>
                        <a:rPr lang="en-US" sz="1200" b="0" u="none" strike="noStrike" kern="1200" cap="none" spc="0">
                          <a:solidFill>
                            <a:schemeClr val="tx1"/>
                          </a:solidFill>
                          <a:effectLst/>
                          <a:latin typeface="Calibri"/>
                          <a:ea typeface="Calibri"/>
                          <a:cs typeface="Calibri"/>
                        </a:rPr>
                        <a:t>NA</a:t>
                      </a:r>
                    </a:p>
                  </a:txBody>
                  <a:tcPr marL="108022" marR="12002" marT="124687"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rtl="0" eaLnBrk="1" fontAlgn="t" latinLnBrk="0" hangingPunct="1">
                        <a:lnSpc>
                          <a:spcPct val="100000"/>
                        </a:lnSpc>
                        <a:spcBef>
                          <a:spcPts val="0"/>
                        </a:spcBef>
                        <a:spcAft>
                          <a:spcPts val="0"/>
                        </a:spcAft>
                        <a:buClrTx/>
                        <a:buSzTx/>
                        <a:buFontTx/>
                        <a:buNone/>
                      </a:pPr>
                      <a:r>
                        <a:rPr lang="en-US" sz="1200" b="1" u="none" strike="noStrike" kern="1200" cap="none" spc="0">
                          <a:solidFill>
                            <a:schemeClr val="tx1"/>
                          </a:solidFill>
                          <a:effectLst/>
                          <a:latin typeface="Calibri"/>
                          <a:ea typeface="Calibri"/>
                          <a:cs typeface="Calibri"/>
                        </a:rPr>
                        <a:t>         Action Needed / Action Taken (for the identified risks/issues): </a:t>
                      </a:r>
                      <a:endParaRPr lang="en-US" sz="1200" b="0" i="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a:lnSpc>
                          <a:spcPct val="100000"/>
                        </a:lnSpc>
                        <a:spcBef>
                          <a:spcPts val="0"/>
                        </a:spcBef>
                        <a:spcAft>
                          <a:spcPts val="0"/>
                        </a:spcAft>
                        <a:buClr>
                          <a:srgbClr val="000000"/>
                        </a:buClr>
                        <a:buSzTx/>
                        <a:buNone/>
                      </a:pPr>
                      <a:endParaRPr lang="en-US" sz="1200" b="0" i="0" u="none" strike="noStrike" kern="1200" cap="none" spc="0" noProof="0">
                        <a:solidFill>
                          <a:schemeClr val="tx1"/>
                        </a:solidFill>
                        <a:effectLst/>
                        <a:latin typeface="Calibri"/>
                        <a:ea typeface="Calibri"/>
                        <a:cs typeface="Calibri"/>
                      </a:endParaRPr>
                    </a:p>
                    <a:p>
                      <a:pPr marL="0" marR="0" lvl="0" indent="0" algn="l">
                        <a:lnSpc>
                          <a:spcPct val="100000"/>
                        </a:lnSpc>
                        <a:spcBef>
                          <a:spcPts val="0"/>
                        </a:spcBef>
                        <a:spcAft>
                          <a:spcPts val="0"/>
                        </a:spcAft>
                        <a:buClrTx/>
                        <a:buSzTx/>
                        <a:buFont typeface="Arial" panose="020B0604020202020204" pitchFamily="34" charset="0"/>
                        <a:buNone/>
                      </a:pPr>
                      <a:endParaRPr lang="en-US" sz="1200" b="0" i="0" u="none" strike="noStrike" kern="1200" cap="none" spc="0">
                        <a:solidFill>
                          <a:schemeClr val="tx1"/>
                        </a:solidFill>
                        <a:effectLst/>
                        <a:latin typeface="Calibri"/>
                        <a:ea typeface="Calibri"/>
                        <a:cs typeface="Calibri"/>
                      </a:endParaRPr>
                    </a:p>
                  </a:txBody>
                  <a:tcPr marL="12002" marR="12002" marT="124687"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086783">
                <a:tc gridSpan="2">
                  <a:txBody>
                    <a:bodyPr/>
                    <a:lstStyle/>
                    <a:p>
                      <a:pPr algn="l" fontAlgn="t">
                        <a:buNone/>
                      </a:pPr>
                      <a:r>
                        <a:rPr lang="en-US" sz="1200" b="1" u="none" strike="noStrike" kern="1200" cap="none" spc="0">
                          <a:solidFill>
                            <a:schemeClr val="tx1"/>
                          </a:solidFill>
                          <a:effectLst/>
                          <a:latin typeface="Calibri"/>
                          <a:ea typeface="Calibri"/>
                          <a:cs typeface="Calibri"/>
                        </a:rPr>
                        <a:t>Automation Regression Updates : </a:t>
                      </a:r>
                    </a:p>
                    <a:p>
                      <a:pPr marL="285750" lvl="0" indent="-285750" algn="l">
                        <a:buFont typeface="Arial" panose="020B0604020202020204" pitchFamily="34" charset="0"/>
                        <a:buChar char="•"/>
                      </a:pPr>
                      <a:r>
                        <a:rPr lang="en-US" sz="1200" b="0" i="0" u="none" strike="noStrike" kern="1200" cap="none" spc="0" noProof="0">
                          <a:solidFill>
                            <a:schemeClr val="tx1"/>
                          </a:solidFill>
                          <a:effectLst/>
                          <a:latin typeface="Calibri"/>
                          <a:ea typeface="Calibri"/>
                          <a:cs typeface="Calibri"/>
                        </a:rPr>
                        <a:t>Agadia: In release regression testcase scripting is &amp; functional review completed.</a:t>
                      </a:r>
                      <a:endParaRPr lang="en-US" sz="1200" b="0" u="none" strike="noStrike" kern="1200" cap="none" spc="0">
                        <a:solidFill>
                          <a:schemeClr val="tx1"/>
                        </a:solidFill>
                        <a:effectLst/>
                        <a:latin typeface="Calibri"/>
                        <a:ea typeface="Calibri"/>
                        <a:cs typeface="Calibri"/>
                      </a:endParaRPr>
                    </a:p>
                    <a:p>
                      <a:pPr marL="285750" lvl="0" indent="-285750" algn="l">
                        <a:buFont typeface="Arial" panose="020B0604020202020204" pitchFamily="34" charset="0"/>
                        <a:buChar char="•"/>
                      </a:pPr>
                      <a:r>
                        <a:rPr lang="en-US" sz="1200" b="0" i="0" u="none" strike="noStrike" kern="1200" cap="none" spc="0" noProof="0">
                          <a:solidFill>
                            <a:schemeClr val="tx1"/>
                          </a:solidFill>
                          <a:effectLst/>
                          <a:latin typeface="Calibri"/>
                          <a:ea typeface="Calibri"/>
                          <a:cs typeface="Calibri"/>
                        </a:rPr>
                        <a:t>Regression test cases identification is in progress for OML Cloud 3.0 Migration</a:t>
                      </a:r>
                    </a:p>
                    <a:p>
                      <a:pPr marL="285750" marR="0" lvl="0" indent="-285750" algn="l">
                        <a:lnSpc>
                          <a:spcPct val="100000"/>
                        </a:lnSpc>
                        <a:spcBef>
                          <a:spcPts val="0"/>
                        </a:spcBef>
                        <a:spcAft>
                          <a:spcPts val="0"/>
                        </a:spcAft>
                        <a:buClrTx/>
                        <a:buSzTx/>
                        <a:buFont typeface="Arial" panose="020B0604020202020204" pitchFamily="34" charset="0"/>
                        <a:buChar char="•"/>
                      </a:pPr>
                      <a:endParaRPr lang="en-US" sz="1200" b="0" u="none" strike="noStrike" kern="1200" cap="none" spc="0">
                        <a:solidFill>
                          <a:schemeClr val="tx1"/>
                        </a:solidFill>
                        <a:effectLst/>
                        <a:latin typeface="Calibri"/>
                        <a:ea typeface="Calibri"/>
                        <a:cs typeface="Calibri"/>
                      </a:endParaRPr>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6" name="Table 5">
            <a:extLst>
              <a:ext uri="{FF2B5EF4-FFF2-40B4-BE49-F238E27FC236}">
                <a16:creationId xmlns:a16="http://schemas.microsoft.com/office/drawing/2014/main" id="{18B2F6C5-0AFB-9710-13AE-D28EC4914B5A}"/>
              </a:ext>
            </a:extLst>
          </p:cNvPr>
          <p:cNvGraphicFramePr>
            <a:graphicFrameLocks noGrp="1"/>
          </p:cNvGraphicFramePr>
          <p:nvPr>
            <p:extLst>
              <p:ext uri="{D42A27DB-BD31-4B8C-83A1-F6EECF244321}">
                <p14:modId xmlns:p14="http://schemas.microsoft.com/office/powerpoint/2010/main" val="2010262701"/>
              </p:ext>
            </p:extLst>
          </p:nvPr>
        </p:nvGraphicFramePr>
        <p:xfrm>
          <a:off x="416151" y="3153810"/>
          <a:ext cx="11111892" cy="1633856"/>
        </p:xfrm>
        <a:graphic>
          <a:graphicData uri="http://schemas.openxmlformats.org/drawingml/2006/table">
            <a:tbl>
              <a:tblPr bandRow="1">
                <a:tableStyleId>{5C22544A-7EE6-4342-B048-85BDC9FD1C3A}</a:tableStyleId>
              </a:tblPr>
              <a:tblGrid>
                <a:gridCol w="1363704">
                  <a:extLst>
                    <a:ext uri="{9D8B030D-6E8A-4147-A177-3AD203B41FA5}">
                      <a16:colId xmlns:a16="http://schemas.microsoft.com/office/drawing/2014/main" val="957329485"/>
                    </a:ext>
                  </a:extLst>
                </a:gridCol>
                <a:gridCol w="1313197">
                  <a:extLst>
                    <a:ext uri="{9D8B030D-6E8A-4147-A177-3AD203B41FA5}">
                      <a16:colId xmlns:a16="http://schemas.microsoft.com/office/drawing/2014/main" val="3328252004"/>
                    </a:ext>
                  </a:extLst>
                </a:gridCol>
                <a:gridCol w="1094326">
                  <a:extLst>
                    <a:ext uri="{9D8B030D-6E8A-4147-A177-3AD203B41FA5}">
                      <a16:colId xmlns:a16="http://schemas.microsoft.com/office/drawing/2014/main" val="3881694452"/>
                    </a:ext>
                  </a:extLst>
                </a:gridCol>
                <a:gridCol w="1549137">
                  <a:extLst>
                    <a:ext uri="{9D8B030D-6E8A-4147-A177-3AD203B41FA5}">
                      <a16:colId xmlns:a16="http://schemas.microsoft.com/office/drawing/2014/main" val="3161609625"/>
                    </a:ext>
                  </a:extLst>
                </a:gridCol>
                <a:gridCol w="1161673">
                  <a:extLst>
                    <a:ext uri="{9D8B030D-6E8A-4147-A177-3AD203B41FA5}">
                      <a16:colId xmlns:a16="http://schemas.microsoft.com/office/drawing/2014/main" val="3598411205"/>
                    </a:ext>
                  </a:extLst>
                </a:gridCol>
                <a:gridCol w="1245848">
                  <a:extLst>
                    <a:ext uri="{9D8B030D-6E8A-4147-A177-3AD203B41FA5}">
                      <a16:colId xmlns:a16="http://schemas.microsoft.com/office/drawing/2014/main" val="1616042860"/>
                    </a:ext>
                  </a:extLst>
                </a:gridCol>
                <a:gridCol w="1750929">
                  <a:extLst>
                    <a:ext uri="{9D8B030D-6E8A-4147-A177-3AD203B41FA5}">
                      <a16:colId xmlns:a16="http://schemas.microsoft.com/office/drawing/2014/main" val="2791648029"/>
                    </a:ext>
                  </a:extLst>
                </a:gridCol>
                <a:gridCol w="1633078">
                  <a:extLst>
                    <a:ext uri="{9D8B030D-6E8A-4147-A177-3AD203B41FA5}">
                      <a16:colId xmlns:a16="http://schemas.microsoft.com/office/drawing/2014/main" val="4017079425"/>
                    </a:ext>
                  </a:extLst>
                </a:gridCol>
              </a:tblGrid>
              <a:tr h="621792">
                <a:tc>
                  <a:txBody>
                    <a:bodyPr/>
                    <a:lstStyle/>
                    <a:p>
                      <a:pPr algn="ctr" rtl="0" fontAlgn="base">
                        <a:lnSpc>
                          <a:spcPts val="675"/>
                        </a:lnSpc>
                        <a:buNone/>
                      </a:pPr>
                      <a:r>
                        <a:rPr lang="en-US" sz="1200" b="1">
                          <a:effectLst/>
                          <a:latin typeface="Calibri"/>
                        </a:rPr>
                        <a:t># User stories</a:t>
                      </a:r>
                      <a:endParaRPr lang="en-US" sz="1200">
                        <a:effectLst/>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algn="ctr" rtl="0" fontAlgn="base">
                        <a:lnSpc>
                          <a:spcPts val="675"/>
                        </a:lnSpc>
                        <a:buNone/>
                      </a:pPr>
                      <a:r>
                        <a:rPr lang="en-US" sz="1200" b="1">
                          <a:effectLst/>
                          <a:latin typeface="Calibri"/>
                        </a:rPr>
                        <a:t>Test design Status</a:t>
                      </a:r>
                      <a:endParaRPr lang="en-US" sz="1200">
                        <a:effectLst/>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 Design %</a:t>
                      </a:r>
                      <a:endParaRPr lang="en-US" sz="1200">
                        <a:effectLst/>
                        <a:latin typeface="Calibri"/>
                      </a:endParaRPr>
                    </a:p>
                  </a:txBody>
                  <a:tcPr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a:lnSpc>
                          <a:spcPts val="675"/>
                        </a:lnSpc>
                        <a:buNone/>
                      </a:pPr>
                      <a:r>
                        <a:rPr lang="en-US" sz="1200" b="1" kern="1200" noProof="0">
                          <a:solidFill>
                            <a:schemeClr val="dk1"/>
                          </a:solidFill>
                          <a:effectLst/>
                          <a:latin typeface="Calibri"/>
                          <a:ea typeface="+mn-ea"/>
                          <a:cs typeface="+mn-cs"/>
                        </a:rPr>
                        <a:t>Test Design though AI</a:t>
                      </a:r>
                    </a:p>
                    <a:p>
                      <a:pPr lvl="0" algn="ctr">
                        <a:lnSpc>
                          <a:spcPts val="675"/>
                        </a:lnSpc>
                        <a:buNone/>
                      </a:pPr>
                      <a:endParaRPr lang="en-US" sz="1200" b="1" kern="1200" noProof="0">
                        <a:solidFill>
                          <a:schemeClr val="dk1"/>
                        </a:solidFill>
                        <a:effectLst/>
                        <a:latin typeface="Calibri"/>
                        <a:ea typeface="+mn-ea"/>
                        <a:cs typeface="+mn-cs"/>
                      </a:endParaRPr>
                    </a:p>
                    <a:p>
                      <a:pPr lvl="0" algn="ctr">
                        <a:lnSpc>
                          <a:spcPts val="675"/>
                        </a:lnSpc>
                        <a:buNone/>
                      </a:pPr>
                      <a:r>
                        <a:rPr lang="en-US" sz="1200" b="1" kern="1200" noProof="0">
                          <a:solidFill>
                            <a:schemeClr val="dk1"/>
                          </a:solidFill>
                          <a:effectLst/>
                          <a:latin typeface="Calibri"/>
                          <a:ea typeface="+mn-ea"/>
                          <a:cs typeface="+mn-cs"/>
                        </a:rPr>
                        <a:t> too</a:t>
                      </a:r>
                      <a:r>
                        <a:rPr lang="en-US" sz="1000" b="1" i="0" u="none" strike="noStrike" noProof="0">
                          <a:solidFill>
                            <a:srgbClr val="000000"/>
                          </a:solidFill>
                          <a:effectLst/>
                          <a:latin typeface="Aptos Narrow"/>
                        </a:rPr>
                        <a:t>ls (Sulfur / Strider)</a:t>
                      </a:r>
                      <a:endParaRPr lang="en-US"/>
                    </a:p>
                  </a:txBody>
                  <a:tcPr anchor="ctr">
                    <a:lnL w="9524"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 Execution</a:t>
                      </a:r>
                    </a:p>
                    <a:p>
                      <a:pPr lvl="0" algn="ctr" rtl="0">
                        <a:lnSpc>
                          <a:spcPts val="675"/>
                        </a:lnSpc>
                        <a:buNone/>
                      </a:pPr>
                      <a:endParaRPr lang="en-US" sz="1200" b="1">
                        <a:effectLst/>
                        <a:latin typeface="Calibri"/>
                      </a:endParaRPr>
                    </a:p>
                    <a:p>
                      <a:pPr lvl="0" algn="ctr" rtl="0">
                        <a:lnSpc>
                          <a:spcPts val="675"/>
                        </a:lnSpc>
                        <a:buNone/>
                      </a:pPr>
                      <a:r>
                        <a:rPr lang="en-US" sz="1200" b="1">
                          <a:effectLst/>
                          <a:latin typeface="Calibri"/>
                        </a:rPr>
                        <a:t> Status</a:t>
                      </a:r>
                      <a:endParaRPr lang="en-US" sz="1200">
                        <a:effectLst/>
                        <a:latin typeface="Calibri"/>
                      </a:endParaRPr>
                    </a:p>
                  </a:txBody>
                  <a:tcPr anchor="ctr">
                    <a:lnL w="9524"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 Execution %</a:t>
                      </a:r>
                      <a:endParaRPr lang="en-US" sz="1200">
                        <a:effectLst/>
                        <a:latin typeface="Calibri"/>
                      </a:endParaRPr>
                    </a:p>
                  </a:txBody>
                  <a:tcPr anchor="ctr">
                    <a:lnL w="9524">
                      <a:solidFill>
                        <a:srgbClr val="000000"/>
                      </a:solidFill>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Testing Completion date</a:t>
                      </a:r>
                      <a:endParaRPr lang="en-US" sz="1200">
                        <a:effectLst/>
                        <a:latin typeface="Calibri"/>
                      </a:endParaRPr>
                    </a:p>
                  </a:txBody>
                  <a:tcPr anchor="ctr">
                    <a:lnL w="9524">
                      <a:solidFill>
                        <a:srgbClr val="000000"/>
                      </a:solidFill>
                    </a:lnL>
                    <a:lnR w="9524">
                      <a:solidFill>
                        <a:srgbClr val="000000"/>
                      </a:solidFill>
                    </a:lnR>
                    <a:lnT w="9524">
                      <a:solidFill>
                        <a:srgbClr val="000000"/>
                      </a:solidFill>
                    </a:lnT>
                    <a:lnB w="9524" cap="flat" cmpd="sng" algn="ctr">
                      <a:solidFill>
                        <a:srgbClr val="000000"/>
                      </a:solidFill>
                      <a:prstDash val="solid"/>
                      <a:round/>
                      <a:headEnd type="none" w="med" len="med"/>
                      <a:tailEnd type="none" w="med" len="med"/>
                    </a:lnB>
                    <a:solidFill>
                      <a:srgbClr val="FBE3D6"/>
                    </a:solidFill>
                  </a:tcPr>
                </a:tc>
                <a:tc>
                  <a:txBody>
                    <a:bodyPr/>
                    <a:lstStyle/>
                    <a:p>
                      <a:pPr lvl="0" algn="ctr" rtl="0">
                        <a:lnSpc>
                          <a:spcPts val="675"/>
                        </a:lnSpc>
                        <a:buNone/>
                      </a:pPr>
                      <a:r>
                        <a:rPr lang="en-US" sz="1200" b="1">
                          <a:effectLst/>
                          <a:latin typeface="Calibri"/>
                        </a:rPr>
                        <a:t>Release date</a:t>
                      </a:r>
                      <a:endParaRPr lang="en-US" sz="1200">
                        <a:effectLst/>
                        <a:latin typeface="Calibri"/>
                      </a:endParaRPr>
                    </a:p>
                  </a:txBody>
                  <a:tcPr anchor="ctr">
                    <a:lnL w="9524">
                      <a:solidFill>
                        <a:srgbClr val="000000"/>
                      </a:solidFill>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solidFill>
                      <a:srgbClr val="FBE3D6"/>
                    </a:solidFill>
                  </a:tcPr>
                </a:tc>
                <a:extLst>
                  <a:ext uri="{0D108BD9-81ED-4DB2-BD59-A6C34878D82A}">
                    <a16:rowId xmlns:a16="http://schemas.microsoft.com/office/drawing/2014/main" val="1459972755"/>
                  </a:ext>
                </a:extLst>
              </a:tr>
              <a:tr h="341194">
                <a:tc>
                  <a:txBody>
                    <a:bodyPr/>
                    <a:lstStyle/>
                    <a:p>
                      <a:pPr lvl="0" algn="ctr">
                        <a:lnSpc>
                          <a:spcPts val="675"/>
                        </a:lnSpc>
                        <a:buNone/>
                      </a:pPr>
                      <a:r>
                        <a:rPr lang="en-US" sz="1200">
                          <a:effectLst/>
                          <a:latin typeface="Calibri"/>
                          <a:ea typeface="Calibri"/>
                          <a:cs typeface="Calibri"/>
                        </a:rPr>
                        <a:t>Agadia </a:t>
                      </a:r>
                      <a:endParaRPr lang="en-US"/>
                    </a:p>
                  </a:txBody>
                  <a:tcPr marL="5353" marR="5353" marT="5353" anchor="ctr">
                    <a:lnL w="9524">
                      <a:solidFill>
                        <a:srgbClr val="000000"/>
                      </a:solidFill>
                    </a:lnL>
                    <a:lnR w="9524"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a:effectLst/>
                          <a:latin typeface="Calibri"/>
                          <a:ea typeface="Calibri"/>
                          <a:cs typeface="Calibri"/>
                        </a:rPr>
                        <a:t>NA</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a:effectLst/>
                          <a:latin typeface="Calibri"/>
                          <a:ea typeface="Calibri"/>
                          <a:cs typeface="Calibri"/>
                        </a:rPr>
                        <a:t>NA</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a:effectLst/>
                          <a:latin typeface="Calibri"/>
                          <a:ea typeface="Calibri"/>
                          <a:cs typeface="Calibri"/>
                        </a:rPr>
                        <a:t>NA</a:t>
                      </a:r>
                      <a:endParaRPr lang="en-US"/>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Completed</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a:effectLst/>
                          <a:latin typeface="Calibri"/>
                          <a:ea typeface="Calibri"/>
                          <a:cs typeface="Calibri"/>
                        </a:rPr>
                        <a:t>100%</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07/15/2026</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a:solidFill>
                        <a:srgbClr val="000000"/>
                      </a:solidFill>
                    </a:lnB>
                    <a:noFill/>
                  </a:tcPr>
                </a:tc>
                <a:tc>
                  <a:txBody>
                    <a:bodyPr/>
                    <a:lstStyle/>
                    <a:p>
                      <a:pPr lvl="0" algn="ctr">
                        <a:lnSpc>
                          <a:spcPts val="675"/>
                        </a:lnSpc>
                        <a:buNone/>
                      </a:pPr>
                      <a:r>
                        <a:rPr lang="en-US" sz="1200" b="0" i="0" u="none" strike="noStrike" noProof="0">
                          <a:solidFill>
                            <a:srgbClr val="000000"/>
                          </a:solidFill>
                          <a:effectLst/>
                          <a:latin typeface="Calibri"/>
                          <a:ea typeface="Calibri"/>
                          <a:cs typeface="Calibri"/>
                        </a:rPr>
                        <a:t>7/22/2026</a:t>
                      </a:r>
                    </a:p>
                  </a:txBody>
                  <a:tcPr marL="5353" marR="5353" marT="5353" anchor="ctr">
                    <a:lnL w="9524" cap="flat" cmpd="sng" algn="ctr">
                      <a:solidFill>
                        <a:srgbClr val="000000"/>
                      </a:solidFill>
                      <a:prstDash val="solid"/>
                      <a:round/>
                      <a:headEnd type="none" w="med" len="med"/>
                      <a:tailEnd type="none" w="med" len="med"/>
                    </a:lnL>
                    <a:lnR w="9524">
                      <a:solidFill>
                        <a:srgbClr val="000000"/>
                      </a:solidFill>
                    </a:lnR>
                    <a:lnT w="9524" cap="flat" cmpd="sng" algn="ctr">
                      <a:solidFill>
                        <a:srgbClr val="000000"/>
                      </a:solidFill>
                      <a:prstDash val="solid"/>
                      <a:round/>
                      <a:headEnd type="none" w="med" len="med"/>
                      <a:tailEnd type="none" w="med" len="med"/>
                    </a:lnT>
                    <a:lnB w="9524">
                      <a:solidFill>
                        <a:srgbClr val="000000"/>
                      </a:solidFill>
                    </a:lnB>
                    <a:noFill/>
                  </a:tcPr>
                </a:tc>
                <a:extLst>
                  <a:ext uri="{0D108BD9-81ED-4DB2-BD59-A6C34878D82A}">
                    <a16:rowId xmlns:a16="http://schemas.microsoft.com/office/drawing/2014/main" val="1335660079"/>
                  </a:ext>
                </a:extLst>
              </a:tr>
              <a:tr h="329983">
                <a:tc>
                  <a:txBody>
                    <a:bodyPr/>
                    <a:lstStyle/>
                    <a:p>
                      <a:pPr lvl="0" algn="ctr">
                        <a:lnSpc>
                          <a:spcPts val="675"/>
                        </a:lnSpc>
                        <a:buNone/>
                      </a:pPr>
                      <a:r>
                        <a:rPr lang="en-US" sz="1200">
                          <a:effectLst/>
                          <a:latin typeface="Calibri"/>
                          <a:ea typeface="Calibri"/>
                          <a:cs typeface="Calibri"/>
                        </a:rPr>
                        <a:t>OML</a:t>
                      </a:r>
                    </a:p>
                  </a:txBody>
                  <a:tcPr marL="5353" marR="5353" marT="5353" anchor="ctr">
                    <a:lnL w="9524">
                      <a:solidFill>
                        <a:srgbClr val="000000"/>
                      </a:solidFill>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NA</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NA</a:t>
                      </a:r>
                      <a:endParaRPr lang="en-US" sz="1200">
                        <a:latin typeface="Calibri"/>
                        <a:ea typeface="Calibri"/>
                        <a:cs typeface="Calibri"/>
                      </a:endParaRP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NA</a:t>
                      </a:r>
                      <a:endParaRPr lang="en-US" sz="1200">
                        <a:latin typeface="Calibri"/>
                        <a:ea typeface="Calibri"/>
                        <a:cs typeface="Calibri"/>
                      </a:endParaRP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In Progress</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80%</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effectLst/>
                          <a:latin typeface="Calibri"/>
                          <a:ea typeface="Calibri"/>
                          <a:cs typeface="Calibri"/>
                        </a:rPr>
                        <a:t>07/22/2026</a:t>
                      </a:r>
                    </a:p>
                  </a:txBody>
                  <a:tcPr marL="5353" marR="5353" marT="5353" anchor="ctr">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tc>
                  <a:txBody>
                    <a:bodyPr/>
                    <a:lstStyle/>
                    <a:p>
                      <a:pPr lvl="0" algn="ctr">
                        <a:lnSpc>
                          <a:spcPts val="675"/>
                        </a:lnSpc>
                        <a:buNone/>
                      </a:pPr>
                      <a:r>
                        <a:rPr lang="en-US" sz="1200">
                          <a:latin typeface="Calibri"/>
                          <a:ea typeface="Calibri"/>
                          <a:cs typeface="Calibri"/>
                        </a:rPr>
                        <a:t>07/29/2026</a:t>
                      </a:r>
                    </a:p>
                  </a:txBody>
                  <a:tcPr marL="5353" marR="5353" marT="5353" anchor="ctr">
                    <a:lnL w="9524" cap="flat" cmpd="sng" algn="ctr">
                      <a:solidFill>
                        <a:srgbClr val="000000"/>
                      </a:solidFill>
                      <a:prstDash val="solid"/>
                      <a:round/>
                      <a:headEnd type="none" w="med" len="med"/>
                      <a:tailEnd type="none" w="med" len="med"/>
                    </a:lnL>
                    <a:lnR w="9524">
                      <a:solidFill>
                        <a:srgbClr val="000000"/>
                      </a:solidFill>
                    </a:lnR>
                    <a:lnT w="9524" cap="flat" cmpd="sng" algn="ctr">
                      <a:solidFill>
                        <a:srgbClr val="000000"/>
                      </a:solidFill>
                      <a:prstDash val="solid"/>
                      <a:round/>
                      <a:headEnd type="none" w="med" len="med"/>
                      <a:tailEnd type="none" w="med" len="med"/>
                    </a:lnT>
                    <a:lnB w="952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2473605"/>
                  </a:ext>
                </a:extLst>
              </a:tr>
              <a:tr h="329983">
                <a:tc>
                  <a:txBody>
                    <a:bodyPr/>
                    <a:lstStyle/>
                    <a:p>
                      <a:pPr lvl="0" algn="ctr">
                        <a:lnSpc>
                          <a:spcPts val="675"/>
                        </a:lnSpc>
                        <a:buNone/>
                      </a:pPr>
                      <a:r>
                        <a:rPr lang="en-US" sz="1200">
                          <a:effectLst/>
                          <a:latin typeface="Calibri"/>
                          <a:ea typeface="Calibri"/>
                          <a:cs typeface="Calibri"/>
                        </a:rPr>
                        <a:t>CPS</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tc>
                  <a:txBody>
                    <a:bodyPr/>
                    <a:lstStyle/>
                    <a:p>
                      <a:pPr lvl="0" algn="ctr">
                        <a:lnSpc>
                          <a:spcPts val="675"/>
                        </a:lnSpc>
                        <a:buNone/>
                      </a:pPr>
                      <a:r>
                        <a:rPr lang="en-US" sz="1200">
                          <a:effectLst/>
                          <a:latin typeface="Calibri"/>
                          <a:ea typeface="Calibri"/>
                          <a:cs typeface="Calibri"/>
                        </a:rPr>
                        <a:t>Completed</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tc>
                  <a:txBody>
                    <a:bodyPr/>
                    <a:lstStyle/>
                    <a:p>
                      <a:pPr lvl="0" algn="ctr">
                        <a:lnSpc>
                          <a:spcPts val="675"/>
                        </a:lnSpc>
                        <a:buNone/>
                      </a:pPr>
                      <a:r>
                        <a:rPr lang="en-US" sz="1200">
                          <a:effectLst/>
                          <a:latin typeface="Calibri"/>
                          <a:ea typeface="Calibri"/>
                          <a:cs typeface="Calibri"/>
                        </a:rPr>
                        <a:t>100%</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tc>
                  <a:txBody>
                    <a:bodyPr/>
                    <a:lstStyle/>
                    <a:p>
                      <a:pPr lvl="0" algn="ctr">
                        <a:lnSpc>
                          <a:spcPts val="675"/>
                        </a:lnSpc>
                        <a:buNone/>
                      </a:pPr>
                      <a:r>
                        <a:rPr lang="en-US" sz="1200">
                          <a:effectLst/>
                          <a:latin typeface="Calibri"/>
                          <a:ea typeface="Calibri"/>
                          <a:cs typeface="Calibri"/>
                        </a:rPr>
                        <a:t>NA</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Calibri"/>
                          <a:ea typeface="Calibri"/>
                          <a:cs typeface="Calibri"/>
                        </a:rPr>
                        <a:t>In Progress</a:t>
                      </a:r>
                    </a:p>
                    <a:p>
                      <a:pPr lvl="0" algn="ctr">
                        <a:lnSpc>
                          <a:spcPts val="675"/>
                        </a:lnSpc>
                        <a:buNone/>
                      </a:pPr>
                      <a:endParaRPr lang="en-US" sz="1200">
                        <a:effectLst/>
                        <a:latin typeface="Calibri"/>
                        <a:ea typeface="Calibri"/>
                        <a:cs typeface="Calibri"/>
                      </a:endParaRP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tc>
                  <a:txBody>
                    <a:bodyPr/>
                    <a:lstStyle/>
                    <a:p>
                      <a:pPr lvl="0" algn="ctr">
                        <a:lnSpc>
                          <a:spcPts val="675"/>
                        </a:lnSpc>
                        <a:buNone/>
                      </a:pPr>
                      <a:r>
                        <a:rPr lang="en-US" sz="1200">
                          <a:effectLst/>
                          <a:latin typeface="Calibri"/>
                          <a:ea typeface="Calibri"/>
                          <a:cs typeface="Calibri"/>
                        </a:rPr>
                        <a:t>80%</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tc>
                  <a:txBody>
                    <a:bodyPr/>
                    <a:lstStyle/>
                    <a:p>
                      <a:pPr lvl="0" algn="ctr">
                        <a:lnSpc>
                          <a:spcPts val="675"/>
                        </a:lnSpc>
                        <a:buNone/>
                      </a:pPr>
                      <a:r>
                        <a:rPr lang="en-US" sz="1200">
                          <a:effectLst/>
                          <a:latin typeface="Calibri"/>
                          <a:ea typeface="Calibri"/>
                          <a:cs typeface="Calibri"/>
                        </a:rPr>
                        <a:t>07/22/2026</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tc>
                  <a:txBody>
                    <a:bodyPr/>
                    <a:lstStyle/>
                    <a:p>
                      <a:pPr lvl="0" algn="ctr">
                        <a:lnSpc>
                          <a:spcPts val="675"/>
                        </a:lnSpc>
                        <a:buNone/>
                      </a:pPr>
                      <a:r>
                        <a:rPr lang="en-US" sz="1200">
                          <a:latin typeface="Calibri"/>
                          <a:ea typeface="Calibri"/>
                          <a:cs typeface="Calibri"/>
                        </a:rPr>
                        <a:t>07/29/2026</a:t>
                      </a:r>
                    </a:p>
                  </a:txBody>
                  <a:tcPr marL="5353" marR="5353" marT="5353" anchor="ctr">
                    <a:lnL w="9524">
                      <a:solidFill>
                        <a:srgbClr val="000000"/>
                      </a:solidFill>
                    </a:lnL>
                    <a:lnR w="9524">
                      <a:solidFill>
                        <a:srgbClr val="000000"/>
                      </a:solidFill>
                    </a:lnR>
                    <a:lnT w="9524">
                      <a:solidFill>
                        <a:srgbClr val="000000"/>
                      </a:solidFill>
                    </a:lnT>
                    <a:lnB w="9524">
                      <a:solidFill>
                        <a:srgbClr val="000000"/>
                      </a:solidFill>
                    </a:lnB>
                    <a:noFill/>
                  </a:tcPr>
                </a:tc>
                <a:extLst>
                  <a:ext uri="{0D108BD9-81ED-4DB2-BD59-A6C34878D82A}">
                    <a16:rowId xmlns:a16="http://schemas.microsoft.com/office/drawing/2014/main" val="454260994"/>
                  </a:ext>
                </a:extLst>
              </a:tr>
            </a:tbl>
          </a:graphicData>
        </a:graphic>
      </p:graphicFrame>
    </p:spTree>
    <p:extLst>
      <p:ext uri="{BB962C8B-B14F-4D97-AF65-F5344CB8AC3E}">
        <p14:creationId xmlns:p14="http://schemas.microsoft.com/office/powerpoint/2010/main" val="125637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356B0-3E8D-FDA2-7C1D-87243750996C}"/>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3423403-67C2-DD7A-F15E-198ED337BD32}"/>
              </a:ext>
            </a:extLst>
          </p:cNvPr>
          <p:cNvGraphicFramePr>
            <a:graphicFrameLocks noGrp="1"/>
          </p:cNvGraphicFramePr>
          <p:nvPr>
            <p:extLst>
              <p:ext uri="{D42A27DB-BD31-4B8C-83A1-F6EECF244321}">
                <p14:modId xmlns:p14="http://schemas.microsoft.com/office/powerpoint/2010/main" val="2178124669"/>
              </p:ext>
            </p:extLst>
          </p:nvPr>
        </p:nvGraphicFramePr>
        <p:xfrm>
          <a:off x="333828" y="72571"/>
          <a:ext cx="12145481" cy="2133432"/>
        </p:xfrm>
        <a:graphic>
          <a:graphicData uri="http://schemas.openxmlformats.org/drawingml/2006/table">
            <a:tbl>
              <a:tblPr firstRow="1" bandRow="1">
                <a:noFill/>
                <a:tableStyleId>{5940675A-B579-460E-94D1-54222C63F5DA}</a:tableStyleId>
              </a:tblPr>
              <a:tblGrid>
                <a:gridCol w="1654790">
                  <a:extLst>
                    <a:ext uri="{9D8B030D-6E8A-4147-A177-3AD203B41FA5}">
                      <a16:colId xmlns:a16="http://schemas.microsoft.com/office/drawing/2014/main" val="3592680666"/>
                    </a:ext>
                  </a:extLst>
                </a:gridCol>
                <a:gridCol w="1315318">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204139">
                  <a:extLst>
                    <a:ext uri="{9D8B030D-6E8A-4147-A177-3AD203B41FA5}">
                      <a16:colId xmlns:a16="http://schemas.microsoft.com/office/drawing/2014/main" val="2428918094"/>
                    </a:ext>
                  </a:extLst>
                </a:gridCol>
                <a:gridCol w="1165411">
                  <a:extLst>
                    <a:ext uri="{9D8B030D-6E8A-4147-A177-3AD203B41FA5}">
                      <a16:colId xmlns:a16="http://schemas.microsoft.com/office/drawing/2014/main" val="2434076975"/>
                    </a:ext>
                  </a:extLst>
                </a:gridCol>
                <a:gridCol w="2145457">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797134">
                <a:tc>
                  <a:txBody>
                    <a:bodyPr/>
                    <a:lstStyle/>
                    <a:p>
                      <a:pPr marL="0" algn="l" defTabSz="914400" rtl="0" eaLnBrk="1" fontAlgn="ctr" latinLnBrk="0" hangingPunct="1">
                        <a:buNone/>
                      </a:pPr>
                      <a:r>
                        <a:rPr lang="en-US" sz="1400" b="1" u="none" strike="noStrike" kern="1200" cap="none" spc="60">
                          <a:solidFill>
                            <a:schemeClr val="bg1"/>
                          </a:solidFill>
                          <a:effectLst/>
                          <a:latin typeface="Calibri"/>
                          <a:ea typeface="Calibri"/>
                          <a:cs typeface="Calibri"/>
                        </a:rPr>
                        <a:t>Scrum Team Name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r>
                        <a:rPr lang="en-US" sz="1400" b="0" i="0" u="none" strike="noStrike" cap="none" spc="60">
                          <a:solidFill>
                            <a:schemeClr val="bg1"/>
                          </a:solidFill>
                          <a:effectLst/>
                          <a:latin typeface="Calibri"/>
                          <a:ea typeface="Calibri"/>
                          <a:cs typeface="Calibri"/>
                        </a:rPr>
                        <a:t>Power Rangers</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a:ea typeface="Calibri"/>
                          <a:cs typeface="Calibri"/>
                        </a:rPr>
                        <a:t>Application(s) Name</a:t>
                      </a:r>
                      <a:endParaRPr lang="en-US" sz="1400" b="1" u="none" strike="noStrike" kern="1200" cap="none" spc="60" noProof="0">
                        <a:solidFill>
                          <a:schemeClr val="bg1"/>
                        </a:solidFill>
                        <a:effectLst/>
                        <a:latin typeface="Calibri"/>
                        <a:ea typeface="Calibri"/>
                        <a:cs typeface="Calibri"/>
                      </a:endParaRP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err="1">
                          <a:solidFill>
                            <a:schemeClr val="bg1"/>
                          </a:solidFill>
                          <a:effectLst/>
                          <a:latin typeface="Calibri"/>
                          <a:ea typeface="Calibri"/>
                          <a:cs typeface="Calibri"/>
                        </a:rPr>
                        <a:t>RxPlanner</a:t>
                      </a:r>
                      <a:r>
                        <a:rPr lang="en-US" sz="1400" b="0" i="0" u="none" strike="noStrike" kern="1200" cap="none" spc="60">
                          <a:solidFill>
                            <a:schemeClr val="bg1"/>
                          </a:solidFill>
                          <a:effectLst/>
                          <a:latin typeface="Calibri"/>
                          <a:ea typeface="Calibri"/>
                          <a:cs typeface="Calibri"/>
                        </a:rPr>
                        <a:t>/ CRS</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a:ea typeface="Calibri"/>
                          <a:cs typeface="Calibri"/>
                        </a:rPr>
                        <a:t>Testing POC</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None/>
                      </a:pPr>
                      <a:r>
                        <a:rPr lang="en-US" sz="1400" b="0" i="0" u="none" strike="noStrike" kern="1200" cap="none" spc="60">
                          <a:solidFill>
                            <a:schemeClr val="bg1"/>
                          </a:solidFill>
                          <a:effectLst/>
                          <a:latin typeface="Calibri"/>
                          <a:ea typeface="Calibri"/>
                          <a:cs typeface="Calibri"/>
                        </a:rPr>
                        <a:t>NagaBabu Bhogireddy</a:t>
                      </a:r>
                      <a:endParaRPr lang="en-US" sz="1400" b="0" i="0" u="none" strike="noStrike" kern="1200" cap="none" spc="60" err="1">
                        <a:solidFill>
                          <a:schemeClr val="bg1"/>
                        </a:solidFill>
                        <a:effectLst/>
                        <a:latin typeface="Calibri"/>
                        <a:ea typeface="Calibri"/>
                        <a:cs typeface="Calibri"/>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a:ea typeface="Calibri"/>
                          <a:cs typeface="Calibri"/>
                        </a:rPr>
                        <a:t>Release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26.07</a:t>
                      </a:r>
                      <a:endPar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68573265"/>
                  </a:ext>
                </a:extLst>
              </a:tr>
              <a:tr h="1336298">
                <a:tc gridSpan="8">
                  <a:txBody>
                    <a:bodyPr/>
                    <a:lstStyle/>
                    <a:p>
                      <a:pPr algn="l"/>
                      <a:r>
                        <a:rPr lang="en-US" sz="1200" b="1">
                          <a:solidFill>
                            <a:schemeClr val="tx1"/>
                          </a:solidFill>
                          <a:latin typeface="Calibri"/>
                          <a:ea typeface="Calibri"/>
                          <a:cs typeface="Calibri"/>
                        </a:rPr>
                        <a:t>Overall Summary :</a:t>
                      </a:r>
                    </a:p>
                    <a:p>
                      <a:pPr marL="742950" marR="0" lvl="1"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endParaRPr lang="en-US" sz="1200" b="0" u="none" strike="noStrike" kern="1200" cap="none" spc="0">
                        <a:solidFill>
                          <a:schemeClr val="tx1"/>
                        </a:solidFill>
                        <a:effectLst/>
                        <a:latin typeface="Calibri"/>
                        <a:ea typeface="Calibri"/>
                        <a:cs typeface="Calibri"/>
                      </a:endParaRP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kern="1200" cap="none" spc="0">
                          <a:solidFill>
                            <a:schemeClr val="tx1"/>
                          </a:solidFill>
                          <a:effectLst/>
                          <a:latin typeface="Calibri"/>
                          <a:ea typeface="Calibri"/>
                          <a:cs typeface="Calibri"/>
                        </a:rPr>
                        <a:t>As part of July Release Snaplogic to data bricks migration for CRS and Rxplanner Applications.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kern="1200" cap="none" spc="0">
                          <a:solidFill>
                            <a:schemeClr val="tx1"/>
                          </a:solidFill>
                          <a:effectLst/>
                          <a:latin typeface="Calibri"/>
                          <a:ea typeface="Calibri"/>
                          <a:cs typeface="Calibri"/>
                        </a:rPr>
                        <a:t>Testing is completed and Sign off provided.</a:t>
                      </a:r>
                    </a:p>
                  </a:txBody>
                  <a:tcPr marL="108022" marR="12002" marT="124687" marB="0"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159866A1-E722-B8BA-02BD-C1E9154BDDF9}"/>
              </a:ext>
            </a:extLst>
          </p:cNvPr>
          <p:cNvGraphicFramePr>
            <a:graphicFrameLocks noGrp="1"/>
          </p:cNvGraphicFramePr>
          <p:nvPr>
            <p:extLst>
              <p:ext uri="{D42A27DB-BD31-4B8C-83A1-F6EECF244321}">
                <p14:modId xmlns:p14="http://schemas.microsoft.com/office/powerpoint/2010/main" val="1248782158"/>
              </p:ext>
            </p:extLst>
          </p:nvPr>
        </p:nvGraphicFramePr>
        <p:xfrm>
          <a:off x="236369" y="3787432"/>
          <a:ext cx="11615678" cy="2656561"/>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1082778">
                <a:tc>
                  <a:txBody>
                    <a:bodyPr/>
                    <a:lstStyle/>
                    <a:p>
                      <a:pPr algn="l" fontAlgn="t">
                        <a:buNone/>
                      </a:pPr>
                      <a:r>
                        <a:rPr lang="en-US" sz="1200" b="1" u="none" strike="noStrike" kern="1200" cap="none" spc="0">
                          <a:solidFill>
                            <a:schemeClr val="tx1"/>
                          </a:solidFill>
                          <a:effectLst/>
                          <a:latin typeface="Calibri"/>
                          <a:ea typeface="Calibri"/>
                          <a:cs typeface="Calibri"/>
                        </a:rPr>
                        <a:t>Challenges (risks / issues): </a:t>
                      </a:r>
                      <a:r>
                        <a:rPr lang="en-US" sz="1200" b="0" u="none" strike="noStrike" kern="1200" cap="none" spc="0">
                          <a:solidFill>
                            <a:schemeClr val="tx1"/>
                          </a:solidFill>
                          <a:effectLst/>
                          <a:latin typeface="Calibri"/>
                          <a:ea typeface="Calibri"/>
                          <a:cs typeface="Calibri"/>
                        </a:rPr>
                        <a:t> </a:t>
                      </a:r>
                    </a:p>
                    <a:p>
                      <a:pPr lvl="0" algn="l">
                        <a:buNone/>
                      </a:pPr>
                      <a:r>
                        <a:rPr lang="en-US" sz="1200" b="0" u="none" strike="noStrike" kern="1200" cap="none" spc="0">
                          <a:solidFill>
                            <a:schemeClr val="tx1"/>
                          </a:solidFill>
                          <a:effectLst/>
                          <a:latin typeface="Calibri"/>
                          <a:ea typeface="Calibri"/>
                          <a:cs typeface="Calibri"/>
                        </a:rPr>
                        <a:t>NA</a:t>
                      </a:r>
                    </a:p>
                  </a:txBody>
                  <a:tcPr marL="108022" marR="12002" marT="124687" marB="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buNone/>
                      </a:pPr>
                      <a:r>
                        <a:rPr lang="en-US" sz="1200" b="1" u="none" strike="noStrike" kern="1200" cap="none" spc="0">
                          <a:solidFill>
                            <a:schemeClr val="tx1"/>
                          </a:solidFill>
                          <a:effectLst/>
                          <a:latin typeface="Calibri"/>
                          <a:ea typeface="Calibri"/>
                          <a:cs typeface="Calibri"/>
                        </a:rPr>
                        <a:t>Action Needed / Action Taken (for the identified risks/issues): NA</a:t>
                      </a:r>
                      <a:endParaRPr lang="en-US" sz="1200" b="0" u="none" strike="noStrike" kern="1200" cap="none" spc="0">
                        <a:solidFill>
                          <a:schemeClr val="tx1"/>
                        </a:solidFill>
                        <a:effectLst/>
                        <a:latin typeface="Calibri"/>
                        <a:ea typeface="Calibri"/>
                        <a:cs typeface="Calibri"/>
                      </a:endParaRPr>
                    </a:p>
                  </a:txBody>
                  <a:tcPr marL="12002" marR="12002" marT="124687" marB="0">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68573265"/>
                  </a:ext>
                </a:extLst>
              </a:tr>
              <a:tr h="1573783">
                <a:tc gridSpan="2">
                  <a:txBody>
                    <a:bodyPr/>
                    <a:lstStyle/>
                    <a:p>
                      <a:pPr algn="l" fontAlgn="t">
                        <a:buNone/>
                      </a:pPr>
                      <a:r>
                        <a:rPr lang="en-US" sz="1200" b="1" u="none" strike="noStrike" kern="1200" cap="none" spc="0">
                          <a:solidFill>
                            <a:schemeClr val="tx1"/>
                          </a:solidFill>
                          <a:effectLst/>
                          <a:latin typeface="Calibri"/>
                          <a:ea typeface="Calibri"/>
                          <a:cs typeface="Calibri"/>
                        </a:rPr>
                        <a:t>Automation Regression Updates : </a:t>
                      </a:r>
                    </a:p>
                    <a:p>
                      <a:pPr marL="285750" indent="-285750" algn="l" fontAlgn="t">
                        <a:buFont typeface="Arial" panose="020B0604020202020204" pitchFamily="34" charset="0"/>
                        <a:buChar char="•"/>
                      </a:pPr>
                      <a:endParaRPr lang="en-US" sz="1200" b="0" u="none" strike="noStrike" kern="1200" cap="none" spc="0">
                        <a:solidFill>
                          <a:schemeClr val="tx1"/>
                        </a:solidFill>
                        <a:effectLst/>
                        <a:latin typeface="Calibri"/>
                        <a:ea typeface="Calibri"/>
                        <a:cs typeface="Calibri"/>
                      </a:endParaRPr>
                    </a:p>
                    <a:p>
                      <a:pPr marL="285750" marR="0" lvl="0" indent="-285750" algn="l" rtl="0" eaLnBrk="1" fontAlgn="t" latinLnBrk="0" hangingPunct="1">
                        <a:lnSpc>
                          <a:spcPct val="100000"/>
                        </a:lnSpc>
                        <a:spcBef>
                          <a:spcPts val="0"/>
                        </a:spcBef>
                        <a:spcAft>
                          <a:spcPts val="0"/>
                        </a:spcAft>
                        <a:buClrTx/>
                        <a:buSzTx/>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Automation Regression Testing  is completed and sign off is provided as well.</a:t>
                      </a:r>
                    </a:p>
                  </a:txBody>
                  <a:tcPr marL="108022" marR="12002" marT="124687"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79814438-9A40-63CE-0D36-DBA79BD2B49A}"/>
              </a:ext>
            </a:extLst>
          </p:cNvPr>
          <p:cNvGraphicFramePr>
            <a:graphicFrameLocks noGrp="1"/>
          </p:cNvGraphicFramePr>
          <p:nvPr>
            <p:extLst>
              <p:ext uri="{D42A27DB-BD31-4B8C-83A1-F6EECF244321}">
                <p14:modId xmlns:p14="http://schemas.microsoft.com/office/powerpoint/2010/main" val="2070456174"/>
              </p:ext>
            </p:extLst>
          </p:nvPr>
        </p:nvGraphicFramePr>
        <p:xfrm>
          <a:off x="419552" y="2392686"/>
          <a:ext cx="11769311" cy="1034318"/>
        </p:xfrm>
        <a:graphic>
          <a:graphicData uri="http://schemas.openxmlformats.org/drawingml/2006/table">
            <a:tbl>
              <a:tblPr/>
              <a:tblGrid>
                <a:gridCol w="1504753">
                  <a:extLst>
                    <a:ext uri="{9D8B030D-6E8A-4147-A177-3AD203B41FA5}">
                      <a16:colId xmlns:a16="http://schemas.microsoft.com/office/drawing/2014/main" val="383858331"/>
                    </a:ext>
                  </a:extLst>
                </a:gridCol>
                <a:gridCol w="1225297">
                  <a:extLst>
                    <a:ext uri="{9D8B030D-6E8A-4147-A177-3AD203B41FA5}">
                      <a16:colId xmlns:a16="http://schemas.microsoft.com/office/drawing/2014/main" val="1560180378"/>
                    </a:ext>
                  </a:extLst>
                </a:gridCol>
                <a:gridCol w="1547744">
                  <a:extLst>
                    <a:ext uri="{9D8B030D-6E8A-4147-A177-3AD203B41FA5}">
                      <a16:colId xmlns:a16="http://schemas.microsoft.com/office/drawing/2014/main" val="2270929281"/>
                    </a:ext>
                  </a:extLst>
                </a:gridCol>
                <a:gridCol w="1569242">
                  <a:extLst>
                    <a:ext uri="{9D8B030D-6E8A-4147-A177-3AD203B41FA5}">
                      <a16:colId xmlns:a16="http://schemas.microsoft.com/office/drawing/2014/main" val="3431560504"/>
                    </a:ext>
                  </a:extLst>
                </a:gridCol>
                <a:gridCol w="1569242">
                  <a:extLst>
                    <a:ext uri="{9D8B030D-6E8A-4147-A177-3AD203B41FA5}">
                      <a16:colId xmlns:a16="http://schemas.microsoft.com/office/drawing/2014/main" val="3295045209"/>
                    </a:ext>
                  </a:extLst>
                </a:gridCol>
                <a:gridCol w="1160807">
                  <a:extLst>
                    <a:ext uri="{9D8B030D-6E8A-4147-A177-3AD203B41FA5}">
                      <a16:colId xmlns:a16="http://schemas.microsoft.com/office/drawing/2014/main" val="1923205917"/>
                    </a:ext>
                  </a:extLst>
                </a:gridCol>
                <a:gridCol w="1789581">
                  <a:extLst>
                    <a:ext uri="{9D8B030D-6E8A-4147-A177-3AD203B41FA5}">
                      <a16:colId xmlns:a16="http://schemas.microsoft.com/office/drawing/2014/main" val="3147362022"/>
                    </a:ext>
                  </a:extLst>
                </a:gridCol>
                <a:gridCol w="1402645">
                  <a:extLst>
                    <a:ext uri="{9D8B030D-6E8A-4147-A177-3AD203B41FA5}">
                      <a16:colId xmlns:a16="http://schemas.microsoft.com/office/drawing/2014/main" val="4292749998"/>
                    </a:ext>
                  </a:extLst>
                </a:gridCol>
              </a:tblGrid>
              <a:tr h="358548">
                <a:tc>
                  <a:txBody>
                    <a:bodyPr/>
                    <a:lstStyle/>
                    <a:p>
                      <a:pPr algn="ctr" fontAlgn="ctr">
                        <a:buNone/>
                      </a:pPr>
                      <a:r>
                        <a:rPr lang="en-US" sz="1100" b="1" i="0" u="none" strike="noStrike">
                          <a:solidFill>
                            <a:srgbClr val="000000"/>
                          </a:solidFill>
                          <a:effectLst/>
                          <a:latin typeface="Calibri"/>
                          <a:ea typeface="Calibri"/>
                          <a:cs typeface="Calibri"/>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Calibri"/>
                          <a:ea typeface="Calibri"/>
                          <a:cs typeface="Calibri"/>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Calibri"/>
                          <a:ea typeface="Calibri"/>
                          <a:cs typeface="Calibri"/>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base">
                        <a:lnSpc>
                          <a:spcPts val="750"/>
                        </a:lnSpc>
                        <a:buNone/>
                      </a:pPr>
                      <a:r>
                        <a:rPr lang="en-US" sz="1100" b="1" i="0" u="none" strike="noStrike">
                          <a:solidFill>
                            <a:srgbClr val="000000"/>
                          </a:solidFill>
                          <a:effectLst/>
                          <a:latin typeface="Calibri" panose="020F0502020204030204" pitchFamily="34" charset="0"/>
                        </a:rPr>
                        <a:t>Test Design through AI Tools (Sulfur &amp; Strider)</a:t>
                      </a:r>
                      <a:r>
                        <a:rPr lang="en-US" sz="1100" b="0" i="0">
                          <a:solidFill>
                            <a:srgbClr val="000000"/>
                          </a:solidFill>
                          <a:effectLst/>
                          <a:latin typeface="Calibri" panose="020F0502020204030204" pitchFamily="34" charset="0"/>
                        </a:rPr>
                        <a:t>​</a:t>
                      </a:r>
                      <a:endParaRPr lang="en-US" b="0" i="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Calibri"/>
                          <a:ea typeface="Calibri"/>
                          <a:cs typeface="Calibri"/>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Calibri"/>
                          <a:ea typeface="Calibri"/>
                          <a:cs typeface="Calibri"/>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Calibri"/>
                          <a:ea typeface="Calibri"/>
                          <a:cs typeface="Calibri"/>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100" b="1" i="0" u="none" strike="noStrike">
                          <a:solidFill>
                            <a:srgbClr val="000000"/>
                          </a:solidFill>
                          <a:effectLst/>
                          <a:latin typeface="Calibri"/>
                          <a:ea typeface="Calibri"/>
                          <a:cs typeface="Calibri"/>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330966">
                <a:tc>
                  <a:txBody>
                    <a:bodyPr/>
                    <a:lstStyle/>
                    <a:p>
                      <a:pPr lvl="0" algn="ctr">
                        <a:buNone/>
                      </a:pPr>
                      <a:r>
                        <a:rPr lang="en-US" sz="1100" b="0" i="0" u="none" strike="noStrike">
                          <a:solidFill>
                            <a:srgbClr val="000000"/>
                          </a:solidFill>
                          <a:effectLst/>
                          <a:latin typeface="Calibri"/>
                          <a:ea typeface="Calibri"/>
                          <a:cs typeface="Calibri"/>
                        </a:rPr>
                        <a:t>CRS-2</a:t>
                      </a:r>
                    </a:p>
                  </a:txBody>
                  <a:tcPr marL="9524" marR="9524" marT="9524" marB="0" anchor="ctr">
                    <a:lnL w="6350">
                      <a:solidFill>
                        <a:srgbClr val="000000"/>
                      </a:solid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a:solidFill>
                            <a:srgbClr val="000000"/>
                          </a:solidFill>
                          <a:effectLst/>
                          <a:latin typeface="Calibri"/>
                          <a:ea typeface="Calibri"/>
                          <a:cs typeface="Calibri"/>
                        </a:rPr>
                        <a:t>Completed</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a:solidFill>
                            <a:srgbClr val="000000"/>
                          </a:solidFill>
                          <a:effectLst/>
                          <a:latin typeface="Calibri"/>
                          <a:ea typeface="Calibri"/>
                          <a:cs typeface="Calibri"/>
                        </a:rPr>
                        <a:t>40%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a:solidFill>
                            <a:srgbClr val="000000"/>
                          </a:solidFill>
                          <a:effectLst/>
                          <a:latin typeface="Calibri"/>
                          <a:ea typeface="Calibri"/>
                          <a:cs typeface="Calibri"/>
                        </a:rPr>
                        <a:t>Completed</a:t>
                      </a:r>
                      <a:endParaRPr lang="en-US" sz="1100" b="0" i="0" u="none" strike="noStrike" err="1">
                        <a:solidFill>
                          <a:srgbClr val="000000"/>
                        </a:solidFill>
                        <a:effectLst/>
                        <a:latin typeface="Calibri"/>
                        <a:ea typeface="Calibri"/>
                        <a:cs typeface="Calibri"/>
                      </a:endParaRP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b="0" i="0" u="none" strike="noStrike">
                          <a:solidFill>
                            <a:srgbClr val="000000"/>
                          </a:solidFill>
                          <a:effectLst/>
                          <a:latin typeface="Calibri"/>
                          <a:ea typeface="Calibri"/>
                          <a:cs typeface="Calibri"/>
                        </a:rPr>
                        <a:t>7/16</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Calibri"/>
                          <a:ea typeface="Calibri"/>
                          <a:cs typeface="Calibri"/>
                        </a:rPr>
                        <a:t>07/29/2026</a:t>
                      </a:r>
                    </a:p>
                    <a:p>
                      <a:pPr lvl="0" algn="ctr">
                        <a:buNone/>
                      </a:pPr>
                      <a:endParaRPr lang="en-US" sz="1100" b="0" i="0" u="none" strike="noStrike">
                        <a:solidFill>
                          <a:srgbClr val="000000"/>
                        </a:solidFill>
                        <a:effectLst/>
                        <a:latin typeface="Calibri"/>
                        <a:ea typeface="Calibri"/>
                        <a:cs typeface="Calibri"/>
                      </a:endParaRPr>
                    </a:p>
                  </a:txBody>
                  <a:tcPr marL="9524" marR="9524" marT="9524" marB="0" anchor="ctr">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8511449"/>
                  </a:ext>
                </a:extLst>
              </a:tr>
              <a:tr h="330966">
                <a:tc>
                  <a:txBody>
                    <a:bodyPr/>
                    <a:lstStyle/>
                    <a:p>
                      <a:pPr lvl="0" algn="ctr">
                        <a:buNone/>
                      </a:pPr>
                      <a:r>
                        <a:rPr lang="en-US" sz="1100" b="0" i="0" u="none" strike="noStrike">
                          <a:solidFill>
                            <a:srgbClr val="000000"/>
                          </a:solidFill>
                          <a:effectLst/>
                          <a:latin typeface="Calibri"/>
                          <a:ea typeface="Calibri"/>
                          <a:cs typeface="Calibri"/>
                        </a:rPr>
                        <a:t>Rxplanner-5</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Completed</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40%</a:t>
                      </a:r>
                      <a:endParaRPr lang="en-US"/>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Completed</a:t>
                      </a:r>
                      <a:endParaRPr lang="en-US" sz="1100" b="0" i="0" u="none" strike="noStrike" err="1">
                        <a:solidFill>
                          <a:srgbClr val="000000"/>
                        </a:solidFill>
                        <a:effectLst/>
                        <a:latin typeface="Calibri"/>
                        <a:ea typeface="Calibri"/>
                        <a:cs typeface="Calibri"/>
                      </a:endParaRP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100%</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7/15</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100" b="0" i="0" u="none" strike="noStrike">
                          <a:solidFill>
                            <a:srgbClr val="000000"/>
                          </a:solidFill>
                          <a:effectLst/>
                          <a:latin typeface="Calibri"/>
                          <a:ea typeface="Calibri"/>
                          <a:cs typeface="Calibri"/>
                        </a:rPr>
                        <a:t>07/29/2026</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3327137770"/>
                  </a:ext>
                </a:extLst>
              </a:tr>
            </a:tbl>
          </a:graphicData>
        </a:graphic>
      </p:graphicFrame>
    </p:spTree>
    <p:extLst>
      <p:ext uri="{BB962C8B-B14F-4D97-AF65-F5344CB8AC3E}">
        <p14:creationId xmlns:p14="http://schemas.microsoft.com/office/powerpoint/2010/main" val="1829708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12298-CC15-4188-E305-3DE78800020C}"/>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AB9A12C-3B84-51F3-95B0-4B5075254EA3}"/>
              </a:ext>
            </a:extLst>
          </p:cNvPr>
          <p:cNvGraphicFramePr>
            <a:graphicFrameLocks noGrp="1"/>
          </p:cNvGraphicFramePr>
          <p:nvPr>
            <p:extLst>
              <p:ext uri="{D42A27DB-BD31-4B8C-83A1-F6EECF244321}">
                <p14:modId xmlns:p14="http://schemas.microsoft.com/office/powerpoint/2010/main" val="614988435"/>
              </p:ext>
            </p:extLst>
          </p:nvPr>
        </p:nvGraphicFramePr>
        <p:xfrm>
          <a:off x="290192" y="254767"/>
          <a:ext cx="11615848" cy="3150843"/>
        </p:xfrm>
        <a:graphic>
          <a:graphicData uri="http://schemas.openxmlformats.org/drawingml/2006/table">
            <a:tbl>
              <a:tblPr firstRow="1" bandRow="1">
                <a:noFill/>
                <a:tableStyleId>{5940675A-B579-460E-94D1-54222C63F5DA}</a:tableStyleId>
              </a:tblPr>
              <a:tblGrid>
                <a:gridCol w="1125156">
                  <a:extLst>
                    <a:ext uri="{9D8B030D-6E8A-4147-A177-3AD203B41FA5}">
                      <a16:colId xmlns:a16="http://schemas.microsoft.com/office/drawing/2014/main" val="3592680666"/>
                    </a:ext>
                  </a:extLst>
                </a:gridCol>
                <a:gridCol w="1315318">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204139">
                  <a:extLst>
                    <a:ext uri="{9D8B030D-6E8A-4147-A177-3AD203B41FA5}">
                      <a16:colId xmlns:a16="http://schemas.microsoft.com/office/drawing/2014/main" val="2428918094"/>
                    </a:ext>
                  </a:extLst>
                </a:gridCol>
                <a:gridCol w="1165412">
                  <a:extLst>
                    <a:ext uri="{9D8B030D-6E8A-4147-A177-3AD203B41FA5}">
                      <a16:colId xmlns:a16="http://schemas.microsoft.com/office/drawing/2014/main" val="2434076975"/>
                    </a:ext>
                  </a:extLst>
                </a:gridCol>
                <a:gridCol w="2145457">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721789">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r>
                        <a:rPr lang="en-IN" sz="1400" b="0" i="0" u="none" strike="noStrike" kern="1200" cap="none" spc="60" err="1">
                          <a:solidFill>
                            <a:schemeClr val="bg1"/>
                          </a:solidFill>
                          <a:effectLst/>
                          <a:latin typeface="Calibri"/>
                          <a:ea typeface="Calibri"/>
                          <a:cs typeface="Calibri"/>
                        </a:rPr>
                        <a:t>RxConsult</a:t>
                      </a:r>
                      <a:endParaRPr lang="en-US" sz="1400" b="0" i="0" u="none" strike="noStrike" cap="none" spc="60" err="1">
                        <a:solidFill>
                          <a:schemeClr val="bg1"/>
                        </a:solidFill>
                        <a:effectLst/>
                        <a:latin typeface="Calibri"/>
                        <a:ea typeface="Calibri"/>
                        <a:cs typeface="Calibri"/>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Application(s) Name</a:t>
                      </a:r>
                      <a:endParaRPr lang="en-US" sz="1400" b="1" u="none" strike="noStrike" kern="1200" cap="none" spc="60" noProof="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IN" sz="1400" b="0" i="0" u="none" strike="noStrike" kern="1200" cap="none" spc="60" err="1">
                          <a:solidFill>
                            <a:schemeClr val="bg1"/>
                          </a:solidFill>
                          <a:effectLst/>
                          <a:latin typeface="Calibri"/>
                          <a:ea typeface="Calibri"/>
                          <a:cs typeface="Calibri"/>
                        </a:rPr>
                        <a:t>RxConsult</a:t>
                      </a:r>
                      <a:endParaRPr lang="en-US" sz="1400" b="0" i="0" u="none" strike="noStrike" kern="1200" cap="none" spc="60" err="1">
                        <a:solidFill>
                          <a:schemeClr val="bg1"/>
                        </a:solidFill>
                        <a:effectLst/>
                        <a:latin typeface="Calibri"/>
                        <a:ea typeface="Calibri"/>
                        <a:cs typeface="Calibri"/>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None/>
                      </a:pPr>
                      <a:r>
                        <a:rPr lang="en-US" sz="1400" b="0" i="0" u="none" strike="noStrike" kern="1200" cap="none" spc="60" err="1">
                          <a:solidFill>
                            <a:schemeClr val="bg1"/>
                          </a:solidFill>
                          <a:effectLst/>
                          <a:latin typeface="Calibri"/>
                          <a:ea typeface="Calibri"/>
                          <a:cs typeface="Calibri"/>
                        </a:rPr>
                        <a:t>Markandeyulu</a:t>
                      </a:r>
                      <a:r>
                        <a:rPr lang="en-US" sz="1400" b="0" i="0" u="none" strike="noStrike" kern="1200" cap="none" spc="60">
                          <a:solidFill>
                            <a:schemeClr val="bg1"/>
                          </a:solidFill>
                          <a:effectLst/>
                          <a:latin typeface="Calibri"/>
                          <a:ea typeface="Calibri"/>
                          <a:cs typeface="Calibri"/>
                        </a:rPr>
                        <a:t> </a:t>
                      </a:r>
                      <a:r>
                        <a:rPr lang="en-US" sz="1400" b="0" i="0" u="none" strike="noStrike" kern="1200" cap="none" spc="60" err="1">
                          <a:solidFill>
                            <a:schemeClr val="bg1"/>
                          </a:solidFill>
                          <a:effectLst/>
                          <a:latin typeface="Calibri"/>
                          <a:ea typeface="Calibri"/>
                          <a:cs typeface="Calibri"/>
                        </a:rPr>
                        <a:t>Pathalla</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lvl="0" algn="l" defTabSz="914400" rtl="0">
                        <a:buNone/>
                      </a:pPr>
                      <a:r>
                        <a:rPr lang="en-US" sz="1400" b="1" u="none" strike="noStrike" kern="1200" cap="none" spc="60">
                          <a:solidFill>
                            <a:schemeClr val="bg1"/>
                          </a:solidFill>
                          <a:effectLst/>
                          <a:latin typeface="Calibri"/>
                          <a:ea typeface="Calibri"/>
                          <a:cs typeface="Calibri"/>
                        </a:rPr>
                        <a:t>Release</a:t>
                      </a:r>
                      <a:endParaRPr lang="en-US"/>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N26.07(TBD)</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68573265"/>
                  </a:ext>
                </a:extLst>
              </a:tr>
              <a:tr h="1207087">
                <a:tc gridSpan="8">
                  <a:txBody>
                    <a:bodyPr/>
                    <a:lstStyle/>
                    <a:p>
                      <a:r>
                        <a:rPr lang="en-US" sz="12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a:t>
                      </a:r>
                    </a:p>
                    <a:p>
                      <a:pPr marL="0" lvl="0" indent="0" algn="l" rtl="0">
                        <a:buNone/>
                      </a:pPr>
                      <a:endParaRPr lang="en-US" sz="1200" b="0" u="none" strike="noStrike" kern="1200" cap="none" spc="0">
                        <a:solidFill>
                          <a:schemeClr val="tx1"/>
                        </a:solidFill>
                        <a:effectLst/>
                        <a:latin typeface="Calibri"/>
                        <a:ea typeface="Calibri"/>
                        <a:cs typeface="Calibri"/>
                      </a:endParaRPr>
                    </a:p>
                    <a:p>
                      <a:pPr marL="171450" lvl="0" indent="-171450" algn="l" rtl="0">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As part of upcoming 26.07 Release (TBD), two changes for RxConsult are planned namely Medication error popup and OML call optimization. </a:t>
                      </a:r>
                      <a:endParaRPr lang="en-US"/>
                    </a:p>
                    <a:p>
                      <a:pPr marL="171450" lvl="0" indent="-171450" algn="l">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Test design is 100% completed.</a:t>
                      </a:r>
                    </a:p>
                    <a:p>
                      <a:pPr marL="171450" lvl="0" indent="-171450" algn="l">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Test Execution is started and 10% completed.</a:t>
                      </a:r>
                    </a:p>
                    <a:p>
                      <a:pPr marL="171450" lvl="0" indent="-171450" algn="l">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Cloud 3.0 Migration is completed, and release is planned for 7/29.</a:t>
                      </a:r>
                    </a:p>
                  </a:txBody>
                  <a:tcPr marL="108022" marR="12002" marT="12468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1207087">
                <a:tc gridSpan="8">
                  <a:txBody>
                    <a:bodyPr/>
                    <a:lstStyle/>
                    <a:p>
                      <a:pPr marL="171450" lvl="0" indent="-171450" algn="l">
                        <a:buFont typeface="Arial"/>
                        <a:buChar char="•"/>
                      </a:pPr>
                      <a:endParaRPr lang="en-US" sz="1200" b="0" u="none" strike="noStrike" kern="1200" cap="none" spc="0">
                        <a:solidFill>
                          <a:schemeClr val="tx1"/>
                        </a:solidFill>
                        <a:effectLst/>
                        <a:latin typeface="Calibri"/>
                        <a:ea typeface="Calibri"/>
                        <a:cs typeface="Calibri"/>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62123966"/>
                  </a:ext>
                </a:extLst>
              </a:tr>
            </a:tbl>
          </a:graphicData>
        </a:graphic>
      </p:graphicFrame>
      <p:graphicFrame>
        <p:nvGraphicFramePr>
          <p:cNvPr id="3" name="Table 2">
            <a:extLst>
              <a:ext uri="{FF2B5EF4-FFF2-40B4-BE49-F238E27FC236}">
                <a16:creationId xmlns:a16="http://schemas.microsoft.com/office/drawing/2014/main" id="{A87BF98A-031B-350F-D2E8-AB359C96B44E}"/>
              </a:ext>
            </a:extLst>
          </p:cNvPr>
          <p:cNvGraphicFramePr>
            <a:graphicFrameLocks noGrp="1"/>
          </p:cNvGraphicFramePr>
          <p:nvPr>
            <p:extLst>
              <p:ext uri="{D42A27DB-BD31-4B8C-83A1-F6EECF244321}">
                <p14:modId xmlns:p14="http://schemas.microsoft.com/office/powerpoint/2010/main" val="908433396"/>
              </p:ext>
            </p:extLst>
          </p:nvPr>
        </p:nvGraphicFramePr>
        <p:xfrm>
          <a:off x="283224" y="3239713"/>
          <a:ext cx="11615678" cy="2916809"/>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1343026">
                <a:tc>
                  <a:txBody>
                    <a:bodyPr/>
                    <a:lstStyle/>
                    <a:p>
                      <a:pPr marL="0" marR="0" lvl="0" indent="0" algn="l" rtl="0" eaLnBrk="1" fontAlgn="t" latinLnBrk="0" hangingPunct="1">
                        <a:lnSpc>
                          <a:spcPct val="100000"/>
                        </a:lnSpc>
                        <a:spcBef>
                          <a:spcPts val="0"/>
                        </a:spcBef>
                        <a:spcAft>
                          <a:spcPts val="0"/>
                        </a:spcAft>
                        <a:buClrTx/>
                        <a:buSzTx/>
                        <a:buFontTx/>
                        <a:buNone/>
                      </a:pPr>
                      <a:r>
                        <a:rPr lang="en-US" sz="1200" b="1" u="none" strike="noStrike" kern="1200" cap="none" spc="0">
                          <a:solidFill>
                            <a:schemeClr val="tx1"/>
                          </a:solidFill>
                          <a:effectLst/>
                          <a:latin typeface="Calibri"/>
                          <a:ea typeface="Calibri"/>
                          <a:cs typeface="Calibri"/>
                        </a:rPr>
                        <a:t>Challenges (risks / issues): NA</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u="none" strike="noStrike" kern="1200" cap="none" spc="0">
                        <a:solidFill>
                          <a:schemeClr val="tx1"/>
                        </a:solidFill>
                        <a:effectLst/>
                        <a:latin typeface="Calibri"/>
                        <a:ea typeface="Calibri"/>
                        <a:cs typeface="Calibri"/>
                      </a:endParaRPr>
                    </a:p>
                    <a:p>
                      <a:pPr marL="0" marR="0" lvl="0" indent="0" algn="l" defTabSz="914400" rtl="0" eaLnBrk="1" fontAlgn="t" latinLnBrk="0" hangingPunct="1">
                        <a:lnSpc>
                          <a:spcPct val="100000"/>
                        </a:lnSpc>
                        <a:spcBef>
                          <a:spcPts val="0"/>
                        </a:spcBef>
                        <a:spcAft>
                          <a:spcPts val="0"/>
                        </a:spcAft>
                        <a:buClrTx/>
                        <a:buSzTx/>
                        <a:buNone/>
                        <a:tabLst/>
                        <a:defRPr/>
                      </a:pPr>
                      <a:endParaRPr lang="en-US" sz="1200" b="0" i="0" u="none" strike="noStrike" kern="1200" cap="none" spc="0">
                        <a:solidFill>
                          <a:schemeClr val="tx1"/>
                        </a:solidFill>
                        <a:effectLst/>
                        <a:latin typeface="Calibri"/>
                        <a:ea typeface="Calibri"/>
                        <a:cs typeface="Calibri"/>
                      </a:endParaRP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1" u="none" strike="noStrike" kern="1200" cap="none" spc="0">
                          <a:solidFill>
                            <a:schemeClr val="tx1"/>
                          </a:solidFill>
                          <a:effectLst/>
                          <a:latin typeface="Calibri"/>
                          <a:ea typeface="Calibri"/>
                          <a:cs typeface="Calibri"/>
                        </a:rPr>
                        <a:t>Action Needed / Action Taken (for the identified risks/issues):NA</a:t>
                      </a:r>
                    </a:p>
                  </a:txBody>
                  <a:tcPr marL="1200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573783">
                <a:tc gridSpan="2">
                  <a:txBody>
                    <a:bodyPr/>
                    <a:lstStyle/>
                    <a:p>
                      <a:pPr algn="l" fontAlgn="t">
                        <a:buNone/>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Automation Regression Updates : </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No in-release Regression.</a:t>
                      </a: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6" name="Table 5">
            <a:extLst>
              <a:ext uri="{FF2B5EF4-FFF2-40B4-BE49-F238E27FC236}">
                <a16:creationId xmlns:a16="http://schemas.microsoft.com/office/drawing/2014/main" id="{C90F24EA-50B3-7535-036F-33DF32AEC560}"/>
              </a:ext>
            </a:extLst>
          </p:cNvPr>
          <p:cNvGraphicFramePr>
            <a:graphicFrameLocks noGrp="1"/>
          </p:cNvGraphicFramePr>
          <p:nvPr>
            <p:extLst>
              <p:ext uri="{D42A27DB-BD31-4B8C-83A1-F6EECF244321}">
                <p14:modId xmlns:p14="http://schemas.microsoft.com/office/powerpoint/2010/main" val="2558783697"/>
              </p:ext>
            </p:extLst>
          </p:nvPr>
        </p:nvGraphicFramePr>
        <p:xfrm>
          <a:off x="312057" y="2315028"/>
          <a:ext cx="11599804" cy="958149"/>
        </p:xfrm>
        <a:graphic>
          <a:graphicData uri="http://schemas.openxmlformats.org/drawingml/2006/table">
            <a:tbl>
              <a:tblPr bandRow="1">
                <a:tableStyleId>{5C22544A-7EE6-4342-B048-85BDC9FD1C3A}</a:tableStyleId>
              </a:tblPr>
              <a:tblGrid>
                <a:gridCol w="1437169">
                  <a:extLst>
                    <a:ext uri="{9D8B030D-6E8A-4147-A177-3AD203B41FA5}">
                      <a16:colId xmlns:a16="http://schemas.microsoft.com/office/drawing/2014/main" val="2900497794"/>
                    </a:ext>
                  </a:extLst>
                </a:gridCol>
                <a:gridCol w="1437169">
                  <a:extLst>
                    <a:ext uri="{9D8B030D-6E8A-4147-A177-3AD203B41FA5}">
                      <a16:colId xmlns:a16="http://schemas.microsoft.com/office/drawing/2014/main" val="3251269264"/>
                    </a:ext>
                  </a:extLst>
                </a:gridCol>
                <a:gridCol w="1454485">
                  <a:extLst>
                    <a:ext uri="{9D8B030D-6E8A-4147-A177-3AD203B41FA5}">
                      <a16:colId xmlns:a16="http://schemas.microsoft.com/office/drawing/2014/main" val="2870420302"/>
                    </a:ext>
                  </a:extLst>
                </a:gridCol>
                <a:gridCol w="1419854">
                  <a:extLst>
                    <a:ext uri="{9D8B030D-6E8A-4147-A177-3AD203B41FA5}">
                      <a16:colId xmlns:a16="http://schemas.microsoft.com/office/drawing/2014/main" val="2180620326"/>
                    </a:ext>
                  </a:extLst>
                </a:gridCol>
                <a:gridCol w="1419854">
                  <a:extLst>
                    <a:ext uri="{9D8B030D-6E8A-4147-A177-3AD203B41FA5}">
                      <a16:colId xmlns:a16="http://schemas.microsoft.com/office/drawing/2014/main" val="1218424629"/>
                    </a:ext>
                  </a:extLst>
                </a:gridCol>
                <a:gridCol w="1437169">
                  <a:extLst>
                    <a:ext uri="{9D8B030D-6E8A-4147-A177-3AD203B41FA5}">
                      <a16:colId xmlns:a16="http://schemas.microsoft.com/office/drawing/2014/main" val="1089504975"/>
                    </a:ext>
                  </a:extLst>
                </a:gridCol>
                <a:gridCol w="1497052">
                  <a:extLst>
                    <a:ext uri="{9D8B030D-6E8A-4147-A177-3AD203B41FA5}">
                      <a16:colId xmlns:a16="http://schemas.microsoft.com/office/drawing/2014/main" val="488800580"/>
                    </a:ext>
                  </a:extLst>
                </a:gridCol>
                <a:gridCol w="1497052">
                  <a:extLst>
                    <a:ext uri="{9D8B030D-6E8A-4147-A177-3AD203B41FA5}">
                      <a16:colId xmlns:a16="http://schemas.microsoft.com/office/drawing/2014/main" val="2964544653"/>
                    </a:ext>
                  </a:extLst>
                </a:gridCol>
              </a:tblGrid>
              <a:tr h="320260">
                <a:tc>
                  <a:txBody>
                    <a:bodyPr/>
                    <a:lstStyle/>
                    <a:p>
                      <a:pPr algn="ctr">
                        <a:buNone/>
                      </a:pPr>
                      <a:r>
                        <a:rPr lang="en-US" sz="1100" b="1">
                          <a:effectLst/>
                          <a:latin typeface="Calibri"/>
                          <a:ea typeface="Calibri"/>
                          <a:cs typeface="Calibri"/>
                        </a:rPr>
                        <a:t># User stories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lumMod val="40000"/>
                        <a:lumOff val="60000"/>
                      </a:schemeClr>
                    </a:solidFill>
                  </a:tcPr>
                </a:tc>
                <a:tc>
                  <a:txBody>
                    <a:bodyPr/>
                    <a:lstStyle/>
                    <a:p>
                      <a:pPr algn="ctr">
                        <a:buNone/>
                      </a:pPr>
                      <a:r>
                        <a:rPr lang="en-US" sz="1100" b="1">
                          <a:effectLst/>
                          <a:latin typeface="Calibri"/>
                          <a:ea typeface="Calibri"/>
                          <a:cs typeface="Calibri"/>
                        </a:rPr>
                        <a:t>Test design Status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lumMod val="40000"/>
                        <a:lumOff val="60000"/>
                      </a:schemeClr>
                    </a:solidFill>
                  </a:tcPr>
                </a:tc>
                <a:tc>
                  <a:txBody>
                    <a:bodyPr/>
                    <a:lstStyle/>
                    <a:p>
                      <a:pPr algn="ctr">
                        <a:buNone/>
                      </a:pPr>
                      <a:r>
                        <a:rPr lang="en-US" sz="1100" b="1">
                          <a:effectLst/>
                          <a:latin typeface="Calibri"/>
                          <a:ea typeface="Calibri"/>
                          <a:cs typeface="Calibri"/>
                        </a:rPr>
                        <a:t>Test Design %</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accent2">
                        <a:lumMod val="40000"/>
                        <a:lumOff val="60000"/>
                      </a:schemeClr>
                    </a:solidFill>
                  </a:tcPr>
                </a:tc>
                <a:tc>
                  <a:txBody>
                    <a:bodyPr/>
                    <a:lstStyle/>
                    <a:p>
                      <a:pPr algn="ctr" rtl="0" fontAlgn="base">
                        <a:lnSpc>
                          <a:spcPts val="750"/>
                        </a:lnSpc>
                        <a:buNone/>
                      </a:pPr>
                      <a:r>
                        <a:rPr lang="en-US" sz="1100" b="1" i="0" u="none" strike="noStrike">
                          <a:solidFill>
                            <a:srgbClr val="000000"/>
                          </a:solidFill>
                          <a:effectLst/>
                          <a:latin typeface="Calibri" panose="020F0502020204030204" pitchFamily="34" charset="0"/>
                        </a:rPr>
                        <a:t>Test Design through AI Tools (Sulfur &amp; Strider)</a:t>
                      </a:r>
                      <a:r>
                        <a:rPr lang="en-US" sz="1100" b="0" i="0">
                          <a:solidFill>
                            <a:srgbClr val="000000"/>
                          </a:solidFill>
                          <a:effectLst/>
                          <a:latin typeface="Calibri" panose="020F0502020204030204" pitchFamily="34" charset="0"/>
                        </a:rPr>
                        <a:t>​</a:t>
                      </a:r>
                      <a:endParaRPr lang="en-US" b="0" i="0">
                        <a:solidFill>
                          <a:srgbClr val="000000"/>
                        </a:solidFill>
                        <a:effectLst/>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en-US" sz="1100" b="1">
                          <a:effectLst/>
                          <a:latin typeface="Calibri"/>
                          <a:ea typeface="Calibri"/>
                          <a:cs typeface="Calibri"/>
                        </a:rPr>
                        <a:t>Test Execution Status</a:t>
                      </a: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solidFill>
                      <a:schemeClr val="accent2">
                        <a:lumMod val="40000"/>
                        <a:lumOff val="60000"/>
                      </a:schemeClr>
                    </a:solidFill>
                  </a:tcPr>
                </a:tc>
                <a:tc>
                  <a:txBody>
                    <a:bodyPr/>
                    <a:lstStyle/>
                    <a:p>
                      <a:pPr algn="ctr">
                        <a:buNone/>
                      </a:pPr>
                      <a:r>
                        <a:rPr lang="en-US" sz="1100" b="1">
                          <a:effectLst/>
                          <a:latin typeface="Calibri"/>
                          <a:ea typeface="Calibri"/>
                          <a:cs typeface="Calibri"/>
                        </a:rPr>
                        <a:t>Test Execution %</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lumMod val="40000"/>
                        <a:lumOff val="60000"/>
                      </a:schemeClr>
                    </a:solidFill>
                  </a:tcPr>
                </a:tc>
                <a:tc>
                  <a:txBody>
                    <a:bodyPr/>
                    <a:lstStyle/>
                    <a:p>
                      <a:pPr algn="ctr">
                        <a:buNone/>
                      </a:pPr>
                      <a:r>
                        <a:rPr lang="en-US" sz="1100" b="1">
                          <a:effectLst/>
                          <a:latin typeface="Calibri"/>
                          <a:ea typeface="Calibri"/>
                          <a:cs typeface="Calibri"/>
                        </a:rPr>
                        <a:t>Testing Completion date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lumMod val="40000"/>
                        <a:lumOff val="60000"/>
                      </a:schemeClr>
                    </a:solidFill>
                  </a:tcPr>
                </a:tc>
                <a:tc>
                  <a:txBody>
                    <a:bodyPr/>
                    <a:lstStyle/>
                    <a:p>
                      <a:pPr algn="ctr">
                        <a:buNone/>
                      </a:pPr>
                      <a:r>
                        <a:rPr lang="en-US" sz="1100" b="1">
                          <a:effectLst/>
                          <a:latin typeface="Calibri"/>
                          <a:ea typeface="Calibri"/>
                          <a:cs typeface="Calibri"/>
                        </a:rPr>
                        <a:t>Release date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lumMod val="40000"/>
                        <a:lumOff val="60000"/>
                      </a:schemeClr>
                    </a:solidFill>
                  </a:tcPr>
                </a:tc>
                <a:extLst>
                  <a:ext uri="{0D108BD9-81ED-4DB2-BD59-A6C34878D82A}">
                    <a16:rowId xmlns:a16="http://schemas.microsoft.com/office/drawing/2014/main" val="5881135"/>
                  </a:ext>
                </a:extLst>
              </a:tr>
              <a:tr h="549018">
                <a:tc>
                  <a:txBody>
                    <a:bodyPr/>
                    <a:lstStyle/>
                    <a:p>
                      <a:pPr algn="ctr">
                        <a:buNone/>
                      </a:pPr>
                      <a:r>
                        <a:rPr lang="en-US" sz="1100">
                          <a:effectLst/>
                          <a:latin typeface="Calibri"/>
                          <a:ea typeface="Calibri"/>
                          <a:cs typeface="Calibri"/>
                        </a:rPr>
                        <a:t>12</a:t>
                      </a: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buNone/>
                      </a:pPr>
                      <a:r>
                        <a:rPr lang="en-US" sz="1100">
                          <a:effectLst/>
                          <a:latin typeface="Calibri"/>
                          <a:ea typeface="Calibri"/>
                          <a:cs typeface="Calibri"/>
                        </a:rPr>
                        <a:t>Completed</a:t>
                      </a:r>
                      <a:endParaRPr lang="en-US" sz="1100" err="1">
                        <a:effectLst/>
                        <a:latin typeface="Calibri"/>
                        <a:ea typeface="Calibri"/>
                        <a:cs typeface="Calibri"/>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buNone/>
                      </a:pPr>
                      <a:r>
                        <a:rPr lang="en-US" sz="1100">
                          <a:effectLst/>
                          <a:latin typeface="Calibri"/>
                          <a:ea typeface="Calibri"/>
                          <a:cs typeface="Calibri"/>
                        </a:rPr>
                        <a:t>100%</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rtl="0" fontAlgn="base">
                        <a:lnSpc>
                          <a:spcPts val="750"/>
                        </a:lnSpc>
                        <a:buNone/>
                      </a:pPr>
                      <a:r>
                        <a:rPr lang="en-US" sz="1100" b="0" i="0" u="none" strike="noStrike">
                          <a:solidFill>
                            <a:srgbClr val="000000"/>
                          </a:solidFill>
                          <a:effectLst/>
                          <a:latin typeface="Aptos Narrow"/>
                        </a:rPr>
                        <a:t>40%</a:t>
                      </a:r>
                      <a:r>
                        <a:rPr lang="en-US" sz="1100" b="0" i="0">
                          <a:solidFill>
                            <a:srgbClr val="000000"/>
                          </a:solidFill>
                          <a:effectLst/>
                          <a:latin typeface="Aptos Narrow"/>
                        </a:rPr>
                        <a:t>​</a:t>
                      </a:r>
                      <a:endParaRPr lang="en-US" b="0" i="0">
                        <a:solidFill>
                          <a:srgbClr val="000000"/>
                        </a:solidFill>
                        <a:effectLst/>
                        <a:latin typeface="Aptos Narrow"/>
                      </a:endParaRP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en-US" sz="1100">
                          <a:effectLst/>
                          <a:latin typeface="Calibri"/>
                          <a:ea typeface="Calibri"/>
                          <a:cs typeface="Calibri"/>
                        </a:rPr>
                        <a:t>Inprogress</a:t>
                      </a:r>
                      <a:endParaRPr lang="en-US" sz="1100" err="1">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100">
                          <a:effectLst/>
                          <a:latin typeface="Calibri"/>
                          <a:ea typeface="Calibri"/>
                          <a:cs typeface="Calibri"/>
                        </a:rPr>
                        <a:t>10%</a:t>
                      </a: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buNone/>
                      </a:pPr>
                      <a:r>
                        <a:rPr lang="en-US" sz="1100">
                          <a:effectLst/>
                          <a:latin typeface="Calibri"/>
                          <a:ea typeface="Calibri"/>
                          <a:cs typeface="Calibri"/>
                        </a:rPr>
                        <a:t>TBD</a:t>
                      </a: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buNone/>
                      </a:pPr>
                      <a:r>
                        <a:rPr lang="en-CA" sz="1100">
                          <a:effectLst/>
                          <a:latin typeface="Calibri"/>
                          <a:ea typeface="Calibri"/>
                          <a:cs typeface="Calibri"/>
                        </a:rPr>
                        <a:t>TBD</a:t>
                      </a:r>
                      <a:endParaRPr lang="en-US" sz="1100">
                        <a:effectLst/>
                        <a:latin typeface="Calibri"/>
                        <a:ea typeface="Calibri"/>
                        <a:cs typeface="Calibri"/>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0632753"/>
                  </a:ext>
                </a:extLst>
              </a:tr>
            </a:tbl>
          </a:graphicData>
        </a:graphic>
      </p:graphicFrame>
    </p:spTree>
    <p:extLst>
      <p:ext uri="{BB962C8B-B14F-4D97-AF65-F5344CB8AC3E}">
        <p14:creationId xmlns:p14="http://schemas.microsoft.com/office/powerpoint/2010/main" val="858305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2235-43FA-54F8-AA8E-F9855E39B7E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8980D6D-9AED-7052-F87E-FC2EC7595005}"/>
              </a:ext>
            </a:extLst>
          </p:cNvPr>
          <p:cNvGraphicFramePr>
            <a:graphicFrameLocks noGrp="1"/>
          </p:cNvGraphicFramePr>
          <p:nvPr>
            <p:extLst>
              <p:ext uri="{D42A27DB-BD31-4B8C-83A1-F6EECF244321}">
                <p14:modId xmlns:p14="http://schemas.microsoft.com/office/powerpoint/2010/main" val="112555662"/>
              </p:ext>
            </p:extLst>
          </p:nvPr>
        </p:nvGraphicFramePr>
        <p:xfrm>
          <a:off x="345056" y="71886"/>
          <a:ext cx="11615848" cy="1782750"/>
        </p:xfrm>
        <a:graphic>
          <a:graphicData uri="http://schemas.openxmlformats.org/drawingml/2006/table">
            <a:tbl>
              <a:tblPr firstRow="1" bandRow="1">
                <a:noFill/>
                <a:tableStyleId>{5940675A-B579-460E-94D1-54222C63F5DA}</a:tableStyleId>
              </a:tblPr>
              <a:tblGrid>
                <a:gridCol w="1125156">
                  <a:extLst>
                    <a:ext uri="{9D8B030D-6E8A-4147-A177-3AD203B41FA5}">
                      <a16:colId xmlns:a16="http://schemas.microsoft.com/office/drawing/2014/main" val="3592680666"/>
                    </a:ext>
                  </a:extLst>
                </a:gridCol>
                <a:gridCol w="1315318">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204139">
                  <a:extLst>
                    <a:ext uri="{9D8B030D-6E8A-4147-A177-3AD203B41FA5}">
                      <a16:colId xmlns:a16="http://schemas.microsoft.com/office/drawing/2014/main" val="2428918094"/>
                    </a:ext>
                  </a:extLst>
                </a:gridCol>
                <a:gridCol w="1165412">
                  <a:extLst>
                    <a:ext uri="{9D8B030D-6E8A-4147-A177-3AD203B41FA5}">
                      <a16:colId xmlns:a16="http://schemas.microsoft.com/office/drawing/2014/main" val="2434076975"/>
                    </a:ext>
                  </a:extLst>
                </a:gridCol>
                <a:gridCol w="2145457">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636983">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err="1">
                          <a:solidFill>
                            <a:schemeClr val="bg1"/>
                          </a:solidFill>
                          <a:effectLst/>
                          <a:latin typeface="Calibri"/>
                          <a:ea typeface="Calibri"/>
                          <a:cs typeface="Calibri"/>
                        </a:rPr>
                        <a:t>SilentHeroes</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Application(s) Name</a:t>
                      </a:r>
                      <a:endParaRPr lang="en-US" sz="1400" b="1" u="none" strike="noStrike" kern="1200" cap="none" spc="60" noProof="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MTM</a:t>
                      </a:r>
                      <a:endPar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None/>
                      </a:pPr>
                      <a:r>
                        <a:rPr lang="en-US" sz="1400" b="0" i="0" u="none" strike="noStrike" kern="1200" cap="none" spc="60">
                          <a:solidFill>
                            <a:schemeClr val="bg1"/>
                          </a:solidFill>
                          <a:effectLst/>
                          <a:latin typeface="Calibri"/>
                          <a:ea typeface="Calibri"/>
                          <a:cs typeface="Calibri"/>
                        </a:rPr>
                        <a:t>Vani, Abhishek</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a:ea typeface="Calibri"/>
                          <a:cs typeface="Calibri"/>
                        </a:rPr>
                        <a:t>Release</a:t>
                      </a:r>
                      <a:endParaRPr lang="en-US"/>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ClrTx/>
                        <a:buSzTx/>
                        <a:buFontTx/>
                        <a:buNone/>
                      </a:pPr>
                      <a:endParaRPr lang="en-US" sz="1400" b="0" i="0" u="none" strike="noStrike" kern="1200" cap="none" spc="60">
                        <a:solidFill>
                          <a:schemeClr val="bg1"/>
                        </a:solidFill>
                        <a:effectLst/>
                        <a:latin typeface="Calibri"/>
                        <a:ea typeface="Calibri"/>
                        <a:cs typeface="Calibri"/>
                      </a:endParaRPr>
                    </a:p>
                    <a:p>
                      <a:pPr marL="0" marR="0" lvl="0" indent="0" algn="l" defTabSz="914400">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a:ea typeface="Calibri"/>
                          <a:cs typeface="Calibri"/>
                        </a:rPr>
                        <a:t>13.05</a:t>
                      </a:r>
                      <a:endParaRPr lang="en-US" sz="1400">
                        <a:solidFill>
                          <a:schemeClr val="bg1"/>
                        </a:solidFill>
                        <a:latin typeface="Calibri"/>
                        <a:ea typeface="Calibri"/>
                        <a:cs typeface="Calibri"/>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68573265"/>
                  </a:ext>
                </a:extLst>
              </a:tr>
              <a:tr h="977122">
                <a:tc gridSpan="8">
                  <a:txBody>
                    <a:bodyPr/>
                    <a:lstStyle/>
                    <a:p>
                      <a:r>
                        <a:rPr lang="en-US" sz="12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a:t>
                      </a:r>
                    </a:p>
                    <a:p>
                      <a:pPr lvl="0">
                        <a:buNone/>
                      </a:pPr>
                      <a:endParaRPr lang="en-US" sz="1100" b="1">
                        <a:solidFill>
                          <a:schemeClr val="tx1"/>
                        </a:solidFill>
                        <a:latin typeface="Calibri"/>
                        <a:ea typeface="Calibri"/>
                        <a:cs typeface="Calibri"/>
                      </a:endParaRPr>
                    </a:p>
                    <a:p>
                      <a:pPr marL="171450" lvl="0" indent="-171450" algn="l">
                        <a:buFont typeface="Arial"/>
                        <a:buChar char="•"/>
                      </a:pPr>
                      <a:r>
                        <a:rPr lang="en-US" sz="1100" b="0" i="0" u="none" strike="noStrike" kern="1200" cap="none" spc="0" noProof="0">
                          <a:solidFill>
                            <a:schemeClr val="tx1"/>
                          </a:solidFill>
                          <a:effectLst/>
                        </a:rPr>
                        <a:t>The following changes are planned for 07/22 Release namely TLM Snap logic to Databricks Migration </a:t>
                      </a:r>
                      <a:r>
                        <a:rPr lang="en-US" sz="1100" b="0" i="0" u="none" strike="noStrike" kern="1200" cap="none" spc="0" noProof="0">
                          <a:solidFill>
                            <a:schemeClr val="tx1"/>
                          </a:solidFill>
                          <a:effectLst/>
                          <a:latin typeface="Segoe UI"/>
                          <a:cs typeface="Segoe UI"/>
                        </a:rPr>
                        <a:t>for </a:t>
                      </a:r>
                      <a:r>
                        <a:rPr lang="en-US" sz="1100" b="1" i="0" u="none" strike="noStrike" kern="1200" cap="none" spc="0" noProof="0">
                          <a:solidFill>
                            <a:schemeClr val="tx1"/>
                          </a:solidFill>
                          <a:effectLst/>
                          <a:latin typeface="Segoe UI"/>
                          <a:cs typeface="Segoe UI"/>
                        </a:rPr>
                        <a:t>7 MTM pipelines</a:t>
                      </a:r>
                      <a:r>
                        <a:rPr lang="en-US" sz="1100" b="0" i="0" u="none" strike="noStrike" kern="1200" cap="none" spc="0" noProof="0">
                          <a:solidFill>
                            <a:schemeClr val="tx1"/>
                          </a:solidFill>
                          <a:effectLst/>
                          <a:latin typeface="Segoe UI"/>
                          <a:cs typeface="Segoe UI"/>
                        </a:rPr>
                        <a:t> was completed </a:t>
                      </a:r>
                      <a:r>
                        <a:rPr lang="en-US" sz="1100" b="0" i="0" u="none" strike="noStrike" kern="1200" cap="none" spc="0" noProof="0">
                          <a:solidFill>
                            <a:schemeClr val="tx1"/>
                          </a:solidFill>
                          <a:effectLst/>
                        </a:rPr>
                        <a:t>and 1 MTM Eligibility File Change</a:t>
                      </a:r>
                      <a:endParaRPr lang="en-US"/>
                    </a:p>
                    <a:p>
                      <a:pPr marL="171450" lvl="0" indent="-171450" algn="l" rtl="0">
                        <a:buFont typeface="Arial"/>
                        <a:buChar char="•"/>
                      </a:pPr>
                      <a:r>
                        <a:rPr lang="en-US" sz="1100" b="0" i="0" u="none" strike="noStrike" kern="1200" cap="none" spc="0" noProof="0">
                          <a:solidFill>
                            <a:schemeClr val="tx1"/>
                          </a:solidFill>
                          <a:effectLst/>
                          <a:latin typeface="+mn-lt"/>
                          <a:ea typeface="+mn-ea"/>
                          <a:cs typeface="+mn-cs"/>
                        </a:rPr>
                        <a:t>Test Design is 100% Completed.</a:t>
                      </a:r>
                    </a:p>
                    <a:p>
                      <a:pPr marL="171450" lvl="0" indent="-171450" algn="l" rtl="0">
                        <a:buFont typeface="Arial"/>
                        <a:buChar char="•"/>
                      </a:pPr>
                      <a:r>
                        <a:rPr lang="en-US" sz="1100" b="0" i="0" u="none" strike="noStrike" kern="1200" cap="none" spc="0" noProof="0">
                          <a:solidFill>
                            <a:schemeClr val="tx1"/>
                          </a:solidFill>
                          <a:effectLst/>
                          <a:latin typeface="+mn-lt"/>
                          <a:ea typeface="+mn-ea"/>
                          <a:cs typeface="+mn-cs"/>
                        </a:rPr>
                        <a:t>Test Execution was completed </a:t>
                      </a:r>
                    </a:p>
                    <a:p>
                      <a:pPr marL="0" lvl="0" indent="0" algn="l">
                        <a:buNone/>
                      </a:pPr>
                      <a:endParaRPr lang="en-US" sz="1100" b="0" i="0" u="none" strike="noStrike" kern="1200" cap="none" spc="0" noProof="0">
                        <a:solidFill>
                          <a:schemeClr val="tx1"/>
                        </a:solidFill>
                        <a:effectLst/>
                      </a:endParaRPr>
                    </a:p>
                  </a:txBody>
                  <a:tcPr marL="108022" marR="12002" marT="124687" marB="0" anchor="ctr">
                    <a:lnL w="12700" cmpd="sng">
                      <a:noFill/>
                    </a:lnL>
                    <a:lnR w="12700" cmpd="sng">
                      <a:noFill/>
                    </a:lnR>
                    <a:lnT w="12700" cap="flat" cmpd="sng" algn="ctr">
                      <a:noFill/>
                      <a:prstDash val="solid"/>
                      <a:round/>
                      <a:headEnd type="none" w="med" len="med"/>
                      <a:tailEnd type="none" w="med" len="me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DCE624EE-5A3D-37C7-8660-61B98C6B0784}"/>
              </a:ext>
            </a:extLst>
          </p:cNvPr>
          <p:cNvGraphicFramePr>
            <a:graphicFrameLocks noGrp="1"/>
          </p:cNvGraphicFramePr>
          <p:nvPr>
            <p:extLst>
              <p:ext uri="{D42A27DB-BD31-4B8C-83A1-F6EECF244321}">
                <p14:modId xmlns:p14="http://schemas.microsoft.com/office/powerpoint/2010/main" val="437373059"/>
              </p:ext>
            </p:extLst>
          </p:nvPr>
        </p:nvGraphicFramePr>
        <p:xfrm>
          <a:off x="137885" y="3730171"/>
          <a:ext cx="11773470" cy="2199664"/>
        </p:xfrm>
        <a:graphic>
          <a:graphicData uri="http://schemas.openxmlformats.org/drawingml/2006/table">
            <a:tbl>
              <a:tblPr firstRow="1" bandRow="1">
                <a:noFill/>
                <a:tableStyleId>{5940675A-B579-460E-94D1-54222C63F5DA}</a:tableStyleId>
              </a:tblPr>
              <a:tblGrid>
                <a:gridCol w="6013342">
                  <a:extLst>
                    <a:ext uri="{9D8B030D-6E8A-4147-A177-3AD203B41FA5}">
                      <a16:colId xmlns:a16="http://schemas.microsoft.com/office/drawing/2014/main" val="3592680666"/>
                    </a:ext>
                  </a:extLst>
                </a:gridCol>
                <a:gridCol w="5760128">
                  <a:extLst>
                    <a:ext uri="{9D8B030D-6E8A-4147-A177-3AD203B41FA5}">
                      <a16:colId xmlns:a16="http://schemas.microsoft.com/office/drawing/2014/main" val="1654399098"/>
                    </a:ext>
                  </a:extLst>
                </a:gridCol>
              </a:tblGrid>
              <a:tr h="1009682">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Challenges (risks / issues): </a:t>
                      </a:r>
                      <a:r>
                        <a:rPr lang="en-US" sz="1200" b="0" i="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NA</a:t>
                      </a:r>
                    </a:p>
                    <a:p>
                      <a:pPr algn="l" fontAlgn="t">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Action Needed / Action Taken (for the identified risks/issues): </a:t>
                      </a:r>
                      <a:r>
                        <a:rPr lang="en-US" sz="1200" b="0" i="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NA</a:t>
                      </a:r>
                    </a:p>
                    <a:p>
                      <a:pPr algn="l" fontAlgn="t">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189982">
                <a:tc gridSpan="2">
                  <a:txBody>
                    <a:bodyPr/>
                    <a:lstStyle/>
                    <a:p>
                      <a:pPr algn="l" fontAlgn="t">
                        <a:buNone/>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Automation Regression Updates : </a:t>
                      </a:r>
                    </a:p>
                    <a:p>
                      <a:pPr marL="285750" lvl="0" indent="-285750" algn="l">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In Release Regression identification is in progress. ETA 07/20</a:t>
                      </a:r>
                      <a:endParaRPr lang="en-US"/>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138208D7-8BE1-2B45-41B8-796CF8576E60}"/>
              </a:ext>
            </a:extLst>
          </p:cNvPr>
          <p:cNvGraphicFramePr>
            <a:graphicFrameLocks noGrp="1"/>
          </p:cNvGraphicFramePr>
          <p:nvPr>
            <p:extLst>
              <p:ext uri="{D42A27DB-BD31-4B8C-83A1-F6EECF244321}">
                <p14:modId xmlns:p14="http://schemas.microsoft.com/office/powerpoint/2010/main" val="3512096616"/>
              </p:ext>
            </p:extLst>
          </p:nvPr>
        </p:nvGraphicFramePr>
        <p:xfrm>
          <a:off x="326571" y="2010228"/>
          <a:ext cx="11466002" cy="914245"/>
        </p:xfrm>
        <a:graphic>
          <a:graphicData uri="http://schemas.openxmlformats.org/drawingml/2006/table">
            <a:tbl>
              <a:tblPr/>
              <a:tblGrid>
                <a:gridCol w="1379213">
                  <a:extLst>
                    <a:ext uri="{9D8B030D-6E8A-4147-A177-3AD203B41FA5}">
                      <a16:colId xmlns:a16="http://schemas.microsoft.com/office/drawing/2014/main" val="383858331"/>
                    </a:ext>
                  </a:extLst>
                </a:gridCol>
                <a:gridCol w="1474617">
                  <a:extLst>
                    <a:ext uri="{9D8B030D-6E8A-4147-A177-3AD203B41FA5}">
                      <a16:colId xmlns:a16="http://schemas.microsoft.com/office/drawing/2014/main" val="4288320371"/>
                    </a:ext>
                  </a:extLst>
                </a:gridCol>
                <a:gridCol w="1474617">
                  <a:extLst>
                    <a:ext uri="{9D8B030D-6E8A-4147-A177-3AD203B41FA5}">
                      <a16:colId xmlns:a16="http://schemas.microsoft.com/office/drawing/2014/main" val="2270929281"/>
                    </a:ext>
                  </a:extLst>
                </a:gridCol>
                <a:gridCol w="1495100">
                  <a:extLst>
                    <a:ext uri="{9D8B030D-6E8A-4147-A177-3AD203B41FA5}">
                      <a16:colId xmlns:a16="http://schemas.microsoft.com/office/drawing/2014/main" val="341754072"/>
                    </a:ext>
                  </a:extLst>
                </a:gridCol>
                <a:gridCol w="1495100">
                  <a:extLst>
                    <a:ext uri="{9D8B030D-6E8A-4147-A177-3AD203B41FA5}">
                      <a16:colId xmlns:a16="http://schemas.microsoft.com/office/drawing/2014/main" val="3295045209"/>
                    </a:ext>
                  </a:extLst>
                </a:gridCol>
                <a:gridCol w="1105959">
                  <a:extLst>
                    <a:ext uri="{9D8B030D-6E8A-4147-A177-3AD203B41FA5}">
                      <a16:colId xmlns:a16="http://schemas.microsoft.com/office/drawing/2014/main" val="1923205917"/>
                    </a:ext>
                  </a:extLst>
                </a:gridCol>
                <a:gridCol w="1705025">
                  <a:extLst>
                    <a:ext uri="{9D8B030D-6E8A-4147-A177-3AD203B41FA5}">
                      <a16:colId xmlns:a16="http://schemas.microsoft.com/office/drawing/2014/main" val="3147362022"/>
                    </a:ext>
                  </a:extLst>
                </a:gridCol>
                <a:gridCol w="1336371">
                  <a:extLst>
                    <a:ext uri="{9D8B030D-6E8A-4147-A177-3AD203B41FA5}">
                      <a16:colId xmlns:a16="http://schemas.microsoft.com/office/drawing/2014/main" val="4292749998"/>
                    </a:ext>
                  </a:extLst>
                </a:gridCol>
              </a:tblGrid>
              <a:tr h="474482">
                <a:tc>
                  <a:txBody>
                    <a:bodyPr/>
                    <a:lstStyle/>
                    <a:p>
                      <a:pPr lvl="0" algn="ctr">
                        <a:buNone/>
                      </a:pPr>
                      <a:r>
                        <a:rPr lang="en-US" sz="1000" b="1" i="0" u="none" strike="noStrike">
                          <a:solidFill>
                            <a:srgbClr val="000000"/>
                          </a:solidFill>
                          <a:effectLst/>
                          <a:latin typeface="Calibri"/>
                          <a:ea typeface="Calibri"/>
                          <a:cs typeface="Calibri"/>
                        </a:rPr>
                        <a:t># User stories</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a:buNone/>
                      </a:pPr>
                      <a:r>
                        <a:rPr lang="en-US" sz="1100" b="1">
                          <a:effectLst/>
                          <a:latin typeface="Calibri"/>
                          <a:ea typeface="Calibri"/>
                          <a:cs typeface="Calibri"/>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 Design %</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base">
                        <a:lnSpc>
                          <a:spcPts val="750"/>
                        </a:lnSpc>
                        <a:buNone/>
                      </a:pPr>
                      <a:r>
                        <a:rPr lang="en-US" sz="1100" b="1" i="0" u="none" strike="noStrike">
                          <a:solidFill>
                            <a:srgbClr val="000000"/>
                          </a:solidFill>
                          <a:effectLst/>
                          <a:latin typeface="Calibri" panose="020F0502020204030204" pitchFamily="34" charset="0"/>
                        </a:rPr>
                        <a:t>Test Design through AI Tools (Sulfur &amp; Strider)</a:t>
                      </a:r>
                      <a:r>
                        <a:rPr lang="en-US" sz="1100" b="0" i="0">
                          <a:solidFill>
                            <a:srgbClr val="000000"/>
                          </a:solidFill>
                          <a:effectLst/>
                          <a:latin typeface="Calibri" panose="020F0502020204030204" pitchFamily="34" charset="0"/>
                        </a:rPr>
                        <a:t>​</a:t>
                      </a:r>
                      <a:endParaRPr lang="en-US" b="0" i="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 Execution Status</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0</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Testing Completion date</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Release date</a:t>
                      </a:r>
                      <a:endParaRPr lang="en-US"/>
                    </a:p>
                  </a:txBody>
                  <a:tcPr marL="0" marR="0" marT="0" marB="0" anchor="ctr">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solidFill>
                      <a:schemeClr val="accent2">
                        <a:lumMod val="20000"/>
                        <a:lumOff val="80000"/>
                      </a:schemeClr>
                    </a:solidFill>
                  </a:tcPr>
                </a:tc>
                <a:extLst>
                  <a:ext uri="{0D108BD9-81ED-4DB2-BD59-A6C34878D82A}">
                    <a16:rowId xmlns:a16="http://schemas.microsoft.com/office/drawing/2014/main" val="2722577613"/>
                  </a:ext>
                </a:extLst>
              </a:tr>
              <a:tr h="439763">
                <a:tc>
                  <a:txBody>
                    <a:bodyPr/>
                    <a:lstStyle/>
                    <a:p>
                      <a:pPr lvl="0" algn="ctr">
                        <a:buNone/>
                      </a:pPr>
                      <a:r>
                        <a:rPr lang="en-US" sz="1000" b="0" i="0" u="none" strike="noStrike" noProof="0">
                          <a:solidFill>
                            <a:srgbClr val="000000"/>
                          </a:solidFill>
                          <a:effectLst/>
                        </a:rPr>
                        <a:t> 7 pipeliens</a:t>
                      </a:r>
                      <a:endParaRPr lang="en-US" sz="1000" b="0" i="0" u="none" strike="noStrike" noProof="0" err="1">
                        <a:solidFill>
                          <a:srgbClr val="000000"/>
                        </a:solidFill>
                        <a:effectLs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100">
                          <a:effectLst/>
                          <a:latin typeface="Calibri"/>
                          <a:ea typeface="Calibri"/>
                          <a:cs typeface="Calibri"/>
                        </a:rPr>
                        <a:t>Completed</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Calibri"/>
                          <a:ea typeface="Calibri"/>
                          <a:cs typeface="Calibri"/>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ase">
                        <a:lnSpc>
                          <a:spcPts val="750"/>
                        </a:lnSpc>
                        <a:buNone/>
                      </a:pPr>
                      <a:r>
                        <a:rPr lang="en-US" sz="1100" b="0" i="0" u="none" strike="noStrike">
                          <a:solidFill>
                            <a:srgbClr val="000000"/>
                          </a:solidFill>
                          <a:effectLst/>
                          <a:latin typeface="Aptos Narrow" panose="020B0004020202020204" pitchFamily="34" charset="0"/>
                        </a:rPr>
                        <a:t>10%</a:t>
                      </a:r>
                      <a:r>
                        <a:rPr lang="en-US" sz="1100" b="0" i="0">
                          <a:solidFill>
                            <a:srgbClr val="000000"/>
                          </a:solidFill>
                          <a:effectLst/>
                          <a:latin typeface="Aptos Narrow" panose="020B0004020202020204" pitchFamily="34" charset="0"/>
                        </a:rPr>
                        <a:t>​</a:t>
                      </a:r>
                      <a:endParaRPr lang="en-US" b="0" i="0">
                        <a:solidFill>
                          <a:srgbClr val="000000"/>
                        </a:solidFill>
                        <a:effectLst/>
                      </a:endParaRP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Calibri"/>
                          <a:ea typeface="Calibri"/>
                          <a:cs typeface="Calibri"/>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Calibri"/>
                          <a:ea typeface="Calibri"/>
                          <a:cs typeface="Calibri"/>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noProof="0">
                          <a:solidFill>
                            <a:srgbClr val="000000"/>
                          </a:solidFill>
                          <a:effectLst/>
                          <a:latin typeface="Aptos"/>
                        </a:rPr>
                        <a:t>07/17/2026</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noProof="0">
                          <a:solidFill>
                            <a:srgbClr val="000000"/>
                          </a:solidFill>
                          <a:effectLst/>
                          <a:latin typeface="Aptos"/>
                        </a:rPr>
                        <a:t>07/22/2026</a:t>
                      </a:r>
                    </a:p>
                    <a:p>
                      <a:pPr lvl="0" algn="ctr">
                        <a:buNone/>
                      </a:pPr>
                      <a:endParaRPr lang="en-US" sz="1000" b="0" i="0" u="none" strike="noStrike" noProof="0">
                        <a:solidFill>
                          <a:srgbClr val="000000"/>
                        </a:solidFill>
                        <a:effectLst/>
                      </a:endParaRPr>
                    </a:p>
                  </a:txBody>
                  <a:tcPr marL="0" marR="0" marT="0" marB="0" anchor="ctr">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4954413"/>
                  </a:ext>
                </a:extLst>
              </a:tr>
            </a:tbl>
          </a:graphicData>
        </a:graphic>
      </p:graphicFrame>
    </p:spTree>
    <p:extLst>
      <p:ext uri="{BB962C8B-B14F-4D97-AF65-F5344CB8AC3E}">
        <p14:creationId xmlns:p14="http://schemas.microsoft.com/office/powerpoint/2010/main" val="444964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E0D74-B121-8AFA-6897-E622CEC9D1B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8199E45-FC1A-3255-5941-3E155F3000F6}"/>
              </a:ext>
            </a:extLst>
          </p:cNvPr>
          <p:cNvGraphicFramePr>
            <a:graphicFrameLocks noGrp="1"/>
          </p:cNvGraphicFramePr>
          <p:nvPr>
            <p:extLst>
              <p:ext uri="{D42A27DB-BD31-4B8C-83A1-F6EECF244321}">
                <p14:modId xmlns:p14="http://schemas.microsoft.com/office/powerpoint/2010/main" val="72315363"/>
              </p:ext>
            </p:extLst>
          </p:nvPr>
        </p:nvGraphicFramePr>
        <p:xfrm>
          <a:off x="345056" y="71886"/>
          <a:ext cx="11615848" cy="1784210"/>
        </p:xfrm>
        <a:graphic>
          <a:graphicData uri="http://schemas.openxmlformats.org/drawingml/2006/table">
            <a:tbl>
              <a:tblPr firstRow="1" bandRow="1">
                <a:noFill/>
                <a:tableStyleId>{5940675A-B579-460E-94D1-54222C63F5DA}</a:tableStyleId>
              </a:tblPr>
              <a:tblGrid>
                <a:gridCol w="1125156">
                  <a:extLst>
                    <a:ext uri="{9D8B030D-6E8A-4147-A177-3AD203B41FA5}">
                      <a16:colId xmlns:a16="http://schemas.microsoft.com/office/drawing/2014/main" val="3592680666"/>
                    </a:ext>
                  </a:extLst>
                </a:gridCol>
                <a:gridCol w="1315318">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204139">
                  <a:extLst>
                    <a:ext uri="{9D8B030D-6E8A-4147-A177-3AD203B41FA5}">
                      <a16:colId xmlns:a16="http://schemas.microsoft.com/office/drawing/2014/main" val="2428918094"/>
                    </a:ext>
                  </a:extLst>
                </a:gridCol>
                <a:gridCol w="1165412">
                  <a:extLst>
                    <a:ext uri="{9D8B030D-6E8A-4147-A177-3AD203B41FA5}">
                      <a16:colId xmlns:a16="http://schemas.microsoft.com/office/drawing/2014/main" val="2434076975"/>
                    </a:ext>
                  </a:extLst>
                </a:gridCol>
                <a:gridCol w="2145457">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556614">
                <a:tc>
                  <a:txBody>
                    <a:bodyPr/>
                    <a:lstStyle/>
                    <a:p>
                      <a:pPr marL="0" algn="l" defTabSz="914400" rtl="0" eaLnBrk="1" fontAlgn="ctr" latinLnBrk="0" hangingPunct="1">
                        <a:buNone/>
                      </a:pPr>
                      <a:r>
                        <a:rPr lang="en-US" sz="12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Panacea</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2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Application(s) Name</a:t>
                      </a:r>
                      <a:endParaRPr lang="en-US" sz="1200" b="1" u="none" strike="noStrike" kern="1200" cap="none" spc="60" noProof="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2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Inspire</a:t>
                      </a: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2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2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a:lnSpc>
                          <a:spcPct val="100000"/>
                        </a:lnSpc>
                        <a:spcBef>
                          <a:spcPts val="0"/>
                        </a:spcBef>
                        <a:spcAft>
                          <a:spcPts val="0"/>
                        </a:spcAft>
                        <a:buNone/>
                      </a:pPr>
                      <a:r>
                        <a:rPr lang="en-US" sz="1200" b="0" i="0" u="none" strike="noStrike" kern="1200" cap="none" spc="60">
                          <a:solidFill>
                            <a:schemeClr val="bg1"/>
                          </a:solidFill>
                          <a:effectLst/>
                          <a:latin typeface="Calibri"/>
                          <a:ea typeface="Calibri"/>
                          <a:cs typeface="Calibri"/>
                        </a:rPr>
                        <a:t>Mohana &amp; Chandan</a:t>
                      </a:r>
                      <a:endParaRPr lang="en-US" sz="12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fontAlgn="ctr" latinLnBrk="0" hangingPunct="1">
                        <a:buNone/>
                      </a:pPr>
                      <a:r>
                        <a:rPr lang="en-US" sz="12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p>
                  </a:txBody>
                  <a:tcPr marL="10802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a:lnSpc>
                          <a:spcPct val="100000"/>
                        </a:lnSpc>
                        <a:spcBef>
                          <a:spcPts val="0"/>
                        </a:spcBef>
                        <a:spcAft>
                          <a:spcPts val="0"/>
                        </a:spcAft>
                        <a:buClrTx/>
                        <a:buSzTx/>
                        <a:buFontTx/>
                        <a:buNone/>
                        <a:tabLst/>
                        <a:defRPr/>
                      </a:pPr>
                      <a:r>
                        <a:rPr lang="en-US" sz="1200" b="0" i="0" u="none" strike="noStrike" kern="1200" cap="none" spc="60">
                          <a:solidFill>
                            <a:schemeClr val="bg1"/>
                          </a:solidFill>
                          <a:effectLst/>
                          <a:latin typeface="Calibri"/>
                          <a:ea typeface="Calibri"/>
                          <a:cs typeface="Calibri"/>
                        </a:rPr>
                        <a:t>26.06/26.07</a:t>
                      </a:r>
                      <a:endParaRPr lang="en-US" sz="12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68573265"/>
                  </a:ext>
                </a:extLst>
              </a:tr>
              <a:tr h="1227596">
                <a:tc gridSpan="8">
                  <a:txBody>
                    <a:bodyPr/>
                    <a:lstStyle/>
                    <a:p>
                      <a:r>
                        <a:rPr lang="en-US" sz="12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a:t>
                      </a:r>
                    </a:p>
                    <a:p>
                      <a:pPr marL="171450" lvl="0" indent="-171450" algn="just">
                        <a:buFont typeface="Arial" panose="020B0604020202020204" pitchFamily="34" charset="0"/>
                        <a:buChar char="•"/>
                      </a:pPr>
                      <a:r>
                        <a:rPr lang="en-US" sz="1200" b="0" i="0" u="none" strike="noStrike" cap="none" spc="0" noProof="0">
                          <a:solidFill>
                            <a:schemeClr val="tx1"/>
                          </a:solidFill>
                          <a:effectLst/>
                          <a:latin typeface="Calibri"/>
                          <a:ea typeface="Calibri"/>
                          <a:cs typeface="Calibri"/>
                        </a:rPr>
                        <a:t>07/15 Release – 20 Databricks Pipelines deployed to production as part of part of 07/15 Release. </a:t>
                      </a:r>
                    </a:p>
                    <a:p>
                      <a:pPr marL="171450" lvl="0" indent="-171450" algn="just">
                        <a:buFont typeface="Arial" panose="020B0604020202020204" pitchFamily="34" charset="0"/>
                        <a:buChar char="•"/>
                      </a:pPr>
                      <a:r>
                        <a:rPr lang="en-US" sz="1200" b="0" i="0" u="none" strike="noStrike" cap="none" spc="0" noProof="0">
                          <a:solidFill>
                            <a:schemeClr val="tx1"/>
                          </a:solidFill>
                          <a:effectLst/>
                          <a:latin typeface="Calibri"/>
                          <a:ea typeface="Calibri"/>
                          <a:cs typeface="Calibri"/>
                        </a:rPr>
                        <a:t>07/29 Release – 4 Pipelines are planned for 07/29. Test Execution is InProgress.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cap="none" spc="0" noProof="0">
                          <a:solidFill>
                            <a:schemeClr val="tx1"/>
                          </a:solidFill>
                          <a:effectLst/>
                          <a:latin typeface="Calibri"/>
                          <a:ea typeface="Calibri"/>
                          <a:cs typeface="Calibri"/>
                        </a:rPr>
                        <a:t>08/05 Release – 3 Stories deployed in QA and test Execution is InProgress. </a:t>
                      </a:r>
                      <a:endParaRPr lang="en-US" sz="12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2700" cap="flat" cmpd="sng" algn="ctr">
                      <a:noFill/>
                      <a:prstDash val="solid"/>
                      <a:round/>
                      <a:headEnd type="none" w="med" len="med"/>
                      <a:tailEnd type="none" w="med" len="me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FC289EEC-8FBE-8B46-EA3C-C75945A71240}"/>
              </a:ext>
            </a:extLst>
          </p:cNvPr>
          <p:cNvGraphicFramePr>
            <a:graphicFrameLocks noGrp="1"/>
          </p:cNvGraphicFramePr>
          <p:nvPr>
            <p:extLst>
              <p:ext uri="{D42A27DB-BD31-4B8C-83A1-F6EECF244321}">
                <p14:modId xmlns:p14="http://schemas.microsoft.com/office/powerpoint/2010/main" val="3970575652"/>
              </p:ext>
            </p:extLst>
          </p:nvPr>
        </p:nvGraphicFramePr>
        <p:xfrm>
          <a:off x="443345" y="3188887"/>
          <a:ext cx="11517559" cy="1813018"/>
        </p:xfrm>
        <a:graphic>
          <a:graphicData uri="http://schemas.openxmlformats.org/drawingml/2006/table">
            <a:tbl>
              <a:tblPr firstRow="1" bandRow="1">
                <a:noFill/>
                <a:tableStyleId>{5940675A-B579-460E-94D1-54222C63F5DA}</a:tableStyleId>
              </a:tblPr>
              <a:tblGrid>
                <a:gridCol w="5950135">
                  <a:extLst>
                    <a:ext uri="{9D8B030D-6E8A-4147-A177-3AD203B41FA5}">
                      <a16:colId xmlns:a16="http://schemas.microsoft.com/office/drawing/2014/main" val="3592680666"/>
                    </a:ext>
                  </a:extLst>
                </a:gridCol>
                <a:gridCol w="5567424">
                  <a:extLst>
                    <a:ext uri="{9D8B030D-6E8A-4147-A177-3AD203B41FA5}">
                      <a16:colId xmlns:a16="http://schemas.microsoft.com/office/drawing/2014/main" val="1654399098"/>
                    </a:ext>
                  </a:extLst>
                </a:gridCol>
              </a:tblGrid>
              <a:tr h="674432">
                <a:tc>
                  <a:txBody>
                    <a:bodyPr/>
                    <a:lstStyle/>
                    <a:p>
                      <a:pPr marL="0" marR="0" lvl="0" indent="0" algn="l" rtl="0" eaLnBrk="1" fontAlgn="t" latinLnBrk="0" hangingPunct="1">
                        <a:lnSpc>
                          <a:spcPct val="100000"/>
                        </a:lnSpc>
                        <a:spcBef>
                          <a:spcPts val="0"/>
                        </a:spcBef>
                        <a:spcAft>
                          <a:spcPts val="0"/>
                        </a:spcAft>
                        <a:buClrTx/>
                        <a:buSzTx/>
                        <a:buFontTx/>
                        <a:buNone/>
                      </a:pPr>
                      <a:r>
                        <a:rPr lang="en-US" sz="1200" b="1" u="none" strike="noStrike" kern="1200" cap="none" spc="0">
                          <a:solidFill>
                            <a:schemeClr val="tx1"/>
                          </a:solidFill>
                          <a:effectLst/>
                          <a:latin typeface="Calibri"/>
                          <a:ea typeface="Calibri"/>
                          <a:cs typeface="Calibri"/>
                        </a:rPr>
                        <a:t>Challenges (risks / issues): </a:t>
                      </a:r>
                      <a:endParaRPr lang="en-US"/>
                    </a:p>
                    <a:p>
                      <a:pPr marL="171450" marR="0" lvl="0" indent="-171450" algn="just">
                        <a:lnSpc>
                          <a:spcPct val="100000"/>
                        </a:lnSpc>
                        <a:spcBef>
                          <a:spcPts val="0"/>
                        </a:spcBef>
                        <a:spcAft>
                          <a:spcPts val="0"/>
                        </a:spcAft>
                        <a:buClrTx/>
                        <a:buSzTx/>
                        <a:buFont typeface="Arial" panose="020B0604020202020204" pitchFamily="34" charset="0"/>
                        <a:buChar char="•"/>
                      </a:pPr>
                      <a:r>
                        <a:rPr lang="en-US" sz="1200" b="0" i="0" u="none" strike="noStrike" kern="1200" cap="none" spc="0">
                          <a:solidFill>
                            <a:schemeClr val="tx1"/>
                          </a:solidFill>
                          <a:effectLst/>
                          <a:latin typeface="Calibri"/>
                          <a:ea typeface="Calibri"/>
                          <a:cs typeface="Calibri"/>
                        </a:rPr>
                        <a:t>NA</a:t>
                      </a:r>
                    </a:p>
                    <a:p>
                      <a:pPr marL="0" marR="0" lvl="0" indent="0" algn="l">
                        <a:lnSpc>
                          <a:spcPct val="100000"/>
                        </a:lnSpc>
                        <a:spcBef>
                          <a:spcPts val="0"/>
                        </a:spcBef>
                        <a:spcAft>
                          <a:spcPts val="0"/>
                        </a:spcAft>
                        <a:buClrTx/>
                        <a:buSzTx/>
                        <a:buNone/>
                      </a:pPr>
                      <a:endParaRPr lang="en-US" sz="1200" b="0" i="1" u="none" strike="noStrike" kern="1200" cap="none" spc="0">
                        <a:solidFill>
                          <a:schemeClr val="tx1"/>
                        </a:solidFill>
                        <a:effectLst/>
                        <a:latin typeface="Calibri"/>
                        <a:ea typeface="Calibri"/>
                        <a:cs typeface="Calibri"/>
                      </a:endParaRPr>
                    </a:p>
                    <a:p>
                      <a:pPr marL="0" marR="0" lvl="0" indent="0" algn="l">
                        <a:lnSpc>
                          <a:spcPct val="100000"/>
                        </a:lnSpc>
                        <a:spcBef>
                          <a:spcPts val="0"/>
                        </a:spcBef>
                        <a:spcAft>
                          <a:spcPts val="0"/>
                        </a:spcAft>
                        <a:buClrTx/>
                        <a:buSzTx/>
                        <a:buNone/>
                      </a:pPr>
                      <a:endParaRPr lang="en-US" sz="1200" b="0" i="1" u="none" strike="noStrike" kern="1200" cap="none" spc="0">
                        <a:solidFill>
                          <a:schemeClr val="tx1"/>
                        </a:solidFill>
                        <a:effectLst/>
                        <a:latin typeface="Calibri"/>
                        <a:ea typeface="Calibri"/>
                        <a:cs typeface="Calibri"/>
                      </a:endParaRP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Action Needed / Action Taken (for the identified risks/issues): </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kern="1200" cap="none" spc="0" noProof="0">
                          <a:solidFill>
                            <a:schemeClr val="tx1"/>
                          </a:solidFill>
                          <a:effectLst/>
                          <a:latin typeface="Calibri"/>
                          <a:ea typeface="Calibri"/>
                          <a:cs typeface="Calibri"/>
                        </a:rPr>
                        <a:t>NA</a:t>
                      </a:r>
                      <a:endParaRPr lang="en-US"/>
                    </a:p>
                    <a:p>
                      <a:pPr marL="0" marR="0" lvl="0" indent="0" algn="l" rtl="0" eaLnBrk="1" fontAlgn="t" latinLnBrk="0" hangingPunct="1">
                        <a:lnSpc>
                          <a:spcPct val="100000"/>
                        </a:lnSpc>
                        <a:spcBef>
                          <a:spcPts val="0"/>
                        </a:spcBef>
                        <a:spcAft>
                          <a:spcPts val="0"/>
                        </a:spcAft>
                        <a:buClrTx/>
                        <a:buSzTx/>
                        <a:buNone/>
                      </a:pPr>
                      <a:endParaRPr lang="en-US" sz="1200" b="0" i="0" u="none" strike="noStrike" kern="1200" cap="none" spc="0" noProof="0">
                        <a:solidFill>
                          <a:schemeClr val="tx1"/>
                        </a:solidFill>
                        <a:effectLst/>
                        <a:latin typeface="Calibri"/>
                        <a:ea typeface="Calibri"/>
                        <a:cs typeface="Calibri"/>
                      </a:endParaRPr>
                    </a:p>
                    <a:p>
                      <a:pPr marL="171450" marR="0" lvl="0" indent="-171450" algn="l">
                        <a:lnSpc>
                          <a:spcPct val="100000"/>
                        </a:lnSpc>
                        <a:spcBef>
                          <a:spcPts val="0"/>
                        </a:spcBef>
                        <a:spcAft>
                          <a:spcPts val="0"/>
                        </a:spcAft>
                        <a:buClrTx/>
                        <a:buSzTx/>
                        <a:buFont typeface="Arial" panose="020B0604020202020204" pitchFamily="34" charset="0"/>
                        <a:buChar char="•"/>
                      </a:pPr>
                      <a:endParaRPr lang="en-US" sz="1200" b="0" i="0" u="none" strike="noStrike" kern="1200" cap="none" spc="0">
                        <a:solidFill>
                          <a:schemeClr val="tx1"/>
                        </a:solidFill>
                        <a:effectLst/>
                        <a:latin typeface="Calibri"/>
                        <a:ea typeface="Calibri"/>
                        <a:cs typeface="Calibri"/>
                      </a:endParaRPr>
                    </a:p>
                  </a:txBody>
                  <a:tcPr marL="1200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956811">
                <a:tc gridSpan="2">
                  <a:txBody>
                    <a:bodyPr/>
                    <a:lstStyle/>
                    <a:p>
                      <a:pPr algn="l" fontAlgn="t">
                        <a:buNone/>
                      </a:pPr>
                      <a:r>
                        <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Automation Regression Updates : </a:t>
                      </a:r>
                    </a:p>
                    <a:p>
                      <a:pPr marL="171450" lvl="0" indent="-171450" algn="l">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In Release Regression cases are identified for TLM Databricks Migration and shared with Automation Team.</a:t>
                      </a:r>
                    </a:p>
                    <a:p>
                      <a:pPr marL="171450" lvl="0" indent="-171450" algn="l">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Scripting for TLM Databricks Migration is in progress</a:t>
                      </a: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2ABBB8F7-E9F8-5537-4E85-C4E1BA0FEEDD}"/>
              </a:ext>
            </a:extLst>
          </p:cNvPr>
          <p:cNvGraphicFramePr>
            <a:graphicFrameLocks noGrp="1"/>
          </p:cNvGraphicFramePr>
          <p:nvPr>
            <p:extLst>
              <p:ext uri="{D42A27DB-BD31-4B8C-83A1-F6EECF244321}">
                <p14:modId xmlns:p14="http://schemas.microsoft.com/office/powerpoint/2010/main" val="2921502275"/>
              </p:ext>
            </p:extLst>
          </p:nvPr>
        </p:nvGraphicFramePr>
        <p:xfrm>
          <a:off x="443345" y="1935378"/>
          <a:ext cx="11504307" cy="1023184"/>
        </p:xfrm>
        <a:graphic>
          <a:graphicData uri="http://schemas.openxmlformats.org/drawingml/2006/table">
            <a:tbl>
              <a:tblPr/>
              <a:tblGrid>
                <a:gridCol w="1418302">
                  <a:extLst>
                    <a:ext uri="{9D8B030D-6E8A-4147-A177-3AD203B41FA5}">
                      <a16:colId xmlns:a16="http://schemas.microsoft.com/office/drawing/2014/main" val="383858331"/>
                    </a:ext>
                  </a:extLst>
                </a:gridCol>
                <a:gridCol w="1245725">
                  <a:extLst>
                    <a:ext uri="{9D8B030D-6E8A-4147-A177-3AD203B41FA5}">
                      <a16:colId xmlns:a16="http://schemas.microsoft.com/office/drawing/2014/main" val="1004766711"/>
                    </a:ext>
                  </a:extLst>
                </a:gridCol>
                <a:gridCol w="1245725">
                  <a:extLst>
                    <a:ext uri="{9D8B030D-6E8A-4147-A177-3AD203B41FA5}">
                      <a16:colId xmlns:a16="http://schemas.microsoft.com/office/drawing/2014/main" val="1560180378"/>
                    </a:ext>
                  </a:extLst>
                </a:gridCol>
                <a:gridCol w="1573548">
                  <a:extLst>
                    <a:ext uri="{9D8B030D-6E8A-4147-A177-3AD203B41FA5}">
                      <a16:colId xmlns:a16="http://schemas.microsoft.com/office/drawing/2014/main" val="2270929281"/>
                    </a:ext>
                  </a:extLst>
                </a:gridCol>
                <a:gridCol w="1595403">
                  <a:extLst>
                    <a:ext uri="{9D8B030D-6E8A-4147-A177-3AD203B41FA5}">
                      <a16:colId xmlns:a16="http://schemas.microsoft.com/office/drawing/2014/main" val="3295045209"/>
                    </a:ext>
                  </a:extLst>
                </a:gridCol>
                <a:gridCol w="1180159">
                  <a:extLst>
                    <a:ext uri="{9D8B030D-6E8A-4147-A177-3AD203B41FA5}">
                      <a16:colId xmlns:a16="http://schemas.microsoft.com/office/drawing/2014/main" val="1923205917"/>
                    </a:ext>
                  </a:extLst>
                </a:gridCol>
                <a:gridCol w="1819416">
                  <a:extLst>
                    <a:ext uri="{9D8B030D-6E8A-4147-A177-3AD203B41FA5}">
                      <a16:colId xmlns:a16="http://schemas.microsoft.com/office/drawing/2014/main" val="3147362022"/>
                    </a:ext>
                  </a:extLst>
                </a:gridCol>
                <a:gridCol w="1426029">
                  <a:extLst>
                    <a:ext uri="{9D8B030D-6E8A-4147-A177-3AD203B41FA5}">
                      <a16:colId xmlns:a16="http://schemas.microsoft.com/office/drawing/2014/main" val="4292749998"/>
                    </a:ext>
                  </a:extLst>
                </a:gridCol>
              </a:tblGrid>
              <a:tr h="503022">
                <a:tc>
                  <a:txBody>
                    <a:bodyPr/>
                    <a:lstStyle/>
                    <a:p>
                      <a:pPr lvl="0" algn="ctr">
                        <a:buNone/>
                      </a:pPr>
                      <a:r>
                        <a:rPr lang="en-US" sz="1000" b="1" i="0" u="none" strike="noStrike">
                          <a:solidFill>
                            <a:srgbClr val="000000"/>
                          </a:solidFill>
                          <a:effectLst/>
                          <a:latin typeface="Calibri"/>
                          <a:ea typeface="Calibri"/>
                          <a:cs typeface="Calibri"/>
                        </a:rPr>
                        <a:t># User stories(Pipelines)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 design Status</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100" b="1" i="0" u="none" strike="noStrike" noProof="0">
                          <a:solidFill>
                            <a:srgbClr val="000000"/>
                          </a:solidFill>
                          <a:effectLst/>
                          <a:latin typeface="Calibri"/>
                          <a:ea typeface="Calibri"/>
                          <a:cs typeface="Calibri"/>
                        </a:rPr>
                        <a:t>Test Design through AI Tools (Sulfur &amp; Strider)</a:t>
                      </a:r>
                      <a:endParaRPr lang="en-US" sz="1000" b="1" i="0" u="none" strike="noStrike">
                        <a:solidFill>
                          <a:srgbClr val="000000"/>
                        </a:solidFill>
                        <a:effectLst/>
                        <a:latin typeface="Calibri"/>
                        <a:ea typeface="Calibri"/>
                        <a:cs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 Execution Status</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 Execution %</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Testing Completion date</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Calibri"/>
                          <a:ea typeface="Calibri"/>
                          <a:cs typeface="Calibri"/>
                        </a:rPr>
                        <a:t>Release date</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260081">
                <a:tc>
                  <a:txBody>
                    <a:bodyPr/>
                    <a:lstStyle/>
                    <a:p>
                      <a:pPr marL="0" lvl="0" algn="ctr">
                        <a:buNone/>
                      </a:pPr>
                      <a:r>
                        <a:rPr lang="en-CA" sz="1000" b="0" i="0" u="none" strike="noStrike" kern="1200">
                          <a:solidFill>
                            <a:srgbClr val="000000"/>
                          </a:solidFill>
                          <a:effectLst/>
                          <a:latin typeface="Calibri"/>
                          <a:ea typeface="Calibri"/>
                          <a:cs typeface="Calibri"/>
                        </a:rPr>
                        <a:t>4 Pipelines</a:t>
                      </a:r>
                    </a:p>
                  </a:txBody>
                  <a:tcPr marL="9524" marR="9524" marT="9524" marB="0" anchor="ctr">
                    <a:lnL w="6350">
                      <a:solidFill>
                        <a:srgbClr val="000000"/>
                      </a:solid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Completed</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100%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20%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InProgress </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50%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CA" sz="1000" b="0" i="0" u="none" strike="noStrike" kern="1200">
                          <a:solidFill>
                            <a:srgbClr val="000000"/>
                          </a:solidFill>
                          <a:effectLst/>
                          <a:latin typeface="Calibri"/>
                          <a:ea typeface="Calibri"/>
                          <a:cs typeface="Calibri"/>
                        </a:rPr>
                        <a:t>07/22/2026</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07/29/2026</a:t>
                      </a:r>
                    </a:p>
                  </a:txBody>
                  <a:tcPr marL="9524" marR="9524" marT="9524" marB="0" anchor="ctr">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8177608"/>
                  </a:ext>
                </a:extLst>
              </a:tr>
              <a:tr h="260081">
                <a:tc>
                  <a:txBody>
                    <a:bodyPr/>
                    <a:lstStyle/>
                    <a:p>
                      <a:pPr marL="0" lvl="0" algn="ctr">
                        <a:buNone/>
                      </a:pPr>
                      <a:r>
                        <a:rPr lang="en-CA" sz="1000" b="0" i="0" u="none" strike="noStrike" kern="1200">
                          <a:solidFill>
                            <a:srgbClr val="000000"/>
                          </a:solidFill>
                          <a:effectLst/>
                          <a:latin typeface="Calibri"/>
                          <a:ea typeface="Calibri"/>
                          <a:cs typeface="Calibri"/>
                        </a:rPr>
                        <a:t>3 User stories</a:t>
                      </a:r>
                    </a:p>
                  </a:txBody>
                  <a:tcPr marL="9524" marR="9524" marT="9524" marB="0" anchor="ctr">
                    <a:lnL w="6350">
                      <a:solidFill>
                        <a:srgbClr val="000000"/>
                      </a:solid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Completed</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100%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30%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InProgress</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80%</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b="0" i="0" u="none" strike="noStrike" kern="1200">
                          <a:solidFill>
                            <a:srgbClr val="000000"/>
                          </a:solidFill>
                          <a:effectLst/>
                          <a:latin typeface="Calibri"/>
                          <a:ea typeface="Calibri"/>
                          <a:cs typeface="Calibri"/>
                        </a:rPr>
                        <a:t>07/24/2026</a:t>
                      </a:r>
                    </a:p>
                  </a:txBody>
                  <a:tcPr marL="9524" marR="9524"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lvl="0" algn="ctr" defTabSz="914400">
                        <a:buNone/>
                      </a:pPr>
                      <a:r>
                        <a:rPr lang="en-CA" sz="1000" b="0" i="0" u="none" strike="noStrike" kern="1200">
                          <a:solidFill>
                            <a:srgbClr val="000000"/>
                          </a:solidFill>
                          <a:effectLst/>
                          <a:latin typeface="Calibri"/>
                          <a:ea typeface="Calibri"/>
                          <a:cs typeface="Calibri"/>
                        </a:rPr>
                        <a:t>08/05/2026</a:t>
                      </a:r>
                    </a:p>
                  </a:txBody>
                  <a:tcPr marL="9524" marR="9524" marT="9524" marB="0" anchor="ctr">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extLst>
                  <a:ext uri="{0D108BD9-81ED-4DB2-BD59-A6C34878D82A}">
                    <a16:rowId xmlns:a16="http://schemas.microsoft.com/office/drawing/2014/main" val="510565765"/>
                  </a:ext>
                </a:extLst>
              </a:tr>
            </a:tbl>
          </a:graphicData>
        </a:graphic>
      </p:graphicFrame>
    </p:spTree>
    <p:extLst>
      <p:ext uri="{BB962C8B-B14F-4D97-AF65-F5344CB8AC3E}">
        <p14:creationId xmlns:p14="http://schemas.microsoft.com/office/powerpoint/2010/main" val="1640532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F733E-C68C-7B92-B682-CD914EDD4D3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FDAC44C-03BB-5746-D10C-859858BFD105}"/>
              </a:ext>
            </a:extLst>
          </p:cNvPr>
          <p:cNvGraphicFramePr>
            <a:graphicFrameLocks noGrp="1"/>
          </p:cNvGraphicFramePr>
          <p:nvPr/>
        </p:nvGraphicFramePr>
        <p:xfrm>
          <a:off x="345056" y="71886"/>
          <a:ext cx="11615848" cy="2087341"/>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348320">
                  <a:extLst>
                    <a:ext uri="{9D8B030D-6E8A-4147-A177-3AD203B41FA5}">
                      <a16:colId xmlns:a16="http://schemas.microsoft.com/office/drawing/2014/main" val="157821927"/>
                    </a:ext>
                  </a:extLst>
                </a:gridCol>
                <a:gridCol w="2371725">
                  <a:extLst>
                    <a:ext uri="{9D8B030D-6E8A-4147-A177-3AD203B41FA5}">
                      <a16:colId xmlns:a16="http://schemas.microsoft.com/office/drawing/2014/main" val="2428918094"/>
                    </a:ext>
                  </a:extLst>
                </a:gridCol>
                <a:gridCol w="1251955">
                  <a:extLst>
                    <a:ext uri="{9D8B030D-6E8A-4147-A177-3AD203B41FA5}">
                      <a16:colId xmlns:a16="http://schemas.microsoft.com/office/drawing/2014/main" val="2434076975"/>
                    </a:ext>
                  </a:extLst>
                </a:gridCol>
                <a:gridCol w="1183174">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652014">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CIE Dev</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Ui, ETL</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Jim Payne</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r>
                        <a:rPr lang="en-US" sz="1400" b="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CIE 4.0.1</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778625">
                <a:tc gridSpan="8">
                  <a:txBody>
                    <a:bodyPr/>
                    <a:lstStyle/>
                    <a:p>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 :</a:t>
                      </a:r>
                    </a:p>
                    <a:p>
                      <a:pPr marL="285750" indent="-285750">
                        <a:buFont typeface="Arial" panose="020B0604020202020204" pitchFamily="34" charset="0"/>
                        <a:buChar char="•"/>
                      </a:pPr>
                      <a:r>
                        <a:rPr lang="en-US" sz="1200" kern="1200">
                          <a:solidFill>
                            <a:schemeClr val="tx1"/>
                          </a:solidFill>
                          <a:effectLst/>
                          <a:latin typeface="+mn-lt"/>
                          <a:ea typeface="+mn-ea"/>
                          <a:cs typeface="+mn-cs"/>
                        </a:rPr>
                        <a:t>CHG0809596</a:t>
                      </a: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 – Currently performing smoke and deployment testing for CIE Release 4.0.1.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latin typeface="Calibri" panose="020F0502020204030204" pitchFamily="34" charset="0"/>
                          <a:ea typeface="Calibri" panose="020F0502020204030204" pitchFamily="34" charset="0"/>
                          <a:cs typeface="Calibri" panose="020F0502020204030204" pitchFamily="34" charset="0"/>
                        </a:rPr>
                        <a:t>Add Coverage Codes/</a:t>
                      </a:r>
                      <a:r>
                        <a:rPr lang="en-US" sz="1200" kern="1200" err="1">
                          <a:solidFill>
                            <a:schemeClr val="tx1"/>
                          </a:solidFill>
                          <a:latin typeface="Calibri" panose="020F0502020204030204" pitchFamily="34" charset="0"/>
                          <a:ea typeface="Calibri" panose="020F0502020204030204" pitchFamily="34" charset="0"/>
                          <a:cs typeface="Calibri" panose="020F0502020204030204" pitchFamily="34" charset="0"/>
                        </a:rPr>
                        <a:t>PlanID</a:t>
                      </a:r>
                      <a:r>
                        <a:rPr lang="en-US" sz="1200" kern="1200">
                          <a:solidFill>
                            <a:schemeClr val="tx1"/>
                          </a:solidFill>
                          <a:latin typeface="Calibri" panose="020F0502020204030204" pitchFamily="34" charset="0"/>
                          <a:ea typeface="Calibri" panose="020F0502020204030204" pitchFamily="34" charset="0"/>
                          <a:cs typeface="Calibri" panose="020F0502020204030204" pitchFamily="34" charset="0"/>
                        </a:rPr>
                        <a:t> to Rx claims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latin typeface="Calibri" panose="020F0502020204030204" pitchFamily="34" charset="0"/>
                          <a:ea typeface="Calibri" panose="020F0502020204030204" pitchFamily="34" charset="0"/>
                          <a:cs typeface="Calibri" panose="020F0502020204030204" pitchFamily="34" charset="0"/>
                        </a:rPr>
                        <a:t>Rewrite UI in Angular JS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FCA21F7A-0F6F-C969-6C35-4F9C1D13F2FD}"/>
              </a:ext>
            </a:extLst>
          </p:cNvPr>
          <p:cNvGraphicFramePr>
            <a:graphicFrameLocks noGrp="1"/>
          </p:cNvGraphicFramePr>
          <p:nvPr/>
        </p:nvGraphicFramePr>
        <p:xfrm>
          <a:off x="345226" y="3156940"/>
          <a:ext cx="11615678" cy="2916809"/>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1343026">
                <a:tc>
                  <a:txBody>
                    <a:bodyPr/>
                    <a:lstStyle/>
                    <a:p>
                      <a:pPr algn="l" fontAlgn="t">
                        <a:buNone/>
                      </a:pPr>
                      <a:r>
                        <a:rPr lang="en-US" sz="1400" b="1" u="none" strike="noStrike" kern="1200" cap="none" spc="0">
                          <a:solidFill>
                            <a:schemeClr val="tx1"/>
                          </a:solidFill>
                          <a:effectLst/>
                          <a:latin typeface="Calibri"/>
                          <a:ea typeface="Calibri"/>
                          <a:cs typeface="Calibri"/>
                        </a:rPr>
                        <a:t>Challenges (risks / issues): </a:t>
                      </a:r>
                    </a:p>
                    <a:p>
                      <a:pPr algn="l" fontAlgn="t">
                        <a:buNone/>
                      </a:pPr>
                      <a:r>
                        <a:rPr lang="en-US" sz="1400" b="0" i="0" u="none" strike="noStrike" kern="1200" cap="none" spc="0">
                          <a:solidFill>
                            <a:schemeClr val="tx1"/>
                          </a:solidFill>
                          <a:effectLst/>
                          <a:latin typeface="+mn-lt"/>
                          <a:ea typeface="+mn-ea"/>
                          <a:cs typeface="+mn-cs"/>
                        </a:rPr>
                        <a:t>None at this time</a:t>
                      </a:r>
                      <a:endParaRPr lang="en-US" sz="1400" b="0" u="none" strike="noStrike" kern="1200" cap="none" spc="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400" b="1" u="none" strike="noStrike" kern="1200" cap="none" spc="0">
                          <a:solidFill>
                            <a:schemeClr val="tx1"/>
                          </a:solidFill>
                          <a:effectLst/>
                          <a:latin typeface="Calibri"/>
                          <a:ea typeface="Calibri"/>
                          <a:cs typeface="Calibri"/>
                        </a:rPr>
                        <a:t>Action Needed / Action Taken (for the identified risks/issues): </a:t>
                      </a:r>
                    </a:p>
                    <a:p>
                      <a:pPr marL="0" indent="0" algn="l" fontAlgn="t">
                        <a:buNone/>
                      </a:pPr>
                      <a:r>
                        <a:rPr lang="en-US" sz="1200" b="0" u="none" strike="noStrike" kern="1200" cap="none" spc="0">
                          <a:solidFill>
                            <a:srgbClr val="FF0000"/>
                          </a:solidFill>
                          <a:effectLst/>
                          <a:latin typeface="Calibri"/>
                          <a:ea typeface="Calibri"/>
                          <a:cs typeface="Calibri"/>
                        </a:rPr>
                        <a:t>  </a:t>
                      </a: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573783">
                <a:tc gridSpan="2">
                  <a:txBody>
                    <a:bodyPr/>
                    <a:lstStyle/>
                    <a:p>
                      <a:pPr algn="l" fontAlgn="t">
                        <a:buNone/>
                      </a:pPr>
                      <a:r>
                        <a:rPr lang="en-US" sz="1400" b="1" u="none" strike="noStrike" kern="1200" cap="none" spc="0">
                          <a:solidFill>
                            <a:schemeClr val="tx1"/>
                          </a:solidFill>
                          <a:effectLst/>
                          <a:latin typeface="Calibri"/>
                          <a:ea typeface="Calibri"/>
                          <a:cs typeface="Calibri"/>
                        </a:rPr>
                        <a:t>Automation Regression Updates : </a:t>
                      </a: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N/A</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3AE535D9-CF05-D870-DA4F-BD6221647758}"/>
              </a:ext>
            </a:extLst>
          </p:cNvPr>
          <p:cNvGraphicFramePr>
            <a:graphicFrameLocks noGrp="1"/>
          </p:cNvGraphicFramePr>
          <p:nvPr/>
        </p:nvGraphicFramePr>
        <p:xfrm>
          <a:off x="345057" y="2334224"/>
          <a:ext cx="11615848" cy="813191"/>
        </p:xfrm>
        <a:graphic>
          <a:graphicData uri="http://schemas.openxmlformats.org/drawingml/2006/table">
            <a:tbl>
              <a:tblPr/>
              <a:tblGrid>
                <a:gridCol w="1713614">
                  <a:extLst>
                    <a:ext uri="{9D8B030D-6E8A-4147-A177-3AD203B41FA5}">
                      <a16:colId xmlns:a16="http://schemas.microsoft.com/office/drawing/2014/main" val="383858331"/>
                    </a:ext>
                  </a:extLst>
                </a:gridCol>
                <a:gridCol w="1395370">
                  <a:extLst>
                    <a:ext uri="{9D8B030D-6E8A-4147-A177-3AD203B41FA5}">
                      <a16:colId xmlns:a16="http://schemas.microsoft.com/office/drawing/2014/main" val="1560180378"/>
                    </a:ext>
                  </a:extLst>
                </a:gridCol>
                <a:gridCol w="1762573">
                  <a:extLst>
                    <a:ext uri="{9D8B030D-6E8A-4147-A177-3AD203B41FA5}">
                      <a16:colId xmlns:a16="http://schemas.microsoft.com/office/drawing/2014/main" val="2270929281"/>
                    </a:ext>
                  </a:extLst>
                </a:gridCol>
                <a:gridCol w="1787054">
                  <a:extLst>
                    <a:ext uri="{9D8B030D-6E8A-4147-A177-3AD203B41FA5}">
                      <a16:colId xmlns:a16="http://schemas.microsoft.com/office/drawing/2014/main" val="3295045209"/>
                    </a:ext>
                  </a:extLst>
                </a:gridCol>
                <a:gridCol w="1321928">
                  <a:extLst>
                    <a:ext uri="{9D8B030D-6E8A-4147-A177-3AD203B41FA5}">
                      <a16:colId xmlns:a16="http://schemas.microsoft.com/office/drawing/2014/main" val="1923205917"/>
                    </a:ext>
                  </a:extLst>
                </a:gridCol>
                <a:gridCol w="2037976">
                  <a:extLst>
                    <a:ext uri="{9D8B030D-6E8A-4147-A177-3AD203B41FA5}">
                      <a16:colId xmlns:a16="http://schemas.microsoft.com/office/drawing/2014/main" val="3147362022"/>
                    </a:ext>
                  </a:extLst>
                </a:gridCol>
                <a:gridCol w="1597333">
                  <a:extLst>
                    <a:ext uri="{9D8B030D-6E8A-4147-A177-3AD203B41FA5}">
                      <a16:colId xmlns:a16="http://schemas.microsoft.com/office/drawing/2014/main" val="4292749998"/>
                    </a:ext>
                  </a:extLst>
                </a:gridCol>
              </a:tblGrid>
              <a:tr h="447076">
                <a:tc>
                  <a:txBody>
                    <a:bodyPr/>
                    <a:lstStyle/>
                    <a:p>
                      <a:pPr algn="ctr" fontAlgn="ctr">
                        <a:buNone/>
                      </a:pPr>
                      <a:r>
                        <a:rPr lang="en-US" sz="1000" b="1" i="0" u="none" strike="noStrike">
                          <a:solidFill>
                            <a:srgbClr val="000000"/>
                          </a:solidFill>
                          <a:effectLst/>
                          <a:latin typeface="Aptos Narrow"/>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366115">
                <a:tc>
                  <a:txBody>
                    <a:bodyPr/>
                    <a:lstStyle/>
                    <a:p>
                      <a:pPr algn="ctr" fontAlgn="t">
                        <a:buNone/>
                      </a:pPr>
                      <a:r>
                        <a:rPr lang="en-IN" sz="1000" b="0" i="0" u="none" strike="noStrike">
                          <a:solidFill>
                            <a:srgbClr val="000000"/>
                          </a:solidFill>
                          <a:effectLst/>
                          <a:latin typeface="Aptos Narrow"/>
                        </a:rPr>
                        <a:t>2</a:t>
                      </a:r>
                      <a:endParaRPr lang="en-US" sz="1000" b="0" i="0" u="none" strike="noStrike">
                        <a:solidFill>
                          <a:srgbClr val="000000"/>
                        </a:solidFill>
                        <a:effectLst/>
                        <a:latin typeface="Aptos Narrow"/>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Completed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Started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TBD</a:t>
                      </a:r>
                      <a:endParaRPr lang="en-US" sz="1000" b="0" i="0" u="none" strike="noStrike">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Aptos Narrow"/>
                        </a:rPr>
                        <a:t>TBD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0630752"/>
                  </a:ext>
                </a:extLst>
              </a:tr>
            </a:tbl>
          </a:graphicData>
        </a:graphic>
      </p:graphicFrame>
    </p:spTree>
    <p:extLst>
      <p:ext uri="{BB962C8B-B14F-4D97-AF65-F5344CB8AC3E}">
        <p14:creationId xmlns:p14="http://schemas.microsoft.com/office/powerpoint/2010/main" val="2832510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9715A-6129-0B41-86E2-772DD17C842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3D14336-B75D-5776-5912-800A27717CEE}"/>
              </a:ext>
            </a:extLst>
          </p:cNvPr>
          <p:cNvGraphicFramePr>
            <a:graphicFrameLocks noGrp="1"/>
          </p:cNvGraphicFramePr>
          <p:nvPr>
            <p:extLst>
              <p:ext uri="{D42A27DB-BD31-4B8C-83A1-F6EECF244321}">
                <p14:modId xmlns:p14="http://schemas.microsoft.com/office/powerpoint/2010/main" val="2720829404"/>
              </p:ext>
            </p:extLst>
          </p:nvPr>
        </p:nvGraphicFramePr>
        <p:xfrm>
          <a:off x="148682" y="223024"/>
          <a:ext cx="11991778" cy="3207696"/>
        </p:xfrm>
        <a:graphic>
          <a:graphicData uri="http://schemas.openxmlformats.org/drawingml/2006/table">
            <a:tbl>
              <a:tblPr firstRow="1" bandRow="1">
                <a:noFill/>
                <a:tableStyleId>{5940675A-B579-460E-94D1-54222C63F5DA}</a:tableStyleId>
              </a:tblPr>
              <a:tblGrid>
                <a:gridCol w="1161570">
                  <a:extLst>
                    <a:ext uri="{9D8B030D-6E8A-4147-A177-3AD203B41FA5}">
                      <a16:colId xmlns:a16="http://schemas.microsoft.com/office/drawing/2014/main" val="3592680666"/>
                    </a:ext>
                  </a:extLst>
                </a:gridCol>
                <a:gridCol w="1357886">
                  <a:extLst>
                    <a:ext uri="{9D8B030D-6E8A-4147-A177-3AD203B41FA5}">
                      <a16:colId xmlns:a16="http://schemas.microsoft.com/office/drawing/2014/main" val="1654399098"/>
                    </a:ext>
                  </a:extLst>
                </a:gridCol>
                <a:gridCol w="1693248">
                  <a:extLst>
                    <a:ext uri="{9D8B030D-6E8A-4147-A177-3AD203B41FA5}">
                      <a16:colId xmlns:a16="http://schemas.microsoft.com/office/drawing/2014/main" val="157821927"/>
                    </a:ext>
                  </a:extLst>
                </a:gridCol>
                <a:gridCol w="1243109">
                  <a:extLst>
                    <a:ext uri="{9D8B030D-6E8A-4147-A177-3AD203B41FA5}">
                      <a16:colId xmlns:a16="http://schemas.microsoft.com/office/drawing/2014/main" val="2428918094"/>
                    </a:ext>
                  </a:extLst>
                </a:gridCol>
                <a:gridCol w="1203128">
                  <a:extLst>
                    <a:ext uri="{9D8B030D-6E8A-4147-A177-3AD203B41FA5}">
                      <a16:colId xmlns:a16="http://schemas.microsoft.com/office/drawing/2014/main" val="2434076975"/>
                    </a:ext>
                  </a:extLst>
                </a:gridCol>
                <a:gridCol w="2214893">
                  <a:extLst>
                    <a:ext uri="{9D8B030D-6E8A-4147-A177-3AD203B41FA5}">
                      <a16:colId xmlns:a16="http://schemas.microsoft.com/office/drawing/2014/main" val="4168789034"/>
                    </a:ext>
                  </a:extLst>
                </a:gridCol>
                <a:gridCol w="1623953">
                  <a:extLst>
                    <a:ext uri="{9D8B030D-6E8A-4147-A177-3AD203B41FA5}">
                      <a16:colId xmlns:a16="http://schemas.microsoft.com/office/drawing/2014/main" val="1518792060"/>
                    </a:ext>
                  </a:extLst>
                </a:gridCol>
                <a:gridCol w="1493991">
                  <a:extLst>
                    <a:ext uri="{9D8B030D-6E8A-4147-A177-3AD203B41FA5}">
                      <a16:colId xmlns:a16="http://schemas.microsoft.com/office/drawing/2014/main" val="1805739722"/>
                    </a:ext>
                  </a:extLst>
                </a:gridCol>
              </a:tblGrid>
              <a:tr h="636983">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p>
                  </a:txBody>
                  <a:tcPr marL="108022" marR="12002" marT="124687"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Clinical Programs Rx</a:t>
                      </a:r>
                      <a:endParaRPr lang="en-US" sz="1400" b="0" i="0" u="none" strike="noStrike" kern="1200" cap="none" spc="60" err="1">
                        <a:solidFill>
                          <a:schemeClr val="bg1"/>
                        </a:solidFill>
                        <a:effectLst/>
                        <a:latin typeface="Calibri"/>
                        <a:ea typeface="Calibri"/>
                        <a:cs typeface="Calibri"/>
                      </a:endParaRPr>
                    </a:p>
                  </a:txBody>
                  <a:tcPr marL="12002" marR="12002" marT="1246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Application(s) Name</a:t>
                      </a:r>
                      <a:endParaRPr lang="en-US" sz="1400" b="1" u="none" strike="noStrike" kern="1200" cap="none" spc="60" noProof="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a:ea typeface="Calibri"/>
                          <a:cs typeface="Calibri"/>
                        </a:rPr>
                        <a:t>Clinical Programs Rx</a:t>
                      </a:r>
                      <a:endParaRPr lang="en-US" sz="1400" b="0" i="0" u="none" strike="noStrike" kern="1200" cap="none" spc="60" err="1">
                        <a:solidFill>
                          <a:schemeClr val="bg1"/>
                        </a:solidFill>
                        <a:effectLst/>
                        <a:latin typeface="Calibri"/>
                        <a:ea typeface="Calibri"/>
                        <a:cs typeface="Calibri"/>
                      </a:endParaRPr>
                    </a:p>
                  </a:txBody>
                  <a:tcPr marL="12002" marR="12002" marT="1246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p>
                  </a:txBody>
                  <a:tcPr marL="108022" marR="12002" marT="1246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a:lnSpc>
                          <a:spcPct val="100000"/>
                        </a:lnSpc>
                        <a:spcBef>
                          <a:spcPts val="0"/>
                        </a:spcBef>
                        <a:spcAft>
                          <a:spcPts val="0"/>
                        </a:spcAft>
                        <a:buNone/>
                      </a:pPr>
                      <a:r>
                        <a:rPr lang="en-US" sz="1400" b="0" i="0" u="none" strike="noStrike" kern="1200" cap="none" spc="60">
                          <a:solidFill>
                            <a:schemeClr val="bg1"/>
                          </a:solidFill>
                          <a:effectLst/>
                          <a:latin typeface="Calibri"/>
                          <a:ea typeface="Calibri"/>
                          <a:cs typeface="Calibri"/>
                        </a:rPr>
                        <a:t>Neelima Therala</a:t>
                      </a:r>
                      <a:endParaRPr lang="en-US" sz="1400" b="0" i="0" u="none" strike="noStrike" kern="1200" cap="none" spc="60" err="1">
                        <a:solidFill>
                          <a:schemeClr val="bg1"/>
                        </a:solidFill>
                        <a:effectLst/>
                        <a:latin typeface="Calibri"/>
                        <a:ea typeface="Calibri"/>
                        <a:cs typeface="Calibri"/>
                      </a:endParaRPr>
                    </a:p>
                  </a:txBody>
                  <a:tcPr marL="12002" marR="12002" marT="1246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l" defTabSz="914400" rtl="0" eaLnBrk="1" fontAlgn="ctr" latinLnBrk="0" hangingPunct="1">
                        <a:buNone/>
                      </a:pPr>
                      <a:r>
                        <a:rPr lang="en-US" sz="1400" b="1"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p>
                  </a:txBody>
                  <a:tcPr marL="108022" marR="12002" marT="1246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a:lnSpc>
                          <a:spcPct val="100000"/>
                        </a:lnSpc>
                        <a:spcBef>
                          <a:spcPts val="0"/>
                        </a:spcBef>
                        <a:spcAft>
                          <a:spcPts val="0"/>
                        </a:spcAft>
                        <a:buNone/>
                      </a:pPr>
                      <a:r>
                        <a:rPr lang="en-US" sz="1400" b="0" i="0" u="none" strike="noStrike" kern="1200" cap="none" spc="60">
                          <a:solidFill>
                            <a:schemeClr val="bg1"/>
                          </a:solidFill>
                          <a:effectLst/>
                          <a:latin typeface="Calibri"/>
                          <a:ea typeface="Calibri"/>
                          <a:cs typeface="Calibri"/>
                        </a:rPr>
                        <a:t>DSC – 7/15/2026 LTR – TBD      SUPD – TBD</a:t>
                      </a:r>
                      <a:endParaRPr lang="en-US"/>
                    </a:p>
                  </a:txBody>
                  <a:tcPr marL="12002" marR="12002" marT="1246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868573265"/>
                  </a:ext>
                </a:extLst>
              </a:tr>
              <a:tr h="977122">
                <a:tc gridSpan="8">
                  <a:txBody>
                    <a:bodyPr/>
                    <a:lstStyle/>
                    <a:p>
                      <a:r>
                        <a:rPr lang="en-US" sz="1400" b="1">
                          <a:solidFill>
                            <a:schemeClr val="tx1"/>
                          </a:solidFill>
                          <a:latin typeface="Calibri"/>
                          <a:ea typeface="Calibri"/>
                          <a:cs typeface="Calibri"/>
                        </a:rPr>
                        <a:t>Overall Summary</a:t>
                      </a:r>
                    </a:p>
                    <a:p>
                      <a:pPr marL="171450" lvl="0" indent="-171450" algn="l">
                        <a:buFont typeface="Arial" panose="020B0604020202020204" pitchFamily="34" charset="0"/>
                        <a:buChar char="•"/>
                      </a:pPr>
                      <a:r>
                        <a:rPr lang="en-US" sz="1200" b="0" i="0" u="none" strike="noStrike" kern="1200" cap="none" spc="0" noProof="0">
                          <a:solidFill>
                            <a:schemeClr val="tx1"/>
                          </a:solidFill>
                          <a:effectLst/>
                          <a:latin typeface="Aptos"/>
                          <a:ea typeface="+mn-ea"/>
                          <a:cs typeface="+mn-cs"/>
                        </a:rPr>
                        <a:t>DSC Go-Live happened on 07/15.</a:t>
                      </a:r>
                      <a:endParaRPr lang="en-US"/>
                    </a:p>
                    <a:p>
                      <a:pPr marL="171450" lvl="0" indent="-171450" algn="l">
                        <a:buFont typeface="Arial" panose="020B0604020202020204" pitchFamily="34" charset="0"/>
                        <a:buChar char="•"/>
                      </a:pPr>
                      <a:r>
                        <a:rPr lang="en-US" sz="1200" b="0" i="0" u="none" strike="noStrike" kern="1200" cap="none" spc="0" noProof="0">
                          <a:solidFill>
                            <a:schemeClr val="tx1"/>
                          </a:solidFill>
                          <a:effectLst/>
                          <a:latin typeface="Aptos"/>
                          <a:ea typeface="+mn-ea"/>
                          <a:cs typeface="+mn-cs"/>
                        </a:rPr>
                        <a:t>LTR Go-Live is scheduled for 07/22, and the Go/No-Go decision is today.</a:t>
                      </a:r>
                      <a:endParaRPr lang="en-US" sz="1200" b="0" i="0" u="none" strike="noStrike" kern="1200" cap="none" spc="0">
                        <a:solidFill>
                          <a:schemeClr val="tx1"/>
                        </a:solidFill>
                        <a:effectLst/>
                        <a:latin typeface="Aptos"/>
                        <a:ea typeface="+mn-ea"/>
                        <a:cs typeface="+mn-cs"/>
                      </a:endParaRPr>
                    </a:p>
                    <a:p>
                      <a:pPr marL="171450" lvl="0" indent="-171450" algn="l">
                        <a:buFont typeface="Arial" panose="020B0604020202020204" pitchFamily="34" charset="0"/>
                        <a:buChar char="•"/>
                      </a:pPr>
                      <a:r>
                        <a:rPr lang="en-US" sz="1200" b="0" i="0" u="none" strike="noStrike" kern="1200" cap="none" spc="0" noProof="0">
                          <a:solidFill>
                            <a:schemeClr val="tx1"/>
                          </a:solidFill>
                          <a:effectLst/>
                          <a:latin typeface="Aptos"/>
                          <a:ea typeface="+mn-ea"/>
                          <a:cs typeface="+mn-cs"/>
                        </a:rPr>
                        <a:t>SUPD testing is in progress. Estimate: 3 weeks. Target date to complete – 7/24. But there are dependencies with respect to code delivery for some user stories.</a:t>
                      </a:r>
                      <a:endParaRPr lang="en-US"/>
                    </a:p>
                    <a:p>
                      <a:pPr marL="171450" lvl="0" indent="-171450" algn="l">
                        <a:buFont typeface="Arial" panose="020B0604020202020204" pitchFamily="34" charset="0"/>
                        <a:buChar char="•"/>
                      </a:pPr>
                      <a:r>
                        <a:rPr lang="en-US" sz="1200" b="0" i="0" u="none" strike="noStrike" kern="1200" cap="none" spc="0" noProof="0">
                          <a:solidFill>
                            <a:schemeClr val="tx1"/>
                          </a:solidFill>
                          <a:effectLst/>
                          <a:latin typeface="Aptos"/>
                          <a:ea typeface="+mn-ea"/>
                          <a:cs typeface="+mn-cs"/>
                        </a:rPr>
                        <a:t>Release-2 Development work has started.</a:t>
                      </a:r>
                    </a:p>
                    <a:p>
                      <a:pPr marL="171450" lvl="0" indent="-171450" algn="l">
                        <a:buFont typeface="Arial" panose="020B0604020202020204" pitchFamily="34" charset="0"/>
                        <a:buChar char="•"/>
                      </a:pPr>
                      <a:r>
                        <a:rPr lang="en-US" sz="1200" b="0" i="0" u="none" strike="noStrike" kern="1200" cap="none" spc="0" noProof="0">
                          <a:solidFill>
                            <a:schemeClr val="tx1"/>
                          </a:solidFill>
                          <a:effectLst/>
                          <a:latin typeface="Aptos"/>
                          <a:ea typeface="+mn-ea"/>
                          <a:cs typeface="+mn-cs"/>
                        </a:rPr>
                        <a:t>Supporting Business Team with UAT testing by providing test data and demos.</a:t>
                      </a:r>
                    </a:p>
                  </a:txBody>
                  <a:tcPr marL="108022" marR="12002" marT="12468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r h="977122">
                <a:tc gridSpan="8">
                  <a:txBody>
                    <a:bodyPr/>
                    <a:lstStyle/>
                    <a:p>
                      <a:pPr marL="171450" lvl="0" indent="-171450" algn="l">
                        <a:buFont typeface="Arial"/>
                        <a:buChar char="•"/>
                      </a:pPr>
                      <a:endParaRPr lang="en-US" sz="1200" b="0" u="none" strike="noStrike" kern="1200" cap="none" spc="0">
                        <a:solidFill>
                          <a:schemeClr val="tx1"/>
                        </a:solidFill>
                        <a:effectLst/>
                        <a:latin typeface="+mn-lt"/>
                        <a:ea typeface="+mn-ea"/>
                        <a:cs typeface="+mn-cs"/>
                      </a:endParaRPr>
                    </a:p>
                  </a:txBody>
                  <a:tcPr marL="108022" marR="12001" marT="124687" marB="0" anchor="ctr">
                    <a:lnL w="0">
                      <a:noFill/>
                    </a:lnL>
                    <a:lnR w="0">
                      <a:noFill/>
                    </a:lnR>
                    <a:lnT w="0">
                      <a:noFill/>
                    </a:lnT>
                    <a:lnB w="0">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65190396"/>
                  </a:ext>
                </a:extLst>
              </a:tr>
            </a:tbl>
          </a:graphicData>
        </a:graphic>
      </p:graphicFrame>
      <p:graphicFrame>
        <p:nvGraphicFramePr>
          <p:cNvPr id="3" name="Table 2">
            <a:extLst>
              <a:ext uri="{FF2B5EF4-FFF2-40B4-BE49-F238E27FC236}">
                <a16:creationId xmlns:a16="http://schemas.microsoft.com/office/drawing/2014/main" id="{A3B0F0C8-01FB-55DB-590E-F84CFDE755C0}"/>
              </a:ext>
            </a:extLst>
          </p:cNvPr>
          <p:cNvGraphicFramePr>
            <a:graphicFrameLocks noGrp="1"/>
          </p:cNvGraphicFramePr>
          <p:nvPr>
            <p:extLst>
              <p:ext uri="{D42A27DB-BD31-4B8C-83A1-F6EECF244321}">
                <p14:modId xmlns:p14="http://schemas.microsoft.com/office/powerpoint/2010/main" val="3557226143"/>
              </p:ext>
            </p:extLst>
          </p:nvPr>
        </p:nvGraphicFramePr>
        <p:xfrm>
          <a:off x="339185" y="4367378"/>
          <a:ext cx="11615678" cy="2172545"/>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1002713">
                <a:tc>
                  <a:txBody>
                    <a:bodyPr/>
                    <a:lstStyle/>
                    <a:p>
                      <a:pPr marL="0" marR="0" lvl="0" indent="0" algn="l" rtl="0" eaLnBrk="1" fontAlgn="t" latinLnBrk="0" hangingPunct="1">
                        <a:lnSpc>
                          <a:spcPct val="100000"/>
                        </a:lnSpc>
                        <a:spcBef>
                          <a:spcPts val="0"/>
                        </a:spcBef>
                        <a:spcAft>
                          <a:spcPts val="0"/>
                        </a:spcAft>
                        <a:buClrTx/>
                        <a:buSzTx/>
                        <a:buFontTx/>
                        <a:buNone/>
                      </a:pPr>
                      <a:r>
                        <a:rPr lang="en-US" sz="1200" b="1" u="none" strike="noStrike" kern="1200" cap="none" spc="0">
                          <a:solidFill>
                            <a:schemeClr val="tx1"/>
                          </a:solidFill>
                          <a:effectLst/>
                          <a:latin typeface="Calibri"/>
                          <a:ea typeface="Calibri"/>
                          <a:cs typeface="Calibri"/>
                        </a:rPr>
                        <a:t>Challenges (risks / issues):</a:t>
                      </a:r>
                      <a:endParaRPr lang="en-US" sz="1200" b="0" u="none" strike="noStrike" kern="1200" cap="none" spc="0">
                        <a:solidFill>
                          <a:schemeClr val="tx1"/>
                        </a:solidFill>
                        <a:effectLst/>
                        <a:latin typeface="Calibri"/>
                        <a:ea typeface="Calibri"/>
                        <a:cs typeface="Calibri"/>
                      </a:endParaRPr>
                    </a:p>
                    <a:p>
                      <a:pPr marL="171450" marR="0" lvl="0" indent="-171450" algn="l">
                        <a:lnSpc>
                          <a:spcPct val="100000"/>
                        </a:lnSpc>
                        <a:spcBef>
                          <a:spcPts val="0"/>
                        </a:spcBef>
                        <a:spcAft>
                          <a:spcPts val="0"/>
                        </a:spcAft>
                        <a:buClrTx/>
                        <a:buSzTx/>
                        <a:buFont typeface="Arial"/>
                        <a:buChar char="•"/>
                      </a:pPr>
                      <a:r>
                        <a:rPr lang="en-US" sz="1200" b="0" u="none" strike="noStrike" kern="1200" cap="none" spc="0">
                          <a:solidFill>
                            <a:schemeClr val="tx1"/>
                          </a:solidFill>
                          <a:effectLst/>
                          <a:latin typeface="Calibri"/>
                          <a:ea typeface="Calibri"/>
                          <a:cs typeface="Calibri"/>
                        </a:rPr>
                        <a:t>None</a:t>
                      </a:r>
                    </a:p>
                    <a:p>
                      <a:pPr algn="l" fontAlgn="t">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rtl="0" eaLnBrk="1" fontAlgn="t" latinLnBrk="0" hangingPunct="1">
                        <a:lnSpc>
                          <a:spcPct val="100000"/>
                        </a:lnSpc>
                        <a:spcBef>
                          <a:spcPts val="0"/>
                        </a:spcBef>
                        <a:spcAft>
                          <a:spcPts val="0"/>
                        </a:spcAft>
                        <a:buClrTx/>
                        <a:buSzTx/>
                        <a:buFontTx/>
                        <a:buNone/>
                      </a:pPr>
                      <a:r>
                        <a:rPr lang="en-US" sz="1200" b="1" u="none" strike="noStrike" kern="1200" cap="none" spc="0">
                          <a:solidFill>
                            <a:schemeClr val="tx1"/>
                          </a:solidFill>
                          <a:effectLst/>
                          <a:latin typeface="Calibri"/>
                          <a:ea typeface="Calibri"/>
                          <a:cs typeface="Calibri"/>
                        </a:rPr>
                        <a:t>Action Needed / Action Taken (for the identified risks/issues): </a:t>
                      </a:r>
                      <a:endParaRPr lang="en-US"/>
                    </a:p>
                    <a:p>
                      <a:pPr marL="0" marR="0" lvl="0" indent="0" algn="l">
                        <a:lnSpc>
                          <a:spcPct val="100000"/>
                        </a:lnSpc>
                        <a:spcBef>
                          <a:spcPts val="0"/>
                        </a:spcBef>
                        <a:spcAft>
                          <a:spcPts val="0"/>
                        </a:spcAft>
                        <a:buClrTx/>
                        <a:buSzTx/>
                        <a:buFontTx/>
                        <a:buNone/>
                      </a:pPr>
                      <a:r>
                        <a:rPr lang="en-US" sz="1200" b="0" u="none" strike="noStrike" kern="1200" cap="none" spc="0">
                          <a:solidFill>
                            <a:schemeClr val="tx1"/>
                          </a:solidFill>
                          <a:effectLst/>
                          <a:latin typeface="Calibri"/>
                          <a:ea typeface="Calibri"/>
                          <a:cs typeface="Calibri"/>
                        </a:rPr>
                        <a:t>None</a:t>
                      </a:r>
                    </a:p>
                  </a:txBody>
                  <a:tcPr marL="1200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169832">
                <a:tc gridSpan="2">
                  <a:txBody>
                    <a:bodyPr/>
                    <a:lstStyle/>
                    <a:p>
                      <a:pPr algn="l" fontAlgn="t">
                        <a:buNone/>
                      </a:pPr>
                      <a:r>
                        <a:rPr lang="en-US" sz="1400" b="1" u="none" strike="noStrike" kern="1200" cap="none" spc="0">
                          <a:solidFill>
                            <a:schemeClr val="tx1"/>
                          </a:solidFill>
                          <a:effectLst/>
                          <a:latin typeface="Calibri"/>
                          <a:ea typeface="Calibri"/>
                          <a:cs typeface="Calibri"/>
                        </a:rPr>
                        <a:t>Automation Regression Updates : </a:t>
                      </a:r>
                    </a:p>
                    <a:p>
                      <a:pPr marL="285750" indent="-285750" algn="l" fontAlgn="t">
                        <a:buFont typeface="Arial" panose="020B0604020202020204" pitchFamily="34" charset="0"/>
                        <a:buChar char="•"/>
                      </a:pPr>
                      <a:r>
                        <a:rPr lang="en-US" sz="1000" b="0" i="0" u="none" strike="noStrike" kern="1200">
                          <a:solidFill>
                            <a:srgbClr val="000000"/>
                          </a:solidFill>
                          <a:effectLst/>
                          <a:latin typeface="Aptos Narrow"/>
                          <a:ea typeface="+mn-ea"/>
                          <a:cs typeface="+mn-cs"/>
                        </a:rPr>
                        <a:t>N/A</a:t>
                      </a:r>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4" name="Table 3">
            <a:extLst>
              <a:ext uri="{FF2B5EF4-FFF2-40B4-BE49-F238E27FC236}">
                <a16:creationId xmlns:a16="http://schemas.microsoft.com/office/drawing/2014/main" id="{198BCCB0-BAD2-DD26-B3AD-09D0AE5EBBAA}"/>
              </a:ext>
            </a:extLst>
          </p:cNvPr>
          <p:cNvGraphicFramePr>
            <a:graphicFrameLocks noGrp="1"/>
          </p:cNvGraphicFramePr>
          <p:nvPr>
            <p:extLst>
              <p:ext uri="{D42A27DB-BD31-4B8C-83A1-F6EECF244321}">
                <p14:modId xmlns:p14="http://schemas.microsoft.com/office/powerpoint/2010/main" val="3821486964"/>
              </p:ext>
            </p:extLst>
          </p:nvPr>
        </p:nvGraphicFramePr>
        <p:xfrm>
          <a:off x="340268" y="2888718"/>
          <a:ext cx="11615845" cy="1310041"/>
        </p:xfrm>
        <a:graphic>
          <a:graphicData uri="http://schemas.openxmlformats.org/drawingml/2006/table">
            <a:tbl>
              <a:tblPr/>
              <a:tblGrid>
                <a:gridCol w="1485132">
                  <a:extLst>
                    <a:ext uri="{9D8B030D-6E8A-4147-A177-3AD203B41FA5}">
                      <a16:colId xmlns:a16="http://schemas.microsoft.com/office/drawing/2014/main" val="383858331"/>
                    </a:ext>
                  </a:extLst>
                </a:gridCol>
                <a:gridCol w="1209320">
                  <a:extLst>
                    <a:ext uri="{9D8B030D-6E8A-4147-A177-3AD203B41FA5}">
                      <a16:colId xmlns:a16="http://schemas.microsoft.com/office/drawing/2014/main" val="1560180378"/>
                    </a:ext>
                  </a:extLst>
                </a:gridCol>
                <a:gridCol w="1527563">
                  <a:extLst>
                    <a:ext uri="{9D8B030D-6E8A-4147-A177-3AD203B41FA5}">
                      <a16:colId xmlns:a16="http://schemas.microsoft.com/office/drawing/2014/main" val="2270929281"/>
                    </a:ext>
                  </a:extLst>
                </a:gridCol>
                <a:gridCol w="1548780">
                  <a:extLst>
                    <a:ext uri="{9D8B030D-6E8A-4147-A177-3AD203B41FA5}">
                      <a16:colId xmlns:a16="http://schemas.microsoft.com/office/drawing/2014/main" val="2709706908"/>
                    </a:ext>
                  </a:extLst>
                </a:gridCol>
                <a:gridCol w="1548780">
                  <a:extLst>
                    <a:ext uri="{9D8B030D-6E8A-4147-A177-3AD203B41FA5}">
                      <a16:colId xmlns:a16="http://schemas.microsoft.com/office/drawing/2014/main" val="3295045209"/>
                    </a:ext>
                  </a:extLst>
                </a:gridCol>
                <a:gridCol w="1145670">
                  <a:extLst>
                    <a:ext uri="{9D8B030D-6E8A-4147-A177-3AD203B41FA5}">
                      <a16:colId xmlns:a16="http://schemas.microsoft.com/office/drawing/2014/main" val="1923205917"/>
                    </a:ext>
                  </a:extLst>
                </a:gridCol>
                <a:gridCol w="1766245">
                  <a:extLst>
                    <a:ext uri="{9D8B030D-6E8A-4147-A177-3AD203B41FA5}">
                      <a16:colId xmlns:a16="http://schemas.microsoft.com/office/drawing/2014/main" val="3147362022"/>
                    </a:ext>
                  </a:extLst>
                </a:gridCol>
                <a:gridCol w="1384355">
                  <a:extLst>
                    <a:ext uri="{9D8B030D-6E8A-4147-A177-3AD203B41FA5}">
                      <a16:colId xmlns:a16="http://schemas.microsoft.com/office/drawing/2014/main" val="4292749998"/>
                    </a:ext>
                  </a:extLst>
                </a:gridCol>
              </a:tblGrid>
              <a:tr h="447076">
                <a:tc>
                  <a:txBody>
                    <a:bodyPr/>
                    <a:lstStyle/>
                    <a:p>
                      <a:pPr algn="ctr" fontAlgn="ctr">
                        <a:buNone/>
                      </a:pPr>
                      <a:r>
                        <a:rPr lang="en-US" sz="1000" b="1" i="0" u="none" strike="noStrike">
                          <a:solidFill>
                            <a:srgbClr val="000000"/>
                          </a:solidFill>
                          <a:effectLst/>
                          <a:latin typeface="Aptos Narrow"/>
                        </a:rPr>
                        <a:t># User stories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Design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lvl="0" algn="ctr">
                        <a:buNone/>
                      </a:pPr>
                      <a:r>
                        <a:rPr lang="en-US" sz="1000" b="1" i="0" u="none" strike="noStrike">
                          <a:solidFill>
                            <a:srgbClr val="000000"/>
                          </a:solidFill>
                          <a:effectLst/>
                          <a:latin typeface="Aptos Narrow"/>
                        </a:rPr>
                        <a:t>Test Design through AI tools (Strider/Co-Pilot)</a:t>
                      </a:r>
                    </a:p>
                  </a:txBody>
                  <a:tcPr marL="0" marR="0" marT="0" marB="0" anchor="ctr">
                    <a:lnL w="6350">
                      <a:solidFill>
                        <a:srgbClr val="000000"/>
                      </a:solidFill>
                    </a:lnL>
                    <a:lnR w="6350">
                      <a:solidFill>
                        <a:srgbClr val="000000"/>
                      </a:solidFill>
                    </a:lnR>
                    <a:lnT w="6350">
                      <a:solidFill>
                        <a:srgbClr val="000000"/>
                      </a:solidFill>
                    </a:lnT>
                    <a:lnB w="6350">
                      <a:solidFill>
                        <a:srgbClr val="000000"/>
                      </a:solidFill>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 Execution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Testing Completion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Aptos Narrow"/>
                        </a:rPr>
                        <a:t>Release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2577613"/>
                  </a:ext>
                </a:extLst>
              </a:tr>
              <a:tr h="366115">
                <a:tc>
                  <a:txBody>
                    <a:bodyPr/>
                    <a:lstStyle/>
                    <a:p>
                      <a:pPr lvl="0" algn="ctr">
                        <a:buNone/>
                      </a:pPr>
                      <a:r>
                        <a:rPr lang="en-US" sz="1000" b="0" i="0" u="none" strike="noStrike">
                          <a:solidFill>
                            <a:srgbClr val="000000"/>
                          </a:solidFill>
                          <a:effectLst/>
                          <a:latin typeface="Calibri"/>
                          <a:ea typeface="Calibri"/>
                          <a:cs typeface="Calibri"/>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Calibri"/>
                          <a:ea typeface="Calibri"/>
                          <a:cs typeface="Calibri"/>
                        </a:rPr>
                        <a:t>In Progress</a:t>
                      </a:r>
                      <a:endParaRPr 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Calibri"/>
                          <a:ea typeface="Calibri"/>
                          <a:cs typeface="Calibri"/>
                        </a:rPr>
                        <a:t>70%</a:t>
                      </a:r>
                      <a:endParaRPr 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Calibri"/>
                          <a:ea typeface="Calibri"/>
                          <a:cs typeface="Calibri"/>
                        </a:rPr>
                        <a:t>10%</a:t>
                      </a:r>
                    </a:p>
                  </a:txBody>
                  <a:tcPr marL="9524" marR="9524" marT="9524" marB="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lvl="0" algn="ctr">
                        <a:buNone/>
                      </a:pPr>
                      <a:r>
                        <a:rPr lang="en-US" sz="1000" b="0" i="0" u="none" strike="noStrike">
                          <a:solidFill>
                            <a:srgbClr val="000000"/>
                          </a:solidFill>
                          <a:effectLst/>
                          <a:latin typeface="Calibri"/>
                          <a:ea typeface="Calibri"/>
                          <a:cs typeface="Calibri"/>
                        </a:rPr>
                        <a:t>In Progress</a:t>
                      </a:r>
                      <a:endParaRPr 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Calibri"/>
                          <a:ea typeface="Calibri"/>
                          <a:cs typeface="Calibri"/>
                        </a:rPr>
                        <a:t>40%</a:t>
                      </a:r>
                      <a:endParaRPr 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kern="1200">
                          <a:solidFill>
                            <a:srgbClr val="000000"/>
                          </a:solidFill>
                          <a:effectLst/>
                          <a:latin typeface="Calibri"/>
                          <a:ea typeface="Calibri"/>
                          <a:cs typeface="Calibri"/>
                        </a:rPr>
                        <a:t>7/24/2026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400" b="0" i="0" u="none" strike="noStrike" kern="1200" noProof="0">
                          <a:solidFill>
                            <a:schemeClr val="tx1"/>
                          </a:solidFill>
                          <a:effectLst/>
                          <a:latin typeface="Calibri"/>
                          <a:ea typeface="Calibri"/>
                          <a:cs typeface="Calibri"/>
                        </a:rPr>
                        <a:t>DSC – 7/15/2026      LTR – TBD             SUPD – TBD</a:t>
                      </a:r>
                      <a:endParaRPr lang="en-US">
                        <a:solidFill>
                          <a:schemeClr val="tx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1389708"/>
                  </a:ext>
                </a:extLst>
              </a:tr>
            </a:tbl>
          </a:graphicData>
        </a:graphic>
      </p:graphicFrame>
    </p:spTree>
    <p:extLst>
      <p:ext uri="{BB962C8B-B14F-4D97-AF65-F5344CB8AC3E}">
        <p14:creationId xmlns:p14="http://schemas.microsoft.com/office/powerpoint/2010/main" val="665404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BDB003-199F-5F52-7FA9-EDED8B62A9BA}"/>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0F6ADE86-24B5-0E45-35B5-C1478CFAF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51E2DA5F-CBDB-A893-7A60-16D4C390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DD50A68D-C732-07F7-9594-181851839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11105DC4-C6A8-DC1D-08A1-70E0AAD4C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reeform: Shape 35">
            <a:extLst>
              <a:ext uri="{FF2B5EF4-FFF2-40B4-BE49-F238E27FC236}">
                <a16:creationId xmlns:a16="http://schemas.microsoft.com/office/drawing/2014/main" id="{E2AC960E-0C83-A5E9-8A95-2CAF185AE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Isosceles Triangle 36">
            <a:extLst>
              <a:ext uri="{FF2B5EF4-FFF2-40B4-BE49-F238E27FC236}">
                <a16:creationId xmlns:a16="http://schemas.microsoft.com/office/drawing/2014/main" id="{30BCC9B1-6996-96CC-BB5A-E3CCBDA7B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Isosceles Triangle 37">
            <a:extLst>
              <a:ext uri="{FF2B5EF4-FFF2-40B4-BE49-F238E27FC236}">
                <a16:creationId xmlns:a16="http://schemas.microsoft.com/office/drawing/2014/main" id="{ED0615C7-3107-FD55-0744-B1DCE837F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3D46E1FB-CFCC-E780-B11F-931B4262CC42}"/>
              </a:ext>
            </a:extLst>
          </p:cNvPr>
          <p:cNvSpPr txBox="1"/>
          <p:nvPr/>
        </p:nvSpPr>
        <p:spPr>
          <a:xfrm>
            <a:off x="757980" y="2177524"/>
            <a:ext cx="10824420"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black"/>
                </a:solidFill>
                <a:effectLst/>
                <a:uLnTx/>
                <a:uFillTx/>
                <a:latin typeface="Aptos" panose="02110004020202020204"/>
                <a:ea typeface="+mn-ea"/>
                <a:cs typeface="+mn-cs"/>
              </a:rPr>
              <a:t>Post Adjudication Workstream – Weekly Status Summary</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5136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85085-FF5F-5703-0D9C-DD9B8947C788}"/>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7619DA6-6DDC-E95E-DB7C-4E0E89DDEC9C}"/>
              </a:ext>
            </a:extLst>
          </p:cNvPr>
          <p:cNvGraphicFramePr>
            <a:graphicFrameLocks noGrp="1"/>
          </p:cNvGraphicFramePr>
          <p:nvPr>
            <p:extLst>
              <p:ext uri="{D42A27DB-BD31-4B8C-83A1-F6EECF244321}">
                <p14:modId xmlns:p14="http://schemas.microsoft.com/office/powerpoint/2010/main" val="384096774"/>
              </p:ext>
            </p:extLst>
          </p:nvPr>
        </p:nvGraphicFramePr>
        <p:xfrm>
          <a:off x="345056" y="71886"/>
          <a:ext cx="11615848" cy="2473424"/>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640166">
                  <a:extLst>
                    <a:ext uri="{9D8B030D-6E8A-4147-A177-3AD203B41FA5}">
                      <a16:colId xmlns:a16="http://schemas.microsoft.com/office/drawing/2014/main" val="157821927"/>
                    </a:ext>
                  </a:extLst>
                </a:gridCol>
                <a:gridCol w="1490195">
                  <a:extLst>
                    <a:ext uri="{9D8B030D-6E8A-4147-A177-3AD203B41FA5}">
                      <a16:colId xmlns:a16="http://schemas.microsoft.com/office/drawing/2014/main" val="2428918094"/>
                    </a:ext>
                  </a:extLst>
                </a:gridCol>
                <a:gridCol w="1126593">
                  <a:extLst>
                    <a:ext uri="{9D8B030D-6E8A-4147-A177-3AD203B41FA5}">
                      <a16:colId xmlns:a16="http://schemas.microsoft.com/office/drawing/2014/main" val="2434076975"/>
                    </a:ext>
                  </a:extLst>
                </a:gridCol>
                <a:gridCol w="2128812">
                  <a:extLst>
                    <a:ext uri="{9D8B030D-6E8A-4147-A177-3AD203B41FA5}">
                      <a16:colId xmlns:a16="http://schemas.microsoft.com/office/drawing/2014/main" val="4168789034"/>
                    </a:ext>
                  </a:extLst>
                </a:gridCol>
                <a:gridCol w="968991">
                  <a:extLst>
                    <a:ext uri="{9D8B030D-6E8A-4147-A177-3AD203B41FA5}">
                      <a16:colId xmlns:a16="http://schemas.microsoft.com/office/drawing/2014/main" val="1518792060"/>
                    </a:ext>
                  </a:extLst>
                </a:gridCol>
                <a:gridCol w="1820617">
                  <a:extLst>
                    <a:ext uri="{9D8B030D-6E8A-4147-A177-3AD203B41FA5}">
                      <a16:colId xmlns:a16="http://schemas.microsoft.com/office/drawing/2014/main" val="1805739722"/>
                    </a:ext>
                  </a:extLst>
                </a:gridCol>
              </a:tblGrid>
              <a:tr h="1084619">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Binary Squad</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Rework UI</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Jayachandran/Varshini</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r>
                        <a:rPr lang="en-US" sz="1400" b="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kern="1200" cap="none" spc="60">
                        <a:solidFill>
                          <a:schemeClr val="bg1"/>
                        </a:solidFill>
                        <a:effectLst/>
                        <a:latin typeface="Calibri"/>
                        <a:ea typeface="Calibri"/>
                        <a:cs typeface="Calibri"/>
                      </a:endParaRP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1388805">
                <a:tc gridSpan="8">
                  <a:txBody>
                    <a:bodyPr/>
                    <a:lstStyle/>
                    <a:p>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 :</a:t>
                      </a:r>
                    </a:p>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algn="l">
                        <a:lnSpc>
                          <a:spcPct val="100000"/>
                        </a:lnSpc>
                        <a:spcBef>
                          <a:spcPts val="0"/>
                        </a:spcBef>
                        <a:spcAft>
                          <a:spcPts val="0"/>
                        </a:spcAft>
                        <a:buFont typeface="Arial" panose="020B0604020202020204" pitchFamily="34" charset="0"/>
                        <a:buNone/>
                      </a:pPr>
                      <a:r>
                        <a:rPr lang="en-US" sz="1200">
                          <a:latin typeface="Calibri" panose="020F0502020204030204" pitchFamily="34" charset="0"/>
                          <a:ea typeface="Calibri" panose="020F0502020204030204" pitchFamily="34" charset="0"/>
                          <a:cs typeface="Calibri" panose="020F0502020204030204" pitchFamily="34" charset="0"/>
                        </a:rPr>
                        <a:t>Test Execution is in-progress for the following Applications in QA environment</a:t>
                      </a:r>
                    </a:p>
                    <a:p>
                      <a:pPr marL="0" lvl="0" indent="0" algn="l">
                        <a:lnSpc>
                          <a:spcPct val="100000"/>
                        </a:lnSpc>
                        <a:spcBef>
                          <a:spcPts val="0"/>
                        </a:spcBef>
                        <a:spcAft>
                          <a:spcPts val="0"/>
                        </a:spcAft>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a:p>
                      <a:pPr marL="742950" lvl="1" indent="-285750" algn="l">
                        <a:lnSpc>
                          <a:spcPct val="100000"/>
                        </a:lnSpc>
                        <a:spcBef>
                          <a:spcPts val="0"/>
                        </a:spcBef>
                        <a:spcAft>
                          <a:spcPts val="0"/>
                        </a:spcAft>
                        <a:buFont typeface="Arial" panose="020B0604020202020204" pitchFamily="34" charset="0"/>
                        <a:buChar char="•"/>
                      </a:pPr>
                      <a:r>
                        <a:rPr lang="en-US" sz="1200">
                          <a:latin typeface="Calibri" panose="020F0502020204030204" pitchFamily="34" charset="0"/>
                          <a:ea typeface="Calibri" panose="020F0502020204030204" pitchFamily="34" charset="0"/>
                          <a:cs typeface="Calibri" panose="020F0502020204030204" pitchFamily="34" charset="0"/>
                        </a:rPr>
                        <a:t>Rework UI – Functional, End to End testing (DomaniRx E2E Round 3) and GLP regression.</a:t>
                      </a: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DF4FCCA9-E581-AFF0-2661-DFCA9AB88450}"/>
              </a:ext>
            </a:extLst>
          </p:cNvPr>
          <p:cNvGraphicFramePr>
            <a:graphicFrameLocks noGrp="1"/>
          </p:cNvGraphicFramePr>
          <p:nvPr>
            <p:extLst>
              <p:ext uri="{D42A27DB-BD31-4B8C-83A1-F6EECF244321}">
                <p14:modId xmlns:p14="http://schemas.microsoft.com/office/powerpoint/2010/main" val="1789899929"/>
              </p:ext>
            </p:extLst>
          </p:nvPr>
        </p:nvGraphicFramePr>
        <p:xfrm>
          <a:off x="359026" y="3710025"/>
          <a:ext cx="11601710" cy="2123014"/>
        </p:xfrm>
        <a:graphic>
          <a:graphicData uri="http://schemas.openxmlformats.org/drawingml/2006/table">
            <a:tbl>
              <a:tblPr firstRow="1" bandRow="1">
                <a:noFill/>
                <a:tableStyleId>{5940675A-B579-460E-94D1-54222C63F5DA}</a:tableStyleId>
              </a:tblPr>
              <a:tblGrid>
                <a:gridCol w="5993107">
                  <a:extLst>
                    <a:ext uri="{9D8B030D-6E8A-4147-A177-3AD203B41FA5}">
                      <a16:colId xmlns:a16="http://schemas.microsoft.com/office/drawing/2014/main" val="3592680666"/>
                    </a:ext>
                  </a:extLst>
                </a:gridCol>
                <a:gridCol w="5608603">
                  <a:extLst>
                    <a:ext uri="{9D8B030D-6E8A-4147-A177-3AD203B41FA5}">
                      <a16:colId xmlns:a16="http://schemas.microsoft.com/office/drawing/2014/main" val="1654399098"/>
                    </a:ext>
                  </a:extLst>
                </a:gridCol>
              </a:tblGrid>
              <a:tr h="1205847">
                <a:tc>
                  <a:txBody>
                    <a:bodyPr/>
                    <a:lstStyle/>
                    <a:p>
                      <a:pPr marL="0" lvl="0" indent="0" algn="l">
                        <a:lnSpc>
                          <a:spcPct val="100000"/>
                        </a:lnSpc>
                        <a:spcBef>
                          <a:spcPts val="0"/>
                        </a:spcBef>
                        <a:spcAft>
                          <a:spcPts val="0"/>
                        </a:spcAft>
                        <a:buFont typeface="Arial" panose="020B0604020202020204" pitchFamily="34" charset="0"/>
                        <a:buNone/>
                      </a:pPr>
                      <a:r>
                        <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Challenges (risks / issues):</a:t>
                      </a:r>
                    </a:p>
                    <a:p>
                      <a:pPr marL="0" lvl="0" indent="0" algn="l">
                        <a:lnSpc>
                          <a:spcPct val="100000"/>
                        </a:lnSpc>
                        <a:spcBef>
                          <a:spcPts val="0"/>
                        </a:spcBef>
                        <a:spcAft>
                          <a:spcPts val="0"/>
                        </a:spcAft>
                        <a:buFont typeface="Arial" panose="020B0604020202020204" pitchFamily="34" charset="0"/>
                        <a:buNone/>
                      </a:pPr>
                      <a:endParaRPr lang="en-US" sz="12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For Recon module validation, </a:t>
                      </a:r>
                      <a:r>
                        <a:rPr lang="en-US" sz="1100" b="1"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DF-5357</a:t>
                      </a:r>
                      <a:r>
                        <a:rPr lang="en-US" sz="1100"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 raised for 1209 files were missing in blob storage as business and dev team is working on it to retain and reload to complete Recon validation in QA environment and Domani Round 2 execution.</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 Action Needed / Action Taken (for the identified risks/issues): </a:t>
                      </a:r>
                    </a:p>
                    <a:p>
                      <a:pPr algn="l" fontAlgn="t">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rtl="0" eaLnBrk="1" fontAlgn="t" latinLnBrk="0" hangingPunct="1">
                        <a:lnSpc>
                          <a:spcPct val="100000"/>
                        </a:lnSpc>
                        <a:spcBef>
                          <a:spcPts val="0"/>
                        </a:spcBef>
                        <a:spcAft>
                          <a:spcPts val="0"/>
                        </a:spcAft>
                        <a:buClrTx/>
                        <a:buSzTx/>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Coordinating with business and currently execution in-progress for the same on both end to end and functional testing perspective.</a:t>
                      </a:r>
                      <a:endParaRPr lang="en-US" sz="1400" b="0" u="none" strike="noStrike" kern="1200" cap="none" spc="0">
                        <a:solidFill>
                          <a:schemeClr val="tx1"/>
                        </a:solidFill>
                        <a:effectLst/>
                        <a:latin typeface="Calibri"/>
                        <a:ea typeface="Calibri"/>
                        <a:cs typeface="Calibri"/>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791717">
                <a:tc gridSpan="2">
                  <a:txBody>
                    <a:bodyPr/>
                    <a:lstStyle/>
                    <a:p>
                      <a:pPr algn="l" fontAlgn="t">
                        <a:buNone/>
                      </a:pPr>
                      <a:r>
                        <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Automation Regression Updates : </a:t>
                      </a:r>
                    </a:p>
                    <a:p>
                      <a:pPr algn="l" fontAlgn="t">
                        <a:buNone/>
                      </a:pPr>
                      <a:endPar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1" u="none" strike="noStrike" kern="1200" cap="none" spc="0">
                          <a:solidFill>
                            <a:schemeClr val="tx1"/>
                          </a:solidFill>
                          <a:effectLst/>
                          <a:latin typeface="Calibri"/>
                          <a:ea typeface="Calibri"/>
                          <a:cs typeface="Calibri"/>
                        </a:rPr>
                        <a:t>Rework UI</a:t>
                      </a:r>
                      <a:r>
                        <a:rPr lang="en-US" sz="1200" b="0" u="none" strike="noStrike" kern="1200" cap="none" spc="0">
                          <a:solidFill>
                            <a:schemeClr val="tx1"/>
                          </a:solidFill>
                          <a:effectLst/>
                          <a:latin typeface="Calibri"/>
                          <a:ea typeface="Calibri"/>
                          <a:cs typeface="Calibri"/>
                        </a:rPr>
                        <a:t> – Yet to share the cases of RECON module to automate.</a:t>
                      </a:r>
                    </a:p>
                    <a:p>
                      <a:pPr marL="0" marR="0" lvl="0" indent="0" algn="l" defTabSz="914400" rtl="0" eaLnBrk="1" fontAlgn="t" latinLnBrk="0" hangingPunct="1">
                        <a:lnSpc>
                          <a:spcPct val="100000"/>
                        </a:lnSpc>
                        <a:spcBef>
                          <a:spcPts val="0"/>
                        </a:spcBef>
                        <a:spcAft>
                          <a:spcPts val="0"/>
                        </a:spcAft>
                        <a:buClrTx/>
                        <a:buSzTx/>
                        <a:buNone/>
                        <a:tabLst/>
                        <a:defRPr/>
                      </a:pPr>
                      <a:endParaRPr lang="en-US" sz="1200" b="0" u="none" strike="noStrike" kern="1200" cap="none" spc="0">
                        <a:solidFill>
                          <a:schemeClr val="tx1"/>
                        </a:solidFill>
                        <a:effectLst/>
                        <a:latin typeface="Calibri"/>
                        <a:ea typeface="Calibri"/>
                        <a:cs typeface="Calibri"/>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6" name="Table 5">
            <a:extLst>
              <a:ext uri="{FF2B5EF4-FFF2-40B4-BE49-F238E27FC236}">
                <a16:creationId xmlns:a16="http://schemas.microsoft.com/office/drawing/2014/main" id="{C18D54A9-BEAF-4F2D-2A6F-9350C994E78E}"/>
              </a:ext>
            </a:extLst>
          </p:cNvPr>
          <p:cNvGraphicFramePr>
            <a:graphicFrameLocks noGrp="1"/>
          </p:cNvGraphicFramePr>
          <p:nvPr>
            <p:extLst>
              <p:ext uri="{D42A27DB-BD31-4B8C-83A1-F6EECF244321}">
                <p14:modId xmlns:p14="http://schemas.microsoft.com/office/powerpoint/2010/main" val="879883929"/>
              </p:ext>
            </p:extLst>
          </p:nvPr>
        </p:nvGraphicFramePr>
        <p:xfrm>
          <a:off x="345056" y="2612674"/>
          <a:ext cx="11615680" cy="816326"/>
        </p:xfrm>
        <a:graphic>
          <a:graphicData uri="http://schemas.openxmlformats.org/drawingml/2006/table">
            <a:tbl>
              <a:tblPr/>
              <a:tblGrid>
                <a:gridCol w="1451960">
                  <a:extLst>
                    <a:ext uri="{9D8B030D-6E8A-4147-A177-3AD203B41FA5}">
                      <a16:colId xmlns:a16="http://schemas.microsoft.com/office/drawing/2014/main" val="3321378253"/>
                    </a:ext>
                  </a:extLst>
                </a:gridCol>
                <a:gridCol w="1451960">
                  <a:extLst>
                    <a:ext uri="{9D8B030D-6E8A-4147-A177-3AD203B41FA5}">
                      <a16:colId xmlns:a16="http://schemas.microsoft.com/office/drawing/2014/main" val="3828313338"/>
                    </a:ext>
                  </a:extLst>
                </a:gridCol>
                <a:gridCol w="1451960">
                  <a:extLst>
                    <a:ext uri="{9D8B030D-6E8A-4147-A177-3AD203B41FA5}">
                      <a16:colId xmlns:a16="http://schemas.microsoft.com/office/drawing/2014/main" val="137318152"/>
                    </a:ext>
                  </a:extLst>
                </a:gridCol>
                <a:gridCol w="1451960">
                  <a:extLst>
                    <a:ext uri="{9D8B030D-6E8A-4147-A177-3AD203B41FA5}">
                      <a16:colId xmlns:a16="http://schemas.microsoft.com/office/drawing/2014/main" val="3710823542"/>
                    </a:ext>
                  </a:extLst>
                </a:gridCol>
                <a:gridCol w="1451960">
                  <a:extLst>
                    <a:ext uri="{9D8B030D-6E8A-4147-A177-3AD203B41FA5}">
                      <a16:colId xmlns:a16="http://schemas.microsoft.com/office/drawing/2014/main" val="1339932529"/>
                    </a:ext>
                  </a:extLst>
                </a:gridCol>
                <a:gridCol w="1451960">
                  <a:extLst>
                    <a:ext uri="{9D8B030D-6E8A-4147-A177-3AD203B41FA5}">
                      <a16:colId xmlns:a16="http://schemas.microsoft.com/office/drawing/2014/main" val="4022641525"/>
                    </a:ext>
                  </a:extLst>
                </a:gridCol>
                <a:gridCol w="1451960">
                  <a:extLst>
                    <a:ext uri="{9D8B030D-6E8A-4147-A177-3AD203B41FA5}">
                      <a16:colId xmlns:a16="http://schemas.microsoft.com/office/drawing/2014/main" val="310200988"/>
                    </a:ext>
                  </a:extLst>
                </a:gridCol>
                <a:gridCol w="1451960">
                  <a:extLst>
                    <a:ext uri="{9D8B030D-6E8A-4147-A177-3AD203B41FA5}">
                      <a16:colId xmlns:a16="http://schemas.microsoft.com/office/drawing/2014/main" val="4103693576"/>
                    </a:ext>
                  </a:extLst>
                </a:gridCol>
              </a:tblGrid>
              <a:tr h="408163">
                <a:tc>
                  <a:txBody>
                    <a:bodyPr/>
                    <a:lstStyle/>
                    <a:p>
                      <a:pPr algn="ctr" rtl="0" fontAlgn="ctr">
                        <a:buNone/>
                      </a:pPr>
                      <a:r>
                        <a:rPr lang="en-US" sz="1200" b="1" i="0" u="none" strike="noStrike">
                          <a:solidFill>
                            <a:srgbClr val="000000"/>
                          </a:solidFill>
                          <a:effectLst/>
                          <a:latin typeface="Aptos Narrow" panose="020B0004020202020204" pitchFamily="34" charset="0"/>
                        </a:rPr>
                        <a:t># User stories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design 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Design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Design though AI tools (Sulfur / Strider)​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Execution 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Execution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Testing Completion 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Release 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extLst>
                  <a:ext uri="{0D108BD9-81ED-4DB2-BD59-A6C34878D82A}">
                    <a16:rowId xmlns:a16="http://schemas.microsoft.com/office/drawing/2014/main" val="2907327271"/>
                  </a:ext>
                </a:extLst>
              </a:tr>
              <a:tr h="408163">
                <a:tc>
                  <a:txBody>
                    <a:bodyPr/>
                    <a:lstStyle/>
                    <a:p>
                      <a:pPr algn="ctr" rtl="0" fontAlgn="b">
                        <a:buNone/>
                      </a:pPr>
                      <a:r>
                        <a:rPr lang="en-US" sz="1100" b="0" i="0" u="none" strike="noStrike">
                          <a:solidFill>
                            <a:srgbClr val="000000"/>
                          </a:solidFill>
                          <a:effectLst/>
                          <a:latin typeface="Calibri"/>
                        </a:rPr>
                        <a:t>183</a:t>
                      </a:r>
                      <a:endParaRPr lang="en-US"/>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Calibri"/>
                        </a:rPr>
                        <a:t>Completed</a:t>
                      </a:r>
                      <a:endParaRPr lang="en-US"/>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Calibri"/>
                        </a:rPr>
                        <a:t>100%</a:t>
                      </a:r>
                      <a:endParaRPr lang="en-US"/>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Calibri"/>
                        </a:rPr>
                        <a:t>10%</a:t>
                      </a:r>
                      <a:endParaRPr lang="en-US"/>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Calibri"/>
                        </a:rPr>
                        <a:t> In Progress</a:t>
                      </a:r>
                      <a:endParaRPr lang="en-US"/>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Calibri"/>
                        </a:rPr>
                        <a:t>90%</a:t>
                      </a:r>
                      <a:endParaRPr lang="en-US"/>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Calibri"/>
                        </a:rPr>
                        <a:t>07/23/2026</a:t>
                      </a:r>
                      <a:endParaRPr lang="en-US"/>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100" b="0" i="0" u="none" strike="noStrike">
                          <a:solidFill>
                            <a:srgbClr val="000000"/>
                          </a:solidFill>
                          <a:effectLst/>
                          <a:latin typeface="Calibri"/>
                        </a:rPr>
                        <a:t>TBD</a:t>
                      </a:r>
                    </a:p>
                  </a:txBody>
                  <a:tcPr marL="8164" marR="8164" marT="81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4768134"/>
                  </a:ext>
                </a:extLst>
              </a:tr>
            </a:tbl>
          </a:graphicData>
        </a:graphic>
      </p:graphicFrame>
    </p:spTree>
    <p:extLst>
      <p:ext uri="{BB962C8B-B14F-4D97-AF65-F5344CB8AC3E}">
        <p14:creationId xmlns:p14="http://schemas.microsoft.com/office/powerpoint/2010/main" val="1733288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5199-530A-EFC0-E7A2-AA83E3FB30DE}"/>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9C892DC-ED37-B042-C0B7-774344B6E1B7}"/>
              </a:ext>
            </a:extLst>
          </p:cNvPr>
          <p:cNvGraphicFramePr>
            <a:graphicFrameLocks noGrp="1"/>
          </p:cNvGraphicFramePr>
          <p:nvPr/>
        </p:nvGraphicFramePr>
        <p:xfrm>
          <a:off x="345056" y="71886"/>
          <a:ext cx="11615848" cy="2037811"/>
        </p:xfrm>
        <a:graphic>
          <a:graphicData uri="http://schemas.openxmlformats.org/drawingml/2006/table">
            <a:tbl>
              <a:tblPr firstRow="1" bandRow="1">
                <a:noFill/>
                <a:tableStyleId>{5940675A-B579-460E-94D1-54222C63F5DA}</a:tableStyleId>
              </a:tblPr>
              <a:tblGrid>
                <a:gridCol w="1493269">
                  <a:extLst>
                    <a:ext uri="{9D8B030D-6E8A-4147-A177-3AD203B41FA5}">
                      <a16:colId xmlns:a16="http://schemas.microsoft.com/office/drawing/2014/main" val="3592680666"/>
                    </a:ext>
                  </a:extLst>
                </a:gridCol>
                <a:gridCol w="947205">
                  <a:extLst>
                    <a:ext uri="{9D8B030D-6E8A-4147-A177-3AD203B41FA5}">
                      <a16:colId xmlns:a16="http://schemas.microsoft.com/office/drawing/2014/main" val="1654399098"/>
                    </a:ext>
                  </a:extLst>
                </a:gridCol>
                <a:gridCol w="1843620">
                  <a:extLst>
                    <a:ext uri="{9D8B030D-6E8A-4147-A177-3AD203B41FA5}">
                      <a16:colId xmlns:a16="http://schemas.microsoft.com/office/drawing/2014/main" val="157821927"/>
                    </a:ext>
                  </a:extLst>
                </a:gridCol>
                <a:gridCol w="1766679">
                  <a:extLst>
                    <a:ext uri="{9D8B030D-6E8A-4147-A177-3AD203B41FA5}">
                      <a16:colId xmlns:a16="http://schemas.microsoft.com/office/drawing/2014/main" val="2428918094"/>
                    </a:ext>
                  </a:extLst>
                </a:gridCol>
                <a:gridCol w="1361701">
                  <a:extLst>
                    <a:ext uri="{9D8B030D-6E8A-4147-A177-3AD203B41FA5}">
                      <a16:colId xmlns:a16="http://schemas.microsoft.com/office/drawing/2014/main" val="2434076975"/>
                    </a:ext>
                  </a:extLst>
                </a:gridCol>
                <a:gridCol w="1183174">
                  <a:extLst>
                    <a:ext uri="{9D8B030D-6E8A-4147-A177-3AD203B41FA5}">
                      <a16:colId xmlns:a16="http://schemas.microsoft.com/office/drawing/2014/main" val="4168789034"/>
                    </a:ext>
                  </a:extLst>
                </a:gridCol>
                <a:gridCol w="1573044">
                  <a:extLst>
                    <a:ext uri="{9D8B030D-6E8A-4147-A177-3AD203B41FA5}">
                      <a16:colId xmlns:a16="http://schemas.microsoft.com/office/drawing/2014/main" val="1518792060"/>
                    </a:ext>
                  </a:extLst>
                </a:gridCol>
                <a:gridCol w="1447156">
                  <a:extLst>
                    <a:ext uri="{9D8B030D-6E8A-4147-A177-3AD203B41FA5}">
                      <a16:colId xmlns:a16="http://schemas.microsoft.com/office/drawing/2014/main" val="1805739722"/>
                    </a:ext>
                  </a:extLst>
                </a:gridCol>
              </a:tblGrid>
              <a:tr h="785364">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Scrum Team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buNone/>
                      </a:pPr>
                      <a:r>
                        <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Chargers</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Application  Name:</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Evolve</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Testing POC:</a:t>
                      </a:r>
                      <a:endParaRPr lang="en-US" sz="14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Shijil Dev</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ctr">
                        <a:buNone/>
                      </a:pPr>
                      <a:r>
                        <a:rPr lang="en-US" sz="1400" b="1"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Release</a:t>
                      </a:r>
                      <a:r>
                        <a:rPr lang="en-US" sz="1400" b="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endParaRPr lang="en-US" sz="14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rPr>
                        <a:t>N26.08 (08/12)</a:t>
                      </a:r>
                    </a:p>
                  </a:txBody>
                  <a:tcPr marL="12002" marR="12002" marT="124687"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868573265"/>
                  </a:ext>
                </a:extLst>
              </a:tr>
              <a:tr h="959419">
                <a:tc gridSpan="8">
                  <a:txBody>
                    <a:bodyPr/>
                    <a:lstStyle/>
                    <a:p>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Overall Summary :</a:t>
                      </a:r>
                    </a:p>
                    <a:p>
                      <a:pPr marL="285750" indent="-285750">
                        <a:buFont typeface="Arial" panose="020B0604020202020204" pitchFamily="34" charset="0"/>
                        <a:buChar char="•"/>
                      </a:pPr>
                      <a:r>
                        <a:rPr lang="en-US" sz="1200">
                          <a:solidFill>
                            <a:schemeClr val="tx1"/>
                          </a:solidFill>
                          <a:latin typeface="Calibri"/>
                          <a:ea typeface="Calibri"/>
                          <a:cs typeface="Calibri"/>
                        </a:rPr>
                        <a:t>N26.08 (08/12) – Test design is InProgress for the user stories from the following features,</a:t>
                      </a:r>
                    </a:p>
                    <a:p>
                      <a:pPr marL="742950" lvl="1" indent="-285750">
                        <a:buFont typeface="Arial" panose="020B0604020202020204" pitchFamily="34" charset="0"/>
                        <a:buChar cha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Feature 5902123: Evolve - UI/UX FWA Case Information Screen</a:t>
                      </a:r>
                    </a:p>
                    <a:p>
                      <a:pPr marL="742950" lvl="1" indent="-285750">
                        <a:buFont typeface="Arial" panose="020B0604020202020204" pitchFamily="34" charset="0"/>
                        <a:buChar cha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Feature 6033519: Evolve - FWA Case Creation/File Uploads</a:t>
                      </a:r>
                    </a:p>
                    <a:p>
                      <a:pPr marL="742950" lvl="1" indent="-285750">
                        <a:buFont typeface="Arial" panose="020B0604020202020204" pitchFamily="34" charset="0"/>
                        <a:buChar cha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Feature 6361930: Evolve - Overpayment/ PostPay Evolve Enhancements</a:t>
                      </a:r>
                    </a:p>
                    <a:p>
                      <a:pPr marL="742950" lvl="1" indent="-285750">
                        <a:buFont typeface="Arial" panose="020B0604020202020204" pitchFamily="34" charset="0"/>
                        <a:buChar cha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Feature 6361929: Evolve - MVP-3 Subrogation Evolve Enhancements</a:t>
                      </a: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b">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1"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rtl="0" eaLnBrk="1" fontAlgn="b" latinLnBrk="0" hangingPunct="1">
                        <a:lnSpc>
                          <a:spcPct val="100000"/>
                        </a:lnSpc>
                        <a:spcBef>
                          <a:spcPts val="0"/>
                        </a:spcBef>
                        <a:spcAft>
                          <a:spcPts val="0"/>
                        </a:spcAft>
                        <a:buClrTx/>
                        <a:buSzTx/>
                        <a:buFontTx/>
                        <a:buNone/>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tc hMerge="1">
                  <a:txBody>
                    <a:bodyPr/>
                    <a:lstStyle/>
                    <a:p>
                      <a:pPr algn="l" fontAlgn="ctr">
                        <a:buNone/>
                      </a:pPr>
                      <a:endParaRPr lang="en-US" sz="1800" b="0" i="0" u="none" strike="noStrike"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nchor="ctr">
                    <a:lnL w="12700" cmpd="sng">
                      <a:noFill/>
                    </a:lnL>
                    <a:lnR w="12700" cmpd="sng">
                      <a:noFill/>
                    </a:lnR>
                    <a:lnT w="19050" cap="flat" cmpd="sng" algn="ctr">
                      <a:noFill/>
                      <a:prstDash val="solid"/>
                    </a:lnT>
                    <a:lnB w="38100" cmpd="sng">
                      <a:noFill/>
                    </a:lnB>
                    <a:no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0" i="0" u="none" strike="noStrike" kern="1200" cap="none" spc="6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nchor="ctr">
                    <a:lnL w="12700" cmpd="sng">
                      <a:noFill/>
                    </a:lnL>
                    <a:lnR w="12700" cmpd="sng">
                      <a:noFill/>
                    </a:lnR>
                    <a:lnT w="19050" cap="flat" cmpd="sng" algn="ctr">
                      <a:noFill/>
                      <a:prstDash val="solid"/>
                    </a:lnT>
                    <a:lnB w="38100" cmpd="sng">
                      <a:noFill/>
                    </a:lnB>
                    <a:noFill/>
                  </a:tcPr>
                </a:tc>
                <a:extLst>
                  <a:ext uri="{0D108BD9-81ED-4DB2-BD59-A6C34878D82A}">
                    <a16:rowId xmlns:a16="http://schemas.microsoft.com/office/drawing/2014/main" val="2621819811"/>
                  </a:ext>
                </a:extLst>
              </a:tr>
            </a:tbl>
          </a:graphicData>
        </a:graphic>
      </p:graphicFrame>
      <p:graphicFrame>
        <p:nvGraphicFramePr>
          <p:cNvPr id="3" name="Table 2">
            <a:extLst>
              <a:ext uri="{FF2B5EF4-FFF2-40B4-BE49-F238E27FC236}">
                <a16:creationId xmlns:a16="http://schemas.microsoft.com/office/drawing/2014/main" id="{9BC111A4-D9F8-DA05-277C-EBA3547A6E76}"/>
              </a:ext>
            </a:extLst>
          </p:cNvPr>
          <p:cNvGraphicFramePr>
            <a:graphicFrameLocks noGrp="1"/>
          </p:cNvGraphicFramePr>
          <p:nvPr/>
        </p:nvGraphicFramePr>
        <p:xfrm>
          <a:off x="345056" y="3429000"/>
          <a:ext cx="11615678" cy="2916809"/>
        </p:xfrm>
        <a:graphic>
          <a:graphicData uri="http://schemas.openxmlformats.org/drawingml/2006/table">
            <a:tbl>
              <a:tblPr firstRow="1" bandRow="1">
                <a:noFill/>
                <a:tableStyleId>{5940675A-B579-460E-94D1-54222C63F5DA}</a:tableStyleId>
              </a:tblPr>
              <a:tblGrid>
                <a:gridCol w="5855549">
                  <a:extLst>
                    <a:ext uri="{9D8B030D-6E8A-4147-A177-3AD203B41FA5}">
                      <a16:colId xmlns:a16="http://schemas.microsoft.com/office/drawing/2014/main" val="3592680666"/>
                    </a:ext>
                  </a:extLst>
                </a:gridCol>
                <a:gridCol w="5760129">
                  <a:extLst>
                    <a:ext uri="{9D8B030D-6E8A-4147-A177-3AD203B41FA5}">
                      <a16:colId xmlns:a16="http://schemas.microsoft.com/office/drawing/2014/main" val="1654399098"/>
                    </a:ext>
                  </a:extLst>
                </a:gridCol>
              </a:tblGrid>
              <a:tr h="1343026">
                <a:tc>
                  <a:txBody>
                    <a:bodyPr/>
                    <a:lstStyle/>
                    <a:p>
                      <a:pPr algn="l" fontAlgn="t">
                        <a:buNone/>
                      </a:pPr>
                      <a:r>
                        <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Challenges (risks / issues): </a:t>
                      </a:r>
                    </a:p>
                    <a:p>
                      <a:pPr lvl="0" algn="l">
                        <a:buNone/>
                      </a:pPr>
                      <a:r>
                        <a:rPr lang="en-US" sz="1200" b="0" i="0" u="none" strike="noStrike" kern="1200" noProof="0">
                          <a:solidFill>
                            <a:schemeClr val="tx1"/>
                          </a:solidFill>
                          <a:effectLst/>
                          <a:latin typeface="Calibri"/>
                          <a:ea typeface="Calibri"/>
                          <a:cs typeface="Calibri"/>
                        </a:rPr>
                        <a:t>. NA</a:t>
                      </a:r>
                      <a:endParaRPr lang="en-US" noProof="0">
                        <a:latin typeface="Calibri"/>
                        <a:ea typeface="Calibri"/>
                        <a:cs typeface="Calibri"/>
                      </a:endParaRPr>
                    </a:p>
                    <a:p>
                      <a:pPr algn="l" fontAlgn="t">
                        <a:buNone/>
                      </a:pPr>
                      <a:endPar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buNone/>
                      </a:pPr>
                      <a:r>
                        <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Action Needed / Action Taken (for the identified risks/issues): </a:t>
                      </a:r>
                      <a:endParaRPr lang="en-US" sz="14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lgn="l" fontAlgn="t">
                        <a:buFont typeface="Arial" panose="020B0604020202020204" pitchFamily="34" charset="0"/>
                        <a:buNone/>
                      </a:pPr>
                      <a:endParaRPr lang="en-US" sz="1200" b="0"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200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68573265"/>
                  </a:ext>
                </a:extLst>
              </a:tr>
              <a:tr h="1573783">
                <a:tc gridSpan="2">
                  <a:txBody>
                    <a:bodyPr/>
                    <a:lstStyle/>
                    <a:p>
                      <a:pPr algn="l" fontAlgn="t">
                        <a:buNone/>
                      </a:pPr>
                      <a:r>
                        <a:rPr lang="en-US" sz="1400" b="1" u="none" strike="noStrike" kern="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Automation Regression Updates : </a:t>
                      </a:r>
                    </a:p>
                    <a:p>
                      <a:pPr marL="285750" indent="-285750" algn="l" fontAlgn="t">
                        <a:buFont typeface="Arial" panose="020B0604020202020204" pitchFamily="34" charset="0"/>
                        <a:buChar char="•"/>
                      </a:pPr>
                      <a:r>
                        <a:rPr lang="en-US" sz="1200" b="0" u="none" strike="noStrike" kern="1200" cap="none" spc="0">
                          <a:solidFill>
                            <a:schemeClr val="tx1"/>
                          </a:solidFill>
                          <a:effectLst/>
                          <a:latin typeface="Calibri"/>
                          <a:ea typeface="Calibri"/>
                          <a:cs typeface="Calibri"/>
                        </a:rPr>
                        <a:t>NA</a:t>
                      </a:r>
                    </a:p>
                  </a:txBody>
                  <a:tcPr marL="108022" marR="12002" marT="12468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buNone/>
                      </a:pPr>
                      <a:endParaRPr lang="en-US" sz="1600" b="0" u="none" strike="noStrike" kern="1200" cap="none" spc="0">
                        <a:solidFill>
                          <a:schemeClr val="tx1"/>
                        </a:solidFill>
                        <a:effectLst/>
                        <a:latin typeface="+mn-lt"/>
                        <a:ea typeface="+mn-ea"/>
                        <a:cs typeface="+mn-cs"/>
                      </a:endParaRPr>
                    </a:p>
                  </a:txBody>
                  <a:tcPr marL="12002" marR="12002" marT="124687" marB="0">
                    <a:lnL w="12700" cap="flat" cmpd="sng" algn="ctr">
                      <a:noFill/>
                      <a:prstDash val="solid"/>
                      <a:round/>
                      <a:headEnd type="none" w="med" len="med"/>
                      <a:tailEnd type="none" w="med" len="med"/>
                    </a:lnL>
                    <a:lnR w="12700" cmpd="sng">
                      <a:noFill/>
                    </a:lnR>
                    <a:lnT w="19050" cap="flat" cmpd="sng" algn="ctr">
                      <a:noFill/>
                      <a:prstDash val="solid"/>
                    </a:lnT>
                    <a:lnB w="38100" cmpd="sng">
                      <a:noFill/>
                    </a:lnB>
                    <a:lnTlToBr w="12700" cmpd="sng">
                      <a:noFill/>
                      <a:prstDash val="solid"/>
                    </a:lnTlToBr>
                    <a:lnBlToTr w="12700" cmpd="sng">
                      <a:noFill/>
                      <a:prstDash val="solid"/>
                    </a:lnBlToTr>
                    <a:solidFill>
                      <a:srgbClr val="D6E4F2"/>
                    </a:solidFill>
                  </a:tcPr>
                </a:tc>
                <a:extLst>
                  <a:ext uri="{0D108BD9-81ED-4DB2-BD59-A6C34878D82A}">
                    <a16:rowId xmlns:a16="http://schemas.microsoft.com/office/drawing/2014/main" val="3767854269"/>
                  </a:ext>
                </a:extLst>
              </a:tr>
            </a:tbl>
          </a:graphicData>
        </a:graphic>
      </p:graphicFrame>
      <p:graphicFrame>
        <p:nvGraphicFramePr>
          <p:cNvPr id="7" name="Table 6">
            <a:extLst>
              <a:ext uri="{FF2B5EF4-FFF2-40B4-BE49-F238E27FC236}">
                <a16:creationId xmlns:a16="http://schemas.microsoft.com/office/drawing/2014/main" id="{93CCFAE7-883D-F65E-3BAF-E4F310CA43B9}"/>
              </a:ext>
            </a:extLst>
          </p:cNvPr>
          <p:cNvGraphicFramePr>
            <a:graphicFrameLocks noGrp="1"/>
          </p:cNvGraphicFramePr>
          <p:nvPr/>
        </p:nvGraphicFramePr>
        <p:xfrm>
          <a:off x="345056" y="2463800"/>
          <a:ext cx="11615851" cy="729028"/>
        </p:xfrm>
        <a:graphic>
          <a:graphicData uri="http://schemas.openxmlformats.org/drawingml/2006/table">
            <a:tbl>
              <a:tblPr/>
              <a:tblGrid>
                <a:gridCol w="1395647">
                  <a:extLst>
                    <a:ext uri="{9D8B030D-6E8A-4147-A177-3AD203B41FA5}">
                      <a16:colId xmlns:a16="http://schemas.microsoft.com/office/drawing/2014/main" val="237178368"/>
                    </a:ext>
                  </a:extLst>
                </a:gridCol>
                <a:gridCol w="1395647">
                  <a:extLst>
                    <a:ext uri="{9D8B030D-6E8A-4147-A177-3AD203B41FA5}">
                      <a16:colId xmlns:a16="http://schemas.microsoft.com/office/drawing/2014/main" val="53062278"/>
                    </a:ext>
                  </a:extLst>
                </a:gridCol>
                <a:gridCol w="1395647">
                  <a:extLst>
                    <a:ext uri="{9D8B030D-6E8A-4147-A177-3AD203B41FA5}">
                      <a16:colId xmlns:a16="http://schemas.microsoft.com/office/drawing/2014/main" val="2165783858"/>
                    </a:ext>
                  </a:extLst>
                </a:gridCol>
                <a:gridCol w="1846322">
                  <a:extLst>
                    <a:ext uri="{9D8B030D-6E8A-4147-A177-3AD203B41FA5}">
                      <a16:colId xmlns:a16="http://schemas.microsoft.com/office/drawing/2014/main" val="2640269073"/>
                    </a:ext>
                  </a:extLst>
                </a:gridCol>
                <a:gridCol w="1395647">
                  <a:extLst>
                    <a:ext uri="{9D8B030D-6E8A-4147-A177-3AD203B41FA5}">
                      <a16:colId xmlns:a16="http://schemas.microsoft.com/office/drawing/2014/main" val="491392137"/>
                    </a:ext>
                  </a:extLst>
                </a:gridCol>
                <a:gridCol w="1395647">
                  <a:extLst>
                    <a:ext uri="{9D8B030D-6E8A-4147-A177-3AD203B41FA5}">
                      <a16:colId xmlns:a16="http://schemas.microsoft.com/office/drawing/2014/main" val="2609147746"/>
                    </a:ext>
                  </a:extLst>
                </a:gridCol>
                <a:gridCol w="1395647">
                  <a:extLst>
                    <a:ext uri="{9D8B030D-6E8A-4147-A177-3AD203B41FA5}">
                      <a16:colId xmlns:a16="http://schemas.microsoft.com/office/drawing/2014/main" val="3605737889"/>
                    </a:ext>
                  </a:extLst>
                </a:gridCol>
                <a:gridCol w="1395647">
                  <a:extLst>
                    <a:ext uri="{9D8B030D-6E8A-4147-A177-3AD203B41FA5}">
                      <a16:colId xmlns:a16="http://schemas.microsoft.com/office/drawing/2014/main" val="272251395"/>
                    </a:ext>
                  </a:extLst>
                </a:gridCol>
              </a:tblGrid>
              <a:tr h="429029">
                <a:tc>
                  <a:txBody>
                    <a:bodyPr/>
                    <a:lstStyle/>
                    <a:p>
                      <a:pPr algn="ctr" rtl="0" fontAlgn="ctr">
                        <a:buNone/>
                      </a:pPr>
                      <a:r>
                        <a:rPr lang="en-US" sz="1200" b="1" i="0" u="none" strike="noStrike">
                          <a:solidFill>
                            <a:srgbClr val="000000"/>
                          </a:solidFill>
                          <a:effectLst/>
                          <a:latin typeface="Aptos Narrow" panose="020B0004020202020204" pitchFamily="34" charset="0"/>
                        </a:rPr>
                        <a:t># User stories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design 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Design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Design though AI tools (Sulfur / Strider)​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Execution 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 Execution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Testing Completion 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tc>
                  <a:txBody>
                    <a:bodyPr/>
                    <a:lstStyle/>
                    <a:p>
                      <a:pPr algn="ctr" rtl="0" fontAlgn="ctr">
                        <a:buNone/>
                      </a:pPr>
                      <a:r>
                        <a:rPr lang="en-US" sz="1200" b="1" i="0" u="none" strike="noStrike">
                          <a:solidFill>
                            <a:srgbClr val="000000"/>
                          </a:solidFill>
                          <a:effectLst/>
                          <a:latin typeface="Aptos Narrow" panose="020B0004020202020204" pitchFamily="34" charset="0"/>
                        </a:rPr>
                        <a:t>Release 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3D6"/>
                    </a:solidFill>
                  </a:tcPr>
                </a:tc>
                <a:extLst>
                  <a:ext uri="{0D108BD9-81ED-4DB2-BD59-A6C34878D82A}">
                    <a16:rowId xmlns:a16="http://schemas.microsoft.com/office/drawing/2014/main" val="1091943648"/>
                  </a:ext>
                </a:extLst>
              </a:tr>
              <a:tr h="299999">
                <a:tc>
                  <a:txBody>
                    <a:bodyPr/>
                    <a:lstStyle/>
                    <a:p>
                      <a:pPr algn="ctr" rtl="0" fontAlgn="t">
                        <a:buNone/>
                      </a:pPr>
                      <a:r>
                        <a:rPr lang="en-IN" sz="1200" b="0" i="0" u="none" strike="noStrike">
                          <a:solidFill>
                            <a:srgbClr val="000000"/>
                          </a:solidFill>
                          <a:effectLst/>
                          <a:latin typeface="Aptos Narrow" panose="020B0004020202020204" pitchFamily="34" charset="0"/>
                        </a:rPr>
                        <a:t>36</a:t>
                      </a:r>
                      <a:endParaRPr lang="en-US" sz="1200" b="0" i="0" u="none" strike="noStrike">
                        <a:solidFill>
                          <a:srgbClr val="000000"/>
                        </a:solidFill>
                        <a:effectLst/>
                        <a:latin typeface="Aptos Narrow" panose="020B000402020202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0" i="0" u="none" strike="noStrike">
                          <a:solidFill>
                            <a:srgbClr val="000000"/>
                          </a:solidFill>
                          <a:effectLst/>
                          <a:latin typeface="Aptos Narrow" panose="020B0004020202020204" pitchFamily="34" charset="0"/>
                        </a:rPr>
                        <a:t>InProgress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0" i="0" u="none" strike="noStrike">
                          <a:solidFill>
                            <a:srgbClr val="000000"/>
                          </a:solidFill>
                          <a:effectLst/>
                          <a:latin typeface="Aptos Narrow" panose="020B0004020202020204" pitchFamily="34" charset="0"/>
                        </a:rPr>
                        <a:t>80%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0" i="0" u="none" strike="noStrike">
                          <a:solidFill>
                            <a:srgbClr val="000000"/>
                          </a:solidFill>
                          <a:effectLst/>
                          <a:latin typeface="Aptos Narrow" panose="020B0004020202020204" pitchFamily="34" charset="0"/>
                        </a:rPr>
                        <a:t>75%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200" b="0" i="0" u="none" strike="noStrike">
                          <a:solidFill>
                            <a:srgbClr val="000000"/>
                          </a:solidFill>
                          <a:effectLst/>
                          <a:latin typeface="Aptos Narrow" panose="020B0004020202020204" pitchFamily="34" charset="0"/>
                        </a:rPr>
                        <a:t>Yet to start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Aptos Narrow"/>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0" i="0" u="none" strike="noStrike">
                          <a:solidFill>
                            <a:srgbClr val="000000"/>
                          </a:solidFill>
                          <a:effectLst/>
                          <a:latin typeface="Aptos Narrow"/>
                        </a:rPr>
                        <a:t>07/31/2026</a:t>
                      </a:r>
                      <a:endParaRPr lang="en-US" sz="1200" b="0" i="0" u="none" strike="noStrike">
                        <a:solidFill>
                          <a:srgbClr val="000000"/>
                        </a:solidFill>
                        <a:effectLst/>
                        <a:latin typeface="Aptos Narrow" panose="020B000402020202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0" i="0" u="none" strike="noStrike">
                          <a:solidFill>
                            <a:srgbClr val="000000"/>
                          </a:solidFill>
                          <a:effectLst/>
                          <a:latin typeface="Aptos Narrow" panose="020B0004020202020204" pitchFamily="34" charset="0"/>
                        </a:rPr>
                        <a:t>08/12/2026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0674966"/>
                  </a:ext>
                </a:extLst>
              </a:tr>
            </a:tbl>
          </a:graphicData>
        </a:graphic>
      </p:graphicFrame>
    </p:spTree>
    <p:extLst>
      <p:ext uri="{BB962C8B-B14F-4D97-AF65-F5344CB8AC3E}">
        <p14:creationId xmlns:p14="http://schemas.microsoft.com/office/powerpoint/2010/main" val="2439690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F78DCB-C7F9-6CC4-F9C2-DFEBE2F0C5B2}"/>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50342CCC-AC63-3AD6-0512-950B0845F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F887C0A5-485C-8D44-429D-18A96FEEBB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1F363D4E-F6E1-A433-6972-85AAB3108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6C117051-83A5-E91C-E041-9EA4209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reeform: Shape 35">
            <a:extLst>
              <a:ext uri="{FF2B5EF4-FFF2-40B4-BE49-F238E27FC236}">
                <a16:creationId xmlns:a16="http://schemas.microsoft.com/office/drawing/2014/main" id="{57B2F380-8621-4949-39DD-A6B09C2B8E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Isosceles Triangle 36">
            <a:extLst>
              <a:ext uri="{FF2B5EF4-FFF2-40B4-BE49-F238E27FC236}">
                <a16:creationId xmlns:a16="http://schemas.microsoft.com/office/drawing/2014/main" id="{F77F0865-F14C-8A79-E738-636A9861E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Isosceles Triangle 37">
            <a:extLst>
              <a:ext uri="{FF2B5EF4-FFF2-40B4-BE49-F238E27FC236}">
                <a16:creationId xmlns:a16="http://schemas.microsoft.com/office/drawing/2014/main" id="{ACEE28C3-0D7F-9A12-27D2-67E8DDDF4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BE497075-226B-4D0E-2995-80D74ADF17D5}"/>
              </a:ext>
            </a:extLst>
          </p:cNvPr>
          <p:cNvSpPr txBox="1"/>
          <p:nvPr/>
        </p:nvSpPr>
        <p:spPr>
          <a:xfrm>
            <a:off x="757980" y="2177524"/>
            <a:ext cx="10824420" cy="9848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black"/>
                </a:solidFill>
                <a:effectLst/>
                <a:uLnTx/>
                <a:uFillTx/>
                <a:latin typeface="Aptos" panose="02110004020202020204"/>
                <a:ea typeface="+mn-ea"/>
                <a:cs typeface="+mn-cs"/>
              </a:rPr>
              <a:t>Thank you</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31259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b12b9329-b276-4b1c-b790-7fe8794621d9">
      <Terms xmlns="http://schemas.microsoft.com/office/infopath/2007/PartnerControls"/>
    </lcf76f155ced4ddcb4097134ff3c332f>
    <_ip_UnifiedCompliancePolicyProperties xmlns="http://schemas.microsoft.com/sharepoint/v3" xsi:nil="true"/>
    <TaxCatchAll xmlns="ffe25f89-fb46-45e4-bb50-2e4576031db7" xsi:nil="true"/>
    <QueryName xmlns="b12b9329-b276-4b1c-b790-7fe8794621d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7B059D8A21CCA478352421FCF1CCACD" ma:contentTypeVersion="19" ma:contentTypeDescription="Create a new document." ma:contentTypeScope="" ma:versionID="6b3616ecdf45e42927e025fb402f5399">
  <xsd:schema xmlns:xsd="http://www.w3.org/2001/XMLSchema" xmlns:xs="http://www.w3.org/2001/XMLSchema" xmlns:p="http://schemas.microsoft.com/office/2006/metadata/properties" xmlns:ns1="http://schemas.microsoft.com/sharepoint/v3" xmlns:ns2="b12b9329-b276-4b1c-b790-7fe8794621d9" xmlns:ns3="ffe25f89-fb46-45e4-bb50-2e4576031db7" targetNamespace="http://schemas.microsoft.com/office/2006/metadata/properties" ma:root="true" ma:fieldsID="ca7fe5852dadf01eb7e91f38108a21ac" ns1:_="" ns2:_="" ns3:_="">
    <xsd:import namespace="http://schemas.microsoft.com/sharepoint/v3"/>
    <xsd:import namespace="b12b9329-b276-4b1c-b790-7fe8794621d9"/>
    <xsd:import namespace="ffe25f89-fb46-45e4-bb50-2e4576031db7"/>
    <xsd:element name="properties">
      <xsd:complexType>
        <xsd:sequence>
          <xsd:element name="documentManagement">
            <xsd:complexType>
              <xsd:all>
                <xsd:element ref="ns2:QueryName"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2b9329-b276-4b1c-b790-7fe8794621d9" elementFormDefault="qualified">
    <xsd:import namespace="http://schemas.microsoft.com/office/2006/documentManagement/types"/>
    <xsd:import namespace="http://schemas.microsoft.com/office/infopath/2007/PartnerControls"/>
    <xsd:element name="QueryName" ma:index="2" nillable="true" ma:displayName="Query Name" ma:description="SFCC 24.06_UAT Defect count_Functional" ma:format="Dropdown" ma:internalName="QueryName" ma:readOnly="fals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1c8387f8-82b2-4441-b1a6-93bd58f47999"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hidden="true" ma:internalName="MediaServiceOCR"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e25f89-fb46-45e4-bb50-2e4576031db7"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73fa1df6-44ef-4820-adf5-8dfff829ddbe}" ma:internalName="TaxCatchAll" ma:readOnly="false" ma:showField="CatchAllData" ma:web="ffe25f89-fb46-45e4-bb50-2e4576031d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E13B4B-D86E-48D4-AA92-8CE6AB343C34}">
  <ds:schemaRefs>
    <ds:schemaRef ds:uri="b12b9329-b276-4b1c-b790-7fe8794621d9"/>
    <ds:schemaRef ds:uri="ffe25f89-fb46-45e4-bb50-2e4576031db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951D2A8-F1C0-479B-91D3-15AD9B08936A}">
  <ds:schemaRefs>
    <ds:schemaRef ds:uri="http://schemas.microsoft.com/sharepoint/v3/contenttype/forms"/>
  </ds:schemaRefs>
</ds:datastoreItem>
</file>

<file path=customXml/itemProps3.xml><?xml version="1.0" encoding="utf-8"?>
<ds:datastoreItem xmlns:ds="http://schemas.openxmlformats.org/officeDocument/2006/customXml" ds:itemID="{C2106EC1-B066-4A17-B8EB-911547E4E973}">
  <ds:schemaRefs>
    <ds:schemaRef ds:uri="b12b9329-b276-4b1c-b790-7fe8794621d9"/>
    <ds:schemaRef ds:uri="ffe25f89-fb46-45e4-bb50-2e4576031d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25</Slides>
  <Notes>3</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Humana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Prasanna Saravanan Radhakrishnan</dc:creator>
  <cp:revision>8</cp:revision>
  <dcterms:created xsi:type="dcterms:W3CDTF">2026-02-08T01:15:54Z</dcterms:created>
  <dcterms:modified xsi:type="dcterms:W3CDTF">2026-07-27T07:41:51Z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2b6c078-73cb-4371-8a5b-e9fc18accbf8_Enabled">
    <vt:lpwstr>true</vt:lpwstr>
  </property>
  <property fmtid="{D5CDD505-2E9C-101B-9397-08002B2CF9AE}" pid="3" name="MSIP_Label_e2b6c078-73cb-4371-8a5b-e9fc18accbf8_SetDate">
    <vt:lpwstr>2026-02-08T02:33:28Z</vt:lpwstr>
  </property>
  <property fmtid="{D5CDD505-2E9C-101B-9397-08002B2CF9AE}" pid="4" name="MSIP_Label_e2b6c078-73cb-4371-8a5b-e9fc18accbf8_Method">
    <vt:lpwstr>Privileged</vt:lpwstr>
  </property>
  <property fmtid="{D5CDD505-2E9C-101B-9397-08002B2CF9AE}" pid="5" name="MSIP_Label_e2b6c078-73cb-4371-8a5b-e9fc18accbf8_Name">
    <vt:lpwstr>INTERNAL</vt:lpwstr>
  </property>
  <property fmtid="{D5CDD505-2E9C-101B-9397-08002B2CF9AE}" pid="6" name="MSIP_Label_e2b6c078-73cb-4371-8a5b-e9fc18accbf8_SiteId">
    <vt:lpwstr>56c62bbe-8598-4b85-9e51-1ca753fa50f2</vt:lpwstr>
  </property>
  <property fmtid="{D5CDD505-2E9C-101B-9397-08002B2CF9AE}" pid="7" name="MSIP_Label_e2b6c078-73cb-4371-8a5b-e9fc18accbf8_ActionId">
    <vt:lpwstr>cbf0e7b6-935e-43ba-9a0f-5a936d1ba95b</vt:lpwstr>
  </property>
  <property fmtid="{D5CDD505-2E9C-101B-9397-08002B2CF9AE}" pid="8" name="MSIP_Label_e2b6c078-73cb-4371-8a5b-e9fc18accbf8_ContentBits">
    <vt:lpwstr>0</vt:lpwstr>
  </property>
  <property fmtid="{D5CDD505-2E9C-101B-9397-08002B2CF9AE}" pid="9" name="MSIP_Label_e2b6c078-73cb-4371-8a5b-e9fc18accbf8_Tag">
    <vt:lpwstr>10, 0, 1, 1</vt:lpwstr>
  </property>
  <property fmtid="{D5CDD505-2E9C-101B-9397-08002B2CF9AE}" pid="10" name="ContentTypeId">
    <vt:lpwstr>0x01010047B059D8A21CCA478352421FCF1CCACD</vt:lpwstr>
  </property>
  <property fmtid="{D5CDD505-2E9C-101B-9397-08002B2CF9AE}" pid="11" name="MediaServiceImageTags">
    <vt:lpwstr/>
  </property>
</Properties>
</file>